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1" r:id="rId9"/>
    <p:sldId id="265" r:id="rId10"/>
    <p:sldId id="275" r:id="rId11"/>
    <p:sldId id="276" r:id="rId12"/>
    <p:sldId id="27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0" userDrawn="1">
          <p15:clr>
            <a:srgbClr val="747775"/>
          </p15:clr>
        </p15:guide>
        <p15:guide id="2" pos="288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0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C++进阶课程。今天我们将学习三个非常重要的主题：类与对象、常用库函数以及STL标准模板库的入门。这些内容将帮助我们编写更高效、更模块化的代码，为后续学习更复杂的算法和数据结构打下坚实的基础。让我们开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我们将分为四个部分。首先，我们将学习类与对象的基本概念，这是面向对象编程的核心。接着，我们会介绍一些常用的库函数，这些函数可以帮助我们简化代码。然后，我们将入门STL容器库，学习如何使用vector、string等强大的数据结构。最后，我们会了解STL算法库，学习如何使用sort、find等算法来处理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之前学习的都是面向过程的编程，现在我们开始接触面向对象编程。在面向对象编程中，我们将数据和操作数据的方法封装在一起，形成一个“对象”。类是创建对象的蓝图，而对象是类的具体实例。比如，汽车设计图纸就是一个类，而根据图纸制造的每一辆具体汽车就是一个对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的成员包括成员变量和成员函数。为了实现封装，C++提供了三种访问控制符：public、private和protected。public成员可以被外部访问，而private成员只能被类的内部访问。通过这种方式，我们可以保护对象的内部数据不被随意修改，只通过公共的成员函数来访问和修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构造函数和析构函数是类的特殊成员函数。构造函数在创建对象时自动调用，用于初始化对象。析构函数在对象销毁时自动调用，用于清理对象占用的资源。它们都是面向对象编程中非常重要的概念。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大家好，今天我们来深入探讨面向对象编程中的核心概念——继承。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继承是一种允许我们创建新类（派生类）来扩展现有类（基类）功能的机制。它是实现代码复用和构建层级化类结构的关键。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在C++中，继承主要分为三种类型：公有继承、保护继承和私有继承。这三种类型决定了基类成员在派生类中的访问权限，其中公有继承是最常用的，它体现了“是一个”（is-a）的关系。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右侧的代码示例展示了一个典型的继承场景：Dog类继承自Animal类。因此，Dog对象不仅拥有自己特有的bark方法，还继承了Animal类的eat方法，这正是继承带来的代码复用优势。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C++标准库提供了丰富的数学函数，这些函数定义在&lt;cmath&gt;头文件中。常用的包括求绝对值的abs和fabs，求幂的pow，求平方根的sqrt，以及取整函数ceil、floor和round。这些函数可以帮助我们简化数学计算。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本页介绍了&lt;cctype&gt;头文件中的常用字符处理函数，包括判断字符类型（如isalpha, isdigit, isspace）和转换字符大小写（如tolower, toupper）的函数，并通过示例代码展示了这些函数的实际使用方法。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本页介绍了C++标准库&lt;algorithm&gt;中的常用通用函数，包括max、min、swap、fill、reverse和sort。这些函数能极大简化代码，提升开发效率。同时提供了综合示例代码，展示了这些函数的实际使用场景。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F42C1">
                <a:alpha val="100000"/>
              </a:srgbClr>
            </a:gs>
            <a:gs pos="100000">
              <a:srgbClr val="D946E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572000"/>
            <a:ext cx="3556000" cy="3556000"/>
          </a:xfrm>
          <a:prstGeom prst="ellipse">
            <a:avLst/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34000" y="508000"/>
            <a:ext cx="1524000" cy="1524000"/>
          </a:xfrm>
          <a:prstGeom prst="ellipse">
            <a:avLst/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C++进阶：类、常用库函数与STL入门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本节课全部内容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2540000"/>
          </a:xfrm>
          <a:prstGeom prst="roundRect">
            <a:avLst>
              <a:gd name="adj" fmla="val 0"/>
            </a:avLst>
          </a:prstGeom>
          <a:solidFill>
            <a:srgbClr val="6F42C1">
              <a:alpha val="8000"/>
            </a:srgbClr>
          </a:solidFill>
          <a:ln cap="flat" cmpd="sng">
            <a:solidFill>
              <a:srgbClr val="5629A8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6F42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0955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类与对象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730500"/>
            <a:ext cx="863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什么是类和对象</a:t>
            </a:r>
            <a:b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类的定义和成员</a:t>
            </a:r>
            <a:b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成员函数和访问控制</a:t>
            </a:r>
            <a:b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构造函数和析构函数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445000"/>
            <a:ext cx="10668000" cy="2286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cap="flat" cmpd="sng">
            <a:solidFill>
              <a:srgbClr val="BF29D5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D946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482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286000" y="48895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 常用库函数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5524500"/>
            <a:ext cx="863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数学函数：abs、pow、ceil、floor</a:t>
            </a:r>
            <a:b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字符处理函数：isalpha、isdigit等</a:t>
            </a:r>
            <a:b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通用函数：max、min、swap、fill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PART01-1：什么是类和对象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面向对象编程思想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面向对象编程（OOP）是一种程序设计范式，它将数据和操作数据的方法捆绑在一起，形成一个独立的单元，称为“对象”。OOP的核心思想包括：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：将数据和操作封装在类中 • 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：允许创建新类来扩展现有类 • 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多态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：允许使用统一的接口处理不同类型的对象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类（Class）- 抽象的蓝图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类是创建对象的蓝图或模板。它定义了对象的属性（成员变量）和行为（成员函数）。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730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对象（Object）- 具体的实体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对象是类的实例。一个类可以创建多个对象，每个对象都具有类定义的属性和行为。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7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生活类比：把大象放进冰箱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：冰箱类（Refrig）和大象类（Ele）的设计图纸 • </a:t>
            </a: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：具体的冰箱（ref）和具体的大象（ele）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504690"/>
            <a:ext cx="10668000" cy="2352675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4927600"/>
            <a:ext cx="10287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class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Ele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{</a:t>
            </a:r>
            <a:endParaRPr lang="en-US" sz="1200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public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: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D19A66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int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heightEle;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Ele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() { heightEle = 10;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};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class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Refrig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{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public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: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D19A66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int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heightRefrig;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Ele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pEle;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Refrig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() { heightRefrig = 10; pEle = nullptr;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OpenRefrigerator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() { </a:t>
            </a:r>
            <a:r>
              <a:rPr lang="en-US" sz="1200" b="1" i="0" u="none" strike="noStrike">
                <a:solidFill>
                  <a:srgbClr val="5C6370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/* ... */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PushElephant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(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Ele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&amp; ele) { </a:t>
            </a:r>
            <a:r>
              <a:rPr lang="en-US" sz="1200" b="1" i="0" u="none" strike="noStrike">
                <a:solidFill>
                  <a:srgbClr val="5C6370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/* ... */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FE4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CloseRefrigerator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() { </a:t>
            </a:r>
            <a:r>
              <a:rPr lang="en-US" sz="1200" b="1" i="0" u="none" strike="noStrike">
                <a:solidFill>
                  <a:srgbClr val="5C6370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/* ... */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Roboto Mono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en-US" sz="1000" b="0" i="0" u="none" strike="noStrike">
              <a:solidFill>
                <a:srgbClr val="ABB2B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PART01-2：类的成员和访问控制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类的成员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类由成员变量和成员函数组成：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成员变量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：存储对象的状态或属性，也称为实例变量。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成员函数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：定义对象的行为或操作，也称为方法。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访问控制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C++提供三种访问控制符来实现封装：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：可以被类的外部访问，用于提供对外接口。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private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：只能被类的内部成员函数访问，用于隐藏实现细节。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protected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：可以被类的内部成员函数和派生类访问。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0" y="1524000"/>
            <a:ext cx="5080000" cy="3683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6F42C1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class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E5C07B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people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{</a:t>
            </a:r>
            <a:endParaRPr lang="en-US" sz="12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190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private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787878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: // 私有成员，外部无法直接访问</a:t>
            </a:r>
            <a:endParaRPr lang="en-US" sz="1200" b="1" i="0" u="none" strike="noStrike">
              <a:solidFill>
                <a:srgbClr val="787878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string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m_name;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int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m_age;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bool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m_sex;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190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public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787878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: // 公共成员函数，用于操作对象</a:t>
            </a:r>
            <a:endParaRPr lang="en-US" sz="1200" b="1" i="0" u="none" strike="noStrike">
              <a:solidFill>
                <a:srgbClr val="787878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setName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</a:t>
            </a: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const string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&amp; name){ m_name = name;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setAge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</a:t>
            </a: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int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age){ m_age = age;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setSex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</a:t>
            </a: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bool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sex){ m_sex = sex;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string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getName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()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const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{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return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m_name;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int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getAge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()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const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{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return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m_age;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E06C7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bool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getSex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()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const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{ </a:t>
            </a:r>
            <a:r>
              <a:rPr lang="en-US" sz="1200" b="1" i="0" u="none" strike="noStrike">
                <a:solidFill>
                  <a:srgbClr val="C678D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return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m_sex;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eat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(){ cout &lt;&lt; m_name &lt;&lt; </a:t>
            </a:r>
            <a:r>
              <a:rPr lang="en-US" sz="1200" b="1" i="0" u="none" strike="noStrike">
                <a:solidFill>
                  <a:srgbClr val="98C37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"正在吃板面"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&lt;&lt; endl;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31750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void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 </a:t>
            </a:r>
            <a:r>
              <a:rPr lang="en-US" sz="1200" b="1" i="0" u="none" strike="noStrike">
                <a:solidFill>
                  <a:srgbClr val="61AF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show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(){ cout &lt;&lt; </a:t>
            </a:r>
            <a:r>
              <a:rPr lang="en-US" sz="1200" b="1" i="0" u="none" strike="noStrike">
                <a:solidFill>
                  <a:srgbClr val="98C37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"name:"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&lt;&lt; m_name &lt;&lt; </a:t>
            </a:r>
            <a:r>
              <a:rPr lang="en-US" sz="1200" b="1" i="0" u="none" strike="noStrike">
                <a:solidFill>
                  <a:srgbClr val="98C37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",age:"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&lt;&lt; m_age &lt;&lt; </a:t>
            </a:r>
            <a:r>
              <a:rPr lang="en-US" sz="1200" b="1" i="0" u="none" strike="noStrike">
                <a:solidFill>
                  <a:srgbClr val="98C37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",sex:"</a:t>
            </a: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&lt;&lt; m_sex &lt;&lt; endl; }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ABB2B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};</a:t>
            </a:r>
            <a:endParaRPr lang="en-US" sz="1200" b="1" i="0" u="none" strike="noStrike">
              <a:solidFill>
                <a:srgbClr val="ABB2B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52705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封装的好处</a:t>
            </a:r>
            <a:endParaRPr lang="en-US" sz="1100"/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数据保护：防止外部直接修改对象内部数据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代码复用：通过公共接口访问和修改数据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灵活性：可以在不改变外部接口的情况下修改内部实现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PART01-3：构造函数和析构函数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构造函数（Constructor）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构造函数是一种特殊的成员函数，在创建对象时自动调用，用于初始化对象。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构造函数名必须与类名相同。  • 构造函数没有返回值。  • 可以有参数，支持重载。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2159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3111500"/>
            <a:ext cx="1028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people {</a:t>
            </a:r>
            <a:endParaRPr lang="en-US" sz="1100"/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: </a:t>
            </a:r>
            <a:r>
              <a:rPr lang="en-US" sz="1200" b="0" i="0" u="none" strike="noStrike">
                <a:solidFill>
                  <a:srgbClr val="9CDC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m_name;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CDC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m_age;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CDC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bool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m_sex;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: </a:t>
            </a:r>
            <a:r>
              <a:rPr lang="en-US" sz="1200" b="0" i="0" u="none" strike="noStrike">
                <a:solidFill>
                  <a:srgbClr val="DCDCA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默认构造函数</a:t>
            </a:r>
            <a:endParaRPr lang="en-US" sz="1200" b="0" i="0" u="none" strike="noStrike">
              <a:solidFill>
                <a:srgbClr val="DCDCA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people() { m_name = </a:t>
            </a:r>
            <a:r>
              <a:rPr lang="en-US" sz="1200" b="0" i="0" u="none" strike="noStrike">
                <a:solidFill>
                  <a:srgbClr val="CE917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"李四"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; m_age = 30; m_sex = </a:t>
            </a:r>
            <a:r>
              <a:rPr lang="en-US" sz="1200" b="0" i="0" u="none" strike="noStrike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true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; }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CDCA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带参数的构造函数</a:t>
            </a:r>
            <a:endParaRPr lang="en-US" sz="1200" b="0" i="0" u="none" strike="noStrike">
              <a:solidFill>
                <a:srgbClr val="DCDCA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people( </a:t>
            </a:r>
            <a:r>
              <a:rPr lang="en-US" sz="12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const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200" b="0" i="0" u="none" strike="noStrike">
                <a:solidFill>
                  <a:srgbClr val="9CDC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&amp; name, </a:t>
            </a:r>
            <a:r>
              <a:rPr lang="en-US" sz="1200" b="0" i="0" u="none" strike="noStrike">
                <a:solidFill>
                  <a:srgbClr val="9CDCF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age) { m_name = name; m_age = age; }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2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5334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析构函数（Destructor）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析构函数也是一种特殊的成员函数，在对象销毁时自动调用，用于清理资源。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析构函数名是在类名前加波浪号~。  • 析构函数没有参数，不能重载。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highlight>
                  <a:srgbClr val="F0F0F0">
                    <a:alpha val="100000"/>
                  </a:srgbClr>
                </a:highlight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~people() { /* 清理资源的代码 */ }</a:t>
            </a:r>
            <a:endParaRPr lang="en-US" sz="1300" b="0" i="0" u="none" strike="noStrike">
              <a:solidFill>
                <a:srgbClr val="666666"/>
              </a:solidFill>
              <a:highlight>
                <a:srgbClr val="F0F0F0">
                  <a:alpha val="100000"/>
                </a:srgbClr>
              </a:highlight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PART01-4：继承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核心概念与层级关系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继承是面向对象编程的三大特性之一，通过创建“派生类”来复用和扩展“基类”的属性与方法，实现代码的层级化与复用性。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6F42C1">
              <a:alpha val="8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63600" y="28956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基类 (Base Class)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被继承的“父类”，封装了通用的核心属性与方法，作为派生类的基础模板，体现共性特征。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92500" y="279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6F42C1">
              <a:alpha val="8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594100" y="28956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派生类 (Derived Class)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继承基类的“子类”，在复用基类功能的基础上，可新增属性或重写方法，实现功能的定制化扩展。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三种继承访问权限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3340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08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14400" y="4699000"/>
            <a:ext cx="5143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 公有继承：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基类的公有/保护成员在派生类中保持原权限，是最常用的继承方式，体现“是一个”的关系。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08600"/>
            <a:ext cx="53340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308600"/>
            <a:ext cx="508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4400" y="5308600"/>
            <a:ext cx="5143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protected 保护继承：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基类的公有/保护成员均变为派生类的保护成员，仅在类内部及子类中可见，外部无法直接访问。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918200"/>
            <a:ext cx="53340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918200"/>
            <a:ext cx="50800" cy="609600"/>
          </a:xfrm>
          <a:prstGeom prst="roundRect">
            <a:avLst>
              <a:gd name="adj" fmla="val 0"/>
            </a:avLst>
          </a:prstGeom>
          <a:solidFill>
            <a:srgbClr val="6F42C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4400" y="5918200"/>
            <a:ext cx="5143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private 私有继承：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基类成员均变为派生类的私有成员，仅在当前派生类内部可见，常用于实现“实现继承”而非“接口继承”。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139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代码示例：C++ 类继承实现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032000"/>
            <a:ext cx="5334000" cy="3937000"/>
          </a:xfrm>
          <a:prstGeom prst="roundRect">
            <a:avLst>
              <a:gd name="adj" fmla="val 0"/>
            </a:avLst>
          </a:prstGeom>
          <a:solidFill>
            <a:srgbClr val="212529">
              <a:alpha val="100000"/>
            </a:srgbClr>
          </a:solidFill>
          <a:ln w="12700" cap="flat" cmpd="sng">
            <a:solidFill>
              <a:srgbClr val="6F42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22225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定义基类 Animal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CB6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Animal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eat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 cout &lt;&lt;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A5D6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"Eating food..."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 endl; }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2. 定义派生类 Dog，公有继承 Animal</a:t>
            </a:r>
            <a:endParaRPr lang="en-US" sz="1300" b="0" i="0" u="none" strike="noStrike">
              <a:solidFill>
                <a:srgbClr val="9CA3A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CB6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Dog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CB6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Animal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bark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 cout &lt;&lt;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A5D6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"Woof! Woof!"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&lt;&lt; endl; }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};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3. 使用：子类对象调用父类及自身方法</a:t>
            </a:r>
            <a:endParaRPr lang="en-US" sz="1300" b="0" i="0" u="none" strike="noStrike">
              <a:solidFill>
                <a:srgbClr val="9CA3A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Dog myDog; myDog.eat(); myDog.bark();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175000" cy="3175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PART02-1：常用数学库函数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头文件：</a:t>
            </a: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#include &lt;cmath&gt;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778000"/>
          <a:ext cx="10668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810000"/>
                <a:gridCol w="4826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函数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6E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6E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示例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6EF">
                        <a:alpha val="10000"/>
                      </a:srgbClr>
                    </a:solidFill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abs(x)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求整数的绝对值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abs(-5) → 5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fabs(x)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求浮点数的绝对值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fabs(-3.14) → 3.14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pow(x, y)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计算x的y次方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pow(2, 3) → 8.0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sqrt(x)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计算x的平方根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sqrt(16) → 4.0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ceil(x)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向上取整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ceil(2.3) → 3.0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floor(x)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向下取整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floor(2.9) → 2.0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round(x)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四舍五入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round(2.5) → 3.0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sin(x)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正弦函数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sin(0) → 0.0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cos(x)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余弦函数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cos(0) → 1.0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9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tan(x)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2525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正切函数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6464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sym typeface="Consolas" panose="020B0609020204030204"/>
                        </a:rPr>
                        <a:t>tan(0) → 0.0</a:t>
                      </a:r>
                      <a:endParaRPr lang="en-US"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3492500" y="132842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动手操作：数学函数练习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143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82828">
              <a:alpha val="100000"/>
            </a:srgbClr>
          </a:solidFill>
          <a:ln cap="flat" cmpd="sng">
            <a:solidFill>
              <a:srgbClr val="0E0D0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5207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#include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&lt;iostream&gt; </a:t>
            </a: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#include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&lt;cmath&gt; </a:t>
            </a: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using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namespace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std;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0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endParaRPr lang="en-US" sz="10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练习1：计算绝对值</a:t>
            </a:r>
            <a:endParaRPr lang="en-US" sz="10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num1 = -10; cout &lt;&lt; "绝对值：" &lt;&lt; </a:t>
            </a:r>
            <a:r>
              <a:rPr lang="en-US" sz="1000" b="0" i="0" u="none" strike="noStrike">
                <a:solidFill>
                  <a:srgbClr val="E06C7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abs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(num1) &lt;&lt; endl;</a:t>
            </a:r>
            <a:endParaRPr lang="en-US" sz="10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练习2-4：平方根、幂、四舍五入</a:t>
            </a:r>
            <a:endParaRPr lang="en-US" sz="10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double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num2=25.0, base=2.0, exp=10.0, num3=3.7;</a:t>
            </a:r>
            <a:endParaRPr lang="en-US" sz="10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 &lt;&lt; "平方根：" &lt;&lt; </a:t>
            </a:r>
            <a:r>
              <a:rPr lang="en-US" sz="1000" b="0" i="0" u="none" strike="noStrike">
                <a:solidFill>
                  <a:srgbClr val="E06C7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sqrt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(num2) &lt;&lt; endl; </a:t>
            </a:r>
            <a:r>
              <a:rPr lang="en-US" sz="10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000" b="0" i="0" u="none" strike="noStrike">
                <a:solidFill>
                  <a:srgbClr val="DCDCD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0; }</a:t>
            </a:r>
            <a:endParaRPr lang="en-US" sz="1000" b="0" i="0" u="none" strike="noStrike">
              <a:solidFill>
                <a:srgbClr val="DCDCDC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5143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5207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绝对值：10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平方根：5</a:t>
            </a:r>
            <a:endParaRPr lang="en-US" sz="12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2的10次方：1024</a:t>
            </a:r>
            <a:endParaRPr lang="en-US" sz="12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四舍五入：4</a:t>
            </a:r>
            <a:endParaRPr lang="en-US" sz="12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PART02-2：常用字符处理函数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498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核心头文件：#include &lt;cctype&gt;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286000"/>
            <a:ext cx="5080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常用字符处理函数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isalpha(c)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判断字符是否为字母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isdigit(c)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判断字符是否为数字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islower(c)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判断字符是否为小写字母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isupper(c)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判断字符是否为大写字母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isspace(c)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判断字符是否为空白字符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tolower(c)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将字符转换为小写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toupper(c)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将字符转换为大写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286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2286000"/>
            <a:ext cx="5080000" cy="406400"/>
          </a:xfrm>
          <a:prstGeom prst="roundRect">
            <a:avLst>
              <a:gd name="adj" fmla="val 0"/>
            </a:avLst>
          </a:prstGeom>
          <a:solidFill>
            <a:srgbClr val="3C40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336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动手操作：字符处理练习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826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&lt;iostream&gt;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&lt;cctype&gt;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namespace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std;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61AF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() {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c1 =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'A'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c1 &lt;&lt;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"是字母吗？"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&lt;&lt; (isalpha(c1)?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"是"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"否"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 &lt;&lt; endl;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c2 =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'b'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c2 &lt;&lt;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"转大写："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&lt;&lt; (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)toupper(c2) &lt;&lt; endl;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 =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' '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"空格是空白吗？"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&lt;&lt; (isspace(c3)?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"是"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"否"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 &lt;&lt; endl;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</a:t>
            </a: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0;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5715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5778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输出结果：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A是字母吗？是 A是数字吗？否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b转换为大写：B Z转换为小写：z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空格是空白字符吗？是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PART02-3：常用通用函数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核心头文件：</a:t>
            </a:r>
            <a:r>
              <a:rPr lang="en-US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Roboto Mono"/>
                <a:sym typeface="Roboto Mono"/>
              </a:rPr>
              <a:t>#include &lt;algorithm&gt;</a:t>
            </a:r>
            <a:endParaRPr lang="en-US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常用通用函数：</a:t>
            </a:r>
            <a:endParaRPr lang="en-US" sz="1600" b="1" i="0" u="none" strike="noStrike">
              <a:solidFill>
                <a:srgbClr val="D946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max(a, b)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：返回两值较大值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max(3, 5) → 5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C8C8C8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|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min(a, b)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：返回两值较小值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min(3, 5) → 3</a:t>
            </a:r>
            <a:endParaRPr lang="en-US" sz="1600" b="1" i="0" u="none" strike="noStrike">
              <a:solidFill>
                <a:srgbClr val="D946E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swap(a, b)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：交换两个值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swap(x, y)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C8C8C8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|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fill(b, e, v)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：填充范围元素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fill(arr, arr+5, 0)</a:t>
            </a:r>
            <a:endParaRPr lang="en-US" sz="1600" b="1" i="0" u="none" strike="noStrike">
              <a:solidFill>
                <a:srgbClr val="D946E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reverse(b, e)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：反转范围元素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reverse(arr, arr+5)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C8C8C8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|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sort(b, e)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555555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：排序范围元素 | 示例：</a:t>
            </a:r>
            <a:r>
              <a:rPr lang="en-US" sz="1600" b="1" i="0" u="none" strike="noStrike">
                <a:solidFill>
                  <a:srgbClr val="333333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D946E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sort(arr, arr+5)</a:t>
            </a:r>
            <a:endParaRPr lang="en-US" sz="1600" b="1" i="0" u="none" strike="noStrike">
              <a:solidFill>
                <a:srgbClr val="D946EF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D946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254500"/>
            <a:ext cx="1028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C0C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 Mono"/>
              </a:rPr>
              <a:t>#include &lt;iostream&gt; #include &lt;algorithm&gt; using namespace std; int main() { int a=10,b=20; cout&lt;&lt;"最大值："&lt;&lt;max(a,b)&lt;&lt;endl&lt;&lt;"最小值："&lt;&lt;min(a,b)&lt;&lt;endl; cout&lt;&lt;"交换前：a="&lt;&lt;a&lt;&lt;", b="&lt;&lt;b&lt;&lt;endl; swap(a,b); cout&lt;&lt;"交换后：a="&lt;&lt;a&lt;&lt;", b="&lt;&lt;b&lt;&lt;endl; int arr[]={5,2,8,1,9}; int n=sizeof(arr)/sizeof(arr[0]); sort(arr,arr+n); cout&lt;&lt;"排序后："; for(int i=0;i&lt;n;i++)cout&lt;&lt;arr[i]&lt;&lt;" "; cout&lt;&lt;endl; reverse(arr,arr+n); cout&lt;&lt;"反转后："; for(int i=0;i&lt;n;i++)cout&lt;&lt;arr[i]&lt;&lt;" "; return 0; }</a:t>
            </a:r>
            <a:endParaRPr lang="en-US" sz="16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5842000"/>
            <a:ext cx="76200" cy="762000"/>
          </a:xfrm>
          <a:prstGeom prst="roundRect">
            <a:avLst>
              <a:gd name="adj" fmla="val 0"/>
            </a:avLst>
          </a:prstGeom>
          <a:solidFill>
            <a:srgbClr val="64C8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59055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C8DCC8"/>
                </a:solidFill>
                <a:latin typeface="Roboto Mono"/>
                <a:ea typeface="Roboto Mono"/>
                <a:cs typeface="Roboto Mono"/>
                <a:sym typeface="Roboto Mono"/>
              </a:rPr>
              <a:t>输出结果：最大值：20 最小值：10 交换前：a=10, b=20 交换后：a=20, b=10 排序后：1 2 5 8 9 反转后：9 8 5 2 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4623</Words>
  <Application>WPS 演示</Application>
  <PresentationFormat/>
  <Paragraphs>260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 Light</vt:lpstr>
      <vt:lpstr>Roboto Mono</vt:lpstr>
      <vt:lpstr>ksdb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এ᭄Galaxyഒᩚ࿐</cp:lastModifiedBy>
  <cp:revision>2</cp:revision>
  <dcterms:created xsi:type="dcterms:W3CDTF">2026-09-17T06:11:00Z</dcterms:created>
  <dcterms:modified xsi:type="dcterms:W3CDTF">2026-09-17T11:56:14Z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{"Label":"1","ContentProducer":"001191110102MACQD9K64010000","ProduceID":"7686379632770190517","ReservedCode1":"","ContentPropagator":"","PropagateID":"","ReservedCode2":""}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18BD49BA29A148A3AFF2A235AAA35681_12</vt:lpwstr>
  </property>
</Properties>
</file>