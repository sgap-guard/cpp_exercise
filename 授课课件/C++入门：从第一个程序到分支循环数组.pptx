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0" r:id="rId7"/>
    <p:sldId id="261" r:id="rId8"/>
    <p:sldId id="263" r:id="rId9"/>
    <p:sldId id="294" r:id="rId10"/>
    <p:sldId id="262" r:id="rId11"/>
    <p:sldId id="264" r:id="rId12"/>
    <p:sldId id="266" r:id="rId13"/>
    <p:sldId id="267" r:id="rId14"/>
    <p:sldId id="268" r:id="rId15"/>
    <p:sldId id="269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9" r:id="rId29"/>
    <p:sldId id="288" r:id="rId30"/>
    <p:sldId id="287" r:id="rId31"/>
    <p:sldId id="290" r:id="rId32"/>
    <p:sldId id="291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99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欢迎大家来到C++入门课程。这门课从最基础的第一个程序讲起，一直到分支、循环、数组，覆盖算法竞赛所需的全部语法基础。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课程设计面向零基础同学，每个知识点都配有代码示例和逐行解释，不用担心听不懂。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学完这两课，你将能够独立写出简单的程序，为后续的算法学习打下坚实基础。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这两课的目标可以概括为三件事：写出能跑的程序、让程序会判断会重复、用数组存一堆数据。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第一课解决环境和基础语法，第二课解决程序的控制流和数据存储。学完之后，你就具备了学习算法的全部前置知识。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强调一下：不需要死记硬背，编程是练出来的，不是背出来的。遇到不会的语法查文档就行。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这是每个程序员写的第一个程序。逐行解释：头文件引入工具库，命名空间简化写法，main是程序入口，cout输出文字。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让同学们在自己的IDE里敲一遍这个程序，按F9编译运行，看到屏幕上输出Hello, World!的那一刻，编程就入门了。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注意Dev-C++按F9是编译+运行，VS Code和CLion需要配置后才能一键运行。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数据类型就像不同大小的收纳盒：int装整数，double装小数，char装单个字符，bool装是或否，string装一段文字。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本课程最高频的是int和long long。一定要提醒学生：int不够大的时候必须换long long，这是新手最容易踩的坑。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变量命名要见名知意，不要用a、b、c这种无意义的名字，后期调试会非常痛苦。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printf是C语言风格的输出，需要用格式符告诉它每个变量的类型。%d对应int，%lld对应long long，%lf对应double。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printf比cout快，在输出量特别大的题目里有优势。但新手容易记错格式符，所以初期推荐用cout，遇到TLE再换printf。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格式控制很实用：%.2f保留两位小数，%5d占5格右对齐，这些在格式化输出题里经常用到。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scanf读取数据时必须加&amp;取地址，double用%lf而非%f。%c会读取空格换行，需手动清理缓冲区。多组输入通过返回值判断，while(scanf("%d%d",&amp;a,&amp;b)==2)是标准写法。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cout是C++风格的输出，最大的优点是不需要记格式符，int、double、char、string都能用同一种方式输出。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&lt;&lt;可以理解为「流向屏幕」，把右边的东西一个一个送到屏幕上。文字要加双引号，变量直接写名字。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endl会刷新缓冲区，输出量特别大的时候会慢，可以用"\n"代替。但平时做题用endl完全没问题。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cin是C++风格的输入，&gt;&gt;可以理解为「从键盘流向变量」。它最大的好处是不需要记格式符，什么类型都能读。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cin默认以空格、换行、制表符分隔数据，所以输入"3 4"和"3\n4"效果一样，都会把3给a、4给b。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cin默认比较慢，数据量超过10万时可能TLE。这时候在main开头加两行优化代码，速度能提升好几倍。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A+B是每个算法选手的第一道题。单组输入直接cin&gt;&gt;a&gt;&gt;b然后输出a+b。多组输入用while(cin&gt;&gt;a&gt;&gt;b)循环，读到没有数据就自动结束。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一定要让学生亲手敲一遍这个程序，在IDE里跑通。这是从「听懂」到「会写」的关键一步。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强调：所有算法题的本质都是读入数据、处理数据、输出结果，这个模式贯穿始终。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算术运算符和数学里基本一样，但有两个关键区别：乘号用*不是×，除法/在两个int相除时会丢掉小数部分。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整数除法是新手最容易踩的坑：1/2的结果是0不是0.5。想要小数结果，必须至少有一个数是double类型，比如写成1.0/2。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取余%用来求余数，7%2=1。这个运算符在判断奇偶、循环取模等场景非常有用。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关系运算符用来比大小，结果是true或false。注意大于等于是&gt;=不是=&gt;，判等是==不是=。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逻辑运算符用来组合多个条件：&amp;&amp;是「并且」，||是「或者」，!是「不是」。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新手最容易犯的错误就是把==写成=，if(a=5)会永远为真，因为赋值表达式的值就是赋的值5，非零即真。这个错误一定要反复强调。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复合赋值运算符a+=3等价于a=a+3，写起来更简洁。自增自减有前置和后置的区别，但建议新手不要在复杂表达式里混用。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运算符优先级不需要死记硬背，记住括号最高、赋值最低就行。不确定的时候加括号，代码可读性更好，也不会出错。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考试中可能会考优先级选择题，但实际写代码时加括号是最佳实践。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这是第二课的开场。任何程序都可以用顺序、分支、循环三种结构拼出来，这是结构化程序设计的核心思想。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上一课已经学了顺序结构（代码从上到下执行），这一课重点学分支（if/switch）和循环（while/for）。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学完这三样，再加上数组，就能写出绝大多数算法了。后面的高级算法都是在这个基础上构建的。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if-else是最基础的分支结构。if后面跟条件，条件为真执行if块，否则看else if，都不满足执行else。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条件的结果是真或假：非零为真，零为假。所以if(5)永远为真，if(0)永远为假。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花括号建议永远写，哪怕只有一行代码。不写的话if只管下面一行，容易出bug。else if可以有多个，用来处理多分支的情况。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这三个坑是新手写if时最常犯的错误，一定要反复强调。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第一个坑：==写成=，if(a=5)会永远为真，因为赋值表达式的值就是5，非零即真。这是最隐蔽的bug。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第二个坑：不写花括号，if只管下面一行。第三个坑：else总是和最近的未配对的if匹配，不要靠缩进判断。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避免这三个坑的最佳方法：永远写花括号，代码缩进清晰。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if可以嵌套，if里面再套if，用来处理更复杂的条件组合。但嵌套层级不要太深，否则代码可读性会很差。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三元运算符?:是if-else的简写形式，格式是「条件?真值:假值」，适合二选一给一个值的简单场景。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三元运算符嵌套多了会很难读，这时候不如用if-else写清楚。代码是写给人看的，不是写给机器看的。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switch-case用来对一个变量的多个离散取值分别处理。switch后面只能是整数或字符，不能是范围或浮点数。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最关键的一点：每个case结束必须写break，否则会穿透到下一个case继续执行。这个「穿透」特性有时可以利用（多个case共用一段代码），但新手很容易忘记写break导致bug。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default是兜底，所有case都不匹配时执行。判断范围、比大小、复合条件只能用if，switch处理不了。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switch的「穿透」特性可以被利用：多个case堆在一起共用同一段代码，比如1-5都是工作日，6-7都是周末。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但忘记写break就会意外穿透，这是新手最常犯的错误。写完switch一定要检查每个case有没有break。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选择原则：范围判断、比大小、复合条件用if；一个变量的多个固定取值用switch。拿不准就用if，if永远不会错。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while循环：只要条件为真，就反复执行循环体。先判断再执行，所以可能一次都不执行。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循环三件事：初始值、条件、更新，缺一不可。忘了更新变量就会死循环，程序卡死不动。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while最典型的用法是多组输入：while(cin&gt;&gt;x)，读到没有数据就自动结束。这是OJ题里最常见的模式。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do-while和while的唯一区别：先执行一次再判断条件，保证至少跑一次。适合「先让用户输入一次，不合法再重新输入」这种场景。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语法上注意：do-while的while后面必须有分号，这是和while最大的语法区别，忘了写会编译错误。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实际编程中do-while用得比while和for少，大部分循环用for或while就能解决。但菜单选择、输入验证这类场景用do-while更自然。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for循环把初始化、条件、更新三件事集中在一行，是三种循环里最常用的。格式是for(初始化;条件;更新)。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执行顺序：初始化只跑一次，然后每次先判断条件，为真就执行循环体，执行完后更新变量，再回来判断。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for最常见的用法是遍历数组：i从0到n-1，条件写i&lt;n。一定要注意数组下标从0开始，不要写成i&lt;=n，否则会越界。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三种循环可以互相转换，选哪个看场景：确定次数的用for，次数不确定的用while，至少执行一次的用do-while。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同一个任务用不同写法各写一遍，是理解循环最好的练习。建议初学者把打印1到10用三种循环各写一遍。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实际编程中for和while用得最多，do-while相对少一些。但菜单选择、输入验证这类场景do-while更自然。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循环的三个常见坑：死循环、off-by-one（多一次少一次）、循环变量溢出。这三个是新手写循环时最容易犯的错误。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死循环多半是忘了更新循环变量，或者条件写反了。程序卡住不动的时候先检查这个。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off-by-one是最隐蔽的：i&lt;=n和i&lt;n只差一个等号，但结果差一次。遍历数组一定要用i&lt;n，因为下标从0到n-1。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循环变量溢出在数据范围大的时候会出现，int超过21亿会变成负数，导致条件判断出错。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break和continue是循环控制的两个关键字。break直接跳出整个循环，continue只跳过当前这一次、继续下一次。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用生活类比：break相当于「今天不跑了，直接回家」，continue相当于「这圈不跑了，直接开始下一圈」。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注意它们都只影响最内层循环，嵌套循环里内层的break不会跳出外层。break在switch里也用来跳出switch。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数组的三个常见坑：越界访问、未初始化、开太小。这三个是新手用数组时最容易犯的错误。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越界是最危险的：可能直接RE，也可能悄悄改掉别的变量的值，导致莫名其妙的bug，最难排查。遍历数组一定写i&lt;n。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未初始化的数组元素是随机垃圾值，用之前一定要初始化。int a[5]={0}可以把所有元素设为0。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数组开太小会导致数据多了就越界。开数组要比题目范围大一点留余量。全局数组可以开很大，局部数组有栈大小限制。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数组就是一排编号整齐的格子，一个名字存多个同类型数据，用下标访问。定义方式：int a[5] = {3,1,4,1,5}。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最重要的规则：下标从0开始！长度为n的数组，合法下标是0到n-1。访问a[n]就是越界，会导致运行时错误。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数组配合循环使用是最常见的模式：for(int i=0;i&lt;n;i++)处理a[i]。求和、找最值、逆序输出都是这个模式的变体。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嵌套循环就是循环里面套循环。外层控制行数，内层控制每行的内容。打印三角形、九九乘法表都是经典的嵌套循环题。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理解关键：内层循环的条件j&lt;=i依赖外层变量i，所以第i行打印i个星号。这是嵌套循环最核心的思想。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嵌套循环的时间复杂度是n的层数次方：两层就是O(n²)，三层就是O(n³)。数据量大的时候嵌套循环容易超时，这也是为什么要学更优算法的原因。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数组+循环是最常见的组合模式。求最大值：先假设第一个是最大的，然后逐个比较更新。逆序输出：从最后一个下标倒着遍历到0。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求和：用一个累加变量，遍历数组逐个加进去。统计次数：开一个计数数组，遍历原数组时对应位置+1，这是桶排序的基础思想。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这四个模式是数组题的基础，几乎所有数组题都是它们的变体。建议初学者把这四个模式各写三遍，形成肌肉记忆。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第二课总结：分支（if/switch）、循环（while/do-while/for）、数组，这三个是编程的核心控制结构，几乎所有程序都离不开它们。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下节课讲函数和递归。函数是把代码打包复用的机制，递归是函数自己调用自己的特殊用法，是后续算法学习的基础。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课后一定要多练，每个知识点做2-3道OJ题。编程是实践性极强的技能，光看不动手永远学不会。遇到bug不要怕，调试能力本身就是核心竞争力。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5F3DC4">
                  <a:alpha val="100000"/>
                </a:srgbClr>
              </a:gs>
              <a:gs pos="50000">
                <a:srgbClr val="8B5CF6">
                  <a:alpha val="100000"/>
                </a:srgbClr>
              </a:gs>
              <a:gs pos="100000">
                <a:srgbClr val="EC489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从第一个程序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到分支循环数组</a:t>
            </a:r>
            <a:endParaRPr lang="en-US" sz="5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输入输出 · 运算符  · 分支判断 · 循环重复 · 数组存储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969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谷欣</a:t>
            </a:r>
            <a:r>
              <a:rPr lang="zh-CN" alt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鸽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2026 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0" y="10160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0" y="3810000"/>
            <a:ext cx="1524000" cy="15240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课程导览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学完这两课，你能做到什么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016000" y="23495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16000" y="3048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写出能跑的程序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16000" y="3619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完整走通「写代码 → 编译 → 运行」全流程。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 cin/cout 与 scanf/printf 两套输入输出风格，能读入数据、输出结果。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理解运算符与优先级，能正确写出数学表达式。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699000" y="23495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699000" y="3048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让程序会判断会重复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4699000" y="3619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if/switch 根据条件选择不同执行路径，让程序「看情况办事」。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while/do-while/for 重复执行代码，把一件事做100次也只写几行。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break 和 continue 精细控制循环流程。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382000" y="23495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8382000" y="3048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用数组存一堆数据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8382000" y="3619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一个名字存100个数，配合循环逐个处理，这是所有算法的基础。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掌握数组遍历、求和、找最值、逆序输出等常见操作。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 OJ 在线判题系统，能独立提交代码并根据返回结果调试。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63500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6350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不需要一下子记住所有细节。目标是：面对练习题时能看懂题意、拼出一段可以跑的代码，具体语法遇到时再查即可。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 · 第一个程序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第一个程序：Hello, World!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4826000" cy="4318000"/>
          </a:xfrm>
          <a:prstGeom prst="roundRect">
            <a:avLst>
              <a:gd name="adj" fmla="val 2941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3180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#include</a:t>
            </a: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&lt;bits/stdc++.h&gt;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using namespace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std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"Hello, World!"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5969000" y="1905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969000" y="1905000"/>
            <a:ext cx="63500" cy="9525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159500" y="20066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头文件 #include &lt;bits/stdc++.h&gt;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6159500" y="23114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包含了大部分常用库，相当于「万能工具箱」。入门阶段写这一个就够。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969000" y="29845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969000" y="2984500"/>
            <a:ext cx="63500" cy="9525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159500" y="30861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命名空间 using namespace std;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159500" y="33909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cout、cin、endl 都住在 std 这个「盒子」里，这句话告诉编译器直接用它们。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5969000" y="4064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5969000" y="4064000"/>
            <a:ext cx="63500" cy="9525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6159500" y="41656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主函数 int main()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6159500" y="44704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程序的入口。运行时操作系统从 main 开始，一行一行往下执行。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5969000" y="51435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5969000" y="5143500"/>
            <a:ext cx="63500" cy="107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6159500" y="52451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输出语句 cout &lt;&lt; ... &lt;&lt; endl;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159500" y="55499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向屏幕输出一句话。&lt;&lt; 表示「把右边的东西送进输出流」，endl 表示换行。return 0 表示程序正常结束。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 · 第一个程序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基本数据类型：程序里的「收纳盒」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905000"/>
          <a:ext cx="10668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032000"/>
                <a:gridCol w="3556000"/>
                <a:gridCol w="3810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例子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整型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int / long long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计数、索引、数组下标、题目中的整数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int n = 100; long long big = 1e12;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浮点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float / double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计算结果可能是小数，精度要求高用double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double pi = 3.14159;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char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单个字符：字母、数字、标点符号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char c = 'A';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布尔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bool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表示是否，只有 true / false 两个值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bool ok = true;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string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一段文本，需 #include 后才能用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string name = "ACM";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33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EF2F2">
              <a:alpha val="6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5461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坑：数据太大会「溢出」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8166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范围约 ±2×10⁹。计数或答案超过这个量级时，必须用 long long，否则结果会出错。算法题里一半以上的「莫名其妙WA」都是溢出。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DCFCE7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5461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变量命名规则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58166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只能用字母、数字、下划线；不能以数字开头；区分大小写（Age和age不同）。尽量起有意义的名字，比如 score 而不是 s1。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基本输入输出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输出：printf 与格式控制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age = </a:t>
            </a:r>
            <a:r>
              <a:rPr lang="en-US" sz="15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18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am %d years old.\n"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age);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运行结果：I am 18 years old.</a:t>
            </a:r>
            <a:endParaRPr lang="en-US" sz="1500" b="0" i="0" u="none" strike="noStrike">
              <a:solidFill>
                <a:srgbClr val="A6E3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格式符速查表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62000" y="3873500"/>
          <a:ext cx="508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格式符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对应类型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int 整型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%lld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long long 长整型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%f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double 双精度浮点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char 字符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223000" y="38735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4000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printf 的格式控制技巧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381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printf("%.2f\n", 3.14159); 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3.14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printf("%5d\n", 42); 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占5格右对齐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printf("%05d\n", 42); 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00042 补零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printf("%-5d|\n", 42); 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左对齐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63500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6350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转义字符：\n 换行      \" 双引号        %% 百分号本身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 INPUT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输入：</a:t>
            </a: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Alibaba PuHuiTi 3.0 55 Regular"/>
              </a:rPr>
              <a:t>scanf </a:t>
            </a: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的取地址与占位符陷阱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scanf通过内存地址写入数据，普通变量必须加&amp;，类型匹配错误会导致崩溃或乱码。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457200" y="2458720"/>
            <a:ext cx="4570730" cy="299021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TextBox 9"/>
          <p:cNvSpPr txBox="1"/>
          <p:nvPr/>
        </p:nvSpPr>
        <p:spPr>
          <a:xfrm>
            <a:off x="5485028" y="2448966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778296" y="2458491"/>
            <a:ext cx="5610609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85098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取</a:t>
            </a:r>
            <a:r>
              <a:rPr lang="en-US" sz="1600" b="1" i="0" strike="noStrike">
                <a:solidFill>
                  <a:srgbClr val="0A1F3D">
                    <a:alpha val="85098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地址必写 &amp;</a:t>
            </a:r>
            <a:r>
              <a:rPr sz="1600" b="1" i="0" strike="noStrike">
                <a:solidFill>
                  <a:srgbClr val="0A1F3D">
                    <a:alpha val="85098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— scanf 参数必须传变量地址（如 &amp;a），漏写 &amp; 会导致运行时崩溃（RE），编译器不会报错</a:t>
            </a:r>
            <a:endParaRPr sz="1600" b="1" i="0" strike="noStrike">
              <a:solidFill>
                <a:srgbClr val="0A1F3D">
                  <a:alpha val="85098"/>
                </a:srgb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84130" y="2458491"/>
            <a:ext cx="1334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5B8CB8">
                    <a:alpha val="7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&amp;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485028" y="3529608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778296" y="3539133"/>
            <a:ext cx="5507496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85098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类型占位符匹配 — double 必须用 %lf 读取，误用 %f 导致数据错乱；long long 必须用 %lld，与 printf 规则不同</a:t>
            </a:r>
            <a:endParaRPr lang="en-US" sz="1600" b="1" i="0" strike="noStrike">
              <a:solidFill>
                <a:srgbClr val="0A1F3D">
                  <a:alpha val="85098"/>
                </a:srgb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81017" y="3539133"/>
            <a:ext cx="23657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5B8CB8">
                    <a:alpha val="7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%lf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基本输入输出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输出：cout 的用法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age = </a:t>
            </a:r>
            <a:r>
              <a:rPr lang="en-US" sz="15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18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"I am "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age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 years old."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运行结果：I am 18 years old.</a:t>
            </a:r>
            <a:endParaRPr lang="en-US" sz="1500" b="0" i="0" u="none" strike="noStrike">
              <a:solidFill>
                <a:srgbClr val="A6E3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63500" cy="12700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&lt;&lt; 是什么？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2926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表示「把右边的数据插进输出流」。可以连着写多个，文字用引号包起来，变量直接写名字。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3810000"/>
            <a:ext cx="63500" cy="1270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937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endl 和 "\n" 的区别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2926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endl = 换行 + 刷新缓冲区（略慢）；"\n" = 只换行。高频输出时用 "\n" 更快。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EEF2FF">
              <a:alpha val="60000"/>
            </a:srgbClr>
          </a:solidFill>
          <a:ln w="12700" cap="flat" cmpd="sng">
            <a:solidFill>
              <a:srgbClr val="5F3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实战：输出 a + b = 结果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8166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 &lt;&lt; a &lt;&lt; " + " &lt;&lt; b &lt;&lt; " = " &lt;&lt; a + b &lt;&lt; endl;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如果 a=3, b=4，输出：3 + 4 = 7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基本输入输出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输入：cin 的用法与优化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a, b;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</a:t>
            </a:r>
            <a:r>
              <a:rPr lang="en-US" sz="15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5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b;</a:t>
            </a:r>
            <a:endParaRPr lang="en-US" sz="15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输入 "3 4"，则 a=3, b=4</a:t>
            </a:r>
            <a:endParaRPr lang="en-US" sz="1500" b="0" i="0" u="none" strike="noStrike">
              <a:solidFill>
                <a:srgbClr val="A6E3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63500" cy="13970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&gt;&gt; 是什么？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386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表示「从输入流里抽出下一个值，存进右边变量」。空格、制表符、换行都是默认分隔符，不需要额外处理。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556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3556000"/>
            <a:ext cx="63500" cy="1397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683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cin 的最大优点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0386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不需要指定类型！int、long long、double、char、string 都用同一种写法读取，不会记错格式符。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3340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高频输入时的加速优化（数据量超过 10⁵ 时加在 main 开头）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71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ios::sync_with_stdio(false);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取消与C标准库同步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cin.tie(nullptr);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解除cin与cout的绑定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基本输入输出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完整实战：A + B 问题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1979" y="2031979"/>
            <a:ext cx="5334000" cy="3556000"/>
          </a:xfrm>
          <a:prstGeom prst="roundRect">
            <a:avLst>
              <a:gd name="adj" fmla="val 3571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44142" y="1905000"/>
            <a:ext cx="5090758" cy="336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#include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&lt;bits/stdc++.h&gt;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using namespace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std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a, b;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+ b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6477000" y="1905000"/>
            <a:ext cx="4953000" cy="1651000"/>
          </a:xfrm>
          <a:prstGeom prst="roundRect">
            <a:avLst>
              <a:gd name="adj" fmla="val 7692"/>
            </a:avLst>
          </a:prstGeom>
          <a:solidFill>
            <a:srgbClr val="DCFCE7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6731000" y="2032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单组输入：读一组算一组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731000" y="241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题目说「输入两个整数」，就用上面的写法。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输入：3 4</a:t>
            </a:r>
            <a:endParaRPr lang="en-US" sz="13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输出：7</a:t>
            </a:r>
            <a:endParaRPr lang="en-US" sz="13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6477000" y="3810000"/>
            <a:ext cx="4953000" cy="1651000"/>
          </a:xfrm>
          <a:prstGeom prst="roundRect">
            <a:avLst>
              <a:gd name="adj" fmla="val 7692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731000" y="3937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多组输入：读到文件结束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6731000" y="4318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 (cin &gt;&gt; a &gt;&gt; b) {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 &lt;&lt; a + b &lt;&lt; endl;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EEF2FF">
              <a:alpha val="60000"/>
            </a:srgbClr>
          </a:solidFill>
          <a:ln w="12700" cap="flat" cmpd="sng">
            <a:solidFill>
              <a:srgbClr val="5F3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84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这是算法竞赛的第一道题。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把这个程序在自己的IDE里敲一遍、跑通，就完成了从「看懂」到「会写」的第一步。后面所有的题，本质上都是「读入数据 → 处理 → 输出结果」这个模式的变体。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 · 运算符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算术运算符：+ - * / %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016000"/>
                <a:gridCol w="2540000"/>
                <a:gridCol w="6096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运算符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例子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E1B4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+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1 + 2 →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最常见的加法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E1B4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5 - 3 → 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减法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algn="ctr">
                        <a:defRPr/>
                      </a:pPr>
                      <a:r>
                        <a:rPr lang="en-US"/>
                        <a:t>*</a:t>
                      </a:r>
                      <a:endParaRPr lang="en-US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2 * 3 → 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用星号，不是数学里的 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E1B4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/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7 / 2 →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F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int 与 int 相除会裁掉小数部分！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E1B4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取余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7 % 2 → 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余数，结果在 0 到除数之间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953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最大的坑：整数除法会「去小数」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5245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 / 2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不是 0.5，而是 0！因为两个都是 int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1.0 / 2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0.5，有一个是 double 就会保留小数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991B1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想要小数结果，至少让一个操作数变成小数。</a:t>
            </a:r>
            <a:endParaRPr lang="en-US" sz="1400" b="0" i="0" u="none" strike="noStrike">
              <a:solidFill>
                <a:srgbClr val="991B1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 · 运算符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关系与逻辑运算符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关系运算符（比大小）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349500"/>
          <a:ext cx="5080000" cy="289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905000"/>
                <a:gridCol w="1905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例子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&gt;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&gt;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&gt;=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大于等于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&gt;=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&lt;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&lt;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&lt;=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小于等于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&lt;=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F444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==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F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等于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==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!=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不等于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!= 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223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逻辑运算符（组合条件）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223000" y="2349500"/>
          <a:ext cx="5207000" cy="269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905000"/>
                <a:gridCol w="2032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489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489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例子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4899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&amp;&amp;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与（都真才真）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a&gt;0 &amp;&amp; a&lt;10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||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或（一个真就真）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a==1 || a==2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!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非（取反）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!ok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短路特性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&amp;&amp; 左边假就不看右边；|| 左边真就不看右边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62000" y="520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533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最常报错点：= 是赋值，== 是判等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778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= 5) { ... }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永远为真！因为把5赋给了a，非零即真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== 5) { ... }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才是判断 a 是否等于 5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 · 运算符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赋值、自增自减与优先级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复合赋值运算符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349500"/>
          <a:ext cx="5080000" cy="233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778000"/>
                <a:gridCol w="22860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例子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等价于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F3DC4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+=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+=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 a + 3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-=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-=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 a - 3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*=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*=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 a *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/=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/=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 a /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%=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%=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 = a %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223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自增自减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349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476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a++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先用a的值，再把a加1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++a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先把a加1，再用a的值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a-- / --a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同理，减1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3556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3683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建议：</a:t>
            </a:r>
            <a:r>
              <a:rPr lang="en-US" sz="12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不要在一个表达式里同时写 a++ + ++a 这种东西，不同编译器结果可能不一样。单独写一行最安全。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89500"/>
            <a:ext cx="10668000" cy="1714500"/>
          </a:xfrm>
          <a:prstGeom prst="roundRect">
            <a:avLst>
              <a:gd name="adj" fmla="val 7407"/>
            </a:avLst>
          </a:prstGeom>
          <a:solidFill>
            <a:srgbClr val="EEF2FF">
              <a:alpha val="60000"/>
            </a:srgbClr>
          </a:solidFill>
          <a:ln w="12700" cap="flat" cmpd="sng">
            <a:solidFill>
              <a:srgbClr val="5F3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016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运算符优先级（从高到低，记不住就加括号）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12E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括号 → ! ++ -- 单目 → * / % 乘除取余 → + - 加减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12E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→ &lt; &lt;= &gt; &gt;= 比较 → == != 判等 → &amp;&amp; 逻辑与 → || 逻辑或 → = 赋值</a:t>
            </a:r>
            <a:endParaRPr lang="en-US" sz="1300" b="0" i="0" u="none" strike="noStrike">
              <a:solidFill>
                <a:srgbClr val="312E8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5F3DC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实际编程中，优先级不确定就加括号，这是最靠谱的选择。</a:t>
            </a:r>
            <a:endParaRPr lang="en-US" sz="1300" b="1" i="0" u="none" strike="noStrike">
              <a:solidFill>
                <a:srgbClr val="5F3DC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分支、循环与数组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程序的三种基本结构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结构化程序设计的核心思想：</a:t>
            </a:r>
            <a:r>
              <a:rPr lang="en-US" sz="14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任何程序都能用三种结构拼出来</a:t>
            </a:r>
            <a:r>
              <a:rPr lang="en-US" sz="14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——顺序、分支、循环。上一课学了顺序（从上到下执行），这一课学分支和循环。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496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从上到下，一条一条执行。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你已经会了。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42000"/>
              </a:lnSpc>
            </a:p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第一行 → 第二行 → 第三行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292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292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31496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分支结构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683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根据条件选一条路走。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今天的主角之一：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/ else / switch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让程序「会判断」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92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92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82000" y="31496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循环结构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683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一段代码反复执行多次。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今天的主角之二：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 / do-while / for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让程序「会重复」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15384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778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这一课学完之后：</a:t>
            </a:r>
            <a:r>
              <a:rPr lang="en-US" sz="14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分支让程序「会判断」，循环让程序「会重复」，再加上后面的数组让程序「会存一堆」，你就具备了写出绝大多数算法的基础能力。后面的搜索、排序、动态规划，全都是建在它们之上。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分支一：if - else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3556000"/>
          </a:xfrm>
          <a:prstGeom prst="roundRect">
            <a:avLst>
              <a:gd name="adj" fmla="val 3571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score;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score;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(score &gt;=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90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"A"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 if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(score &gt;=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80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"B"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"C"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63500" cy="10795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2032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(条件) { ... }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387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条件为真就执行花括号里的代码，为假就跳过。条件的结果非零为真，零为假。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111500"/>
            <a:ext cx="495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3111500"/>
            <a:ext cx="63500" cy="10795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32385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else if / else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35941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可以有多个 else if，从上往下第一个为真的就执行。else 是「以上都不满足时」的兜底。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318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4445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花括号建议永远写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31000" y="4800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即便只有一行代码也写上 { }。不写的话 if 只管下面紧挨的一行，多行就会「跟想的不一样」。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84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生活类比：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就像「如果下雨就带伞，否则如果出太阳就戴帽子，否则穿外套」。程序根据不同条件做不同的事，这就是分支的意义。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的三个常见坑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095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 vs 判等：把 == 写成了 =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476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= 5) { ... }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永远为真！因为把5赋给了a，非零即真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== 5) { ... }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才是判断 a 是否等于 5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6830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忘写花括号：if 只管下面一行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0640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&gt; 0) cout &lt;&lt; "正"; cout &lt;&lt; "数";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第二个cout无论如何都会执行！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正确写法：if (a &gt; 0) { cout &lt;&lt; "正"; cout &lt;&lt; "数"; }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270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else 与最近的 if 匹配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5651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 &gt; 0) if (b &gt; 0) cout &lt;&lt; "都正"; else cout &lt;&lt; "?";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else属于第二个if，不是第一个！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解决方法：加花括号明确层级，不要靠缩进猜。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嵌套与三元运算符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里面再套 if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57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(n &gt;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(n %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==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"正偶数"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endParaRPr lang="en-US" sz="1300" b="0" i="0" u="none" strike="noStrike">
              <a:solidFill>
                <a:srgbClr val="89B4F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"正奇数"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三元运算符 ? :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3495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4765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取 a 和 b 中较大的值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 = (a &gt; b) ? a : b;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等价于：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(a &gt; b) m = a;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 = b;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355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635500"/>
            <a:ext cx="63500" cy="1016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762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嵌套注意：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层级不要太深，超过三层就考虑重构。else 总是和最近的未配对 if 匹配，用花括号明确层级。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46355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4635500"/>
            <a:ext cx="63500" cy="10160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4762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三元运算符：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只适合「二选一给一个值」这种简单情况。嵌套多了可读性会变差，不如老老实实写 if-else。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84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语法格式：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 ? 条件为真时的值 : 条件为假时的值。整个表达式的结果可以直接赋值给变量，也可以放在 cout 里输出。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分支二：switch - case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3683000"/>
          </a:xfrm>
          <a:prstGeom prst="roundRect">
            <a:avLst>
              <a:gd name="adj" fmla="val 3448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day;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day;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switch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(day)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"Mon"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"Tue"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"Wed"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default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"Other"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63500" cy="1143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2032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switch 后面只能是离散值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387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整数、字符等离散值可以，不能是范围（如 score&gt;=90）或浮点数。范围判断只能用 if。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2385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731000" y="33655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 case 结束要写 break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37211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不写 break 会「穿透」到下一个 case 继续执行，这是新手最常犯的错误。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572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31000" y="4699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default 是兜底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5054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 case 都不匹配时执行 default，相当于 if-else 里的 else。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84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什么时候用 switch：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对一个变量的多个固定取值分别处理时，switch 比一串 if-else 更清晰。比如根据星期几输出中文名、根据运算符做不同计算。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08 · 分支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switch 进阶与 if/switch 选择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多个 case 共用一段处理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switch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(day) {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"工作日"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6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7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"周末"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default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"无效"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349500"/>
            <a:ext cx="5207000" cy="2540000"/>
          </a:xfrm>
          <a:prstGeom prst="roundRect">
            <a:avLst>
              <a:gd name="adj" fmla="val 5000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476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利用「穿透」特性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857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把多个 case 堆在一起（不写 break），它们就会共用下面的同一段代码。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这正是 switch 比一串 if 简洁的地方。</a:t>
            </a:r>
            <a:endParaRPr lang="en-US" sz="1300" b="0" i="0" u="none" strike="noStrike">
              <a:solidFill>
                <a:srgbClr val="78350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反过来：忘了写 break，就会「穿透」到不想执行的 case 里去。</a:t>
            </a:r>
            <a:endParaRPr lang="en-US" sz="1300" b="0" i="0" u="none" strike="noStrike">
              <a:solidFill>
                <a:srgbClr val="78350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14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什么时候用 if，什么时候用 switch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5880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71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if：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判断范围（score&gt;=90）、比大小、多个变量的复合条件。这些 switch 做不了。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5588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CE7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571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318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switch：</a:t>
            </a:r>
            <a:r>
              <a:rPr lang="en-US" sz="1300" b="0" i="0" u="none" strike="noStrike">
                <a:solidFill>
                  <a:srgbClr val="8318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一个变量的多个固定取值（如 day==1/2/3），代码更干净。写不准就用 if，永远不会错。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循环一：while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2794000"/>
          </a:xfrm>
          <a:prstGeom prst="roundRect">
            <a:avLst>
              <a:gd name="adj" fmla="val 4545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求 1+2+...+100 = 5050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 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sum 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(i &lt;=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sum += i;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i++;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sum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5050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63500" cy="27940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20955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循环三件事（缺一不可）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5400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初始值：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= 1，从哪里开始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条件：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&lt;= 100，什么时候继续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更新：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i++，每次循环后改变什么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忘了 ③ 就会「死循环」，程序卡死。</a:t>
            </a:r>
            <a:endParaRPr lang="en-US" sz="1300" b="1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95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执行顺序：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先判断条件 → 为真就执行循环体 → 执行完再回来判断 → 直到条件为假才跳出。所以 while 可能一次都不执行（条件一开始就为假）。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905500"/>
            <a:ext cx="10668000" cy="698500"/>
          </a:xfrm>
          <a:prstGeom prst="roundRect">
            <a:avLst>
              <a:gd name="adj" fmla="val 14545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905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 (cin &gt;&gt; x) { sum += x; } —— 读到有数据就继续，读不到就停。这是 OJ 多组输入的标准写法。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循环二：do - while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2794000"/>
          </a:xfrm>
          <a:prstGeom prst="roundRect">
            <a:avLst>
              <a:gd name="adj" fmla="val 4545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让用户输入正整数，不合法就重新输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"请输入正整数: 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&gt;&gt;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 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(n &lt;=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注意最后有分号！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63500" cy="12700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2032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while 的唯一区别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41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先执行一次循环体，再判断条件。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保证至少跑一次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365500"/>
            <a:ext cx="4953000" cy="1333500"/>
          </a:xfrm>
          <a:prstGeom prst="roundRect">
            <a:avLst>
              <a:gd name="adj" fmla="val 7619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731000" y="34925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语法注意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38735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 { ... } while (条件);</a:t>
            </a: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最后有一个分号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，忘了写会编译错误。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95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 vs do-while：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 是「先判断再做」，可能一次都不做；do-while 是「先做一次再判断」，至少做一次。选哪个取决于你的逻辑是否需要先执行一次。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905500"/>
            <a:ext cx="10668000" cy="698500"/>
          </a:xfrm>
          <a:prstGeom prst="roundRect">
            <a:avLst>
              <a:gd name="adj" fmla="val 14545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905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菜单选择、输入验证（先让用户输入一次，不合法再重新输入）。初学先用 for 和 while，do-while 用得相对少。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循环三：for（最常用）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1651000"/>
          </a:xfrm>
          <a:prstGeom prst="roundRect">
            <a:avLst>
              <a:gd name="adj" fmla="val 7692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打印 1 到 10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 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 &lt;=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 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63500" cy="16510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2032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把三件事揉到一行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41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 (初始化; 条件; 更新)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① int i=1 只跑一次</a:t>
            </a:r>
            <a:endParaRPr lang="en-US" sz="1200" b="0" i="0" u="none" strike="noStrike">
              <a:solidFill>
                <a:srgbClr val="47556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② i&lt;=10 每次先判断</a:t>
            </a:r>
            <a:endParaRPr lang="en-US" sz="1200" b="0" i="0" u="none" strike="noStrike">
              <a:solidFill>
                <a:srgbClr val="47556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③ i++ 每跑完一次就执行</a:t>
            </a:r>
            <a:endParaRPr lang="en-US" sz="1200" b="0" i="0" u="none" strike="noStrike">
              <a:solidFill>
                <a:srgbClr val="47556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遍历数组（最常见用法）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381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 = {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 =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 &lt;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a[i]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 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输出：3 1 4 1 5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E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778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注意下标：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数组下标从 0 开始，所以遍历长度为 n 的数组是 i 从 0 到 n-1，条件写 i &lt; n（不是 i &lt;= n）。写成 i&lt;=n 会越界访问 a[n]，导致 RE。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三种循环怎么选？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905000"/>
          <a:ext cx="10668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  <a:gridCol w="5588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循环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6B6D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for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遍历数组、确定次数的重复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初始化、条件、更新集中在一行，结构清晰，不容易忘写更新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6B6D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while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次数不确定，先判断再做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读数据直到读不进为止（while(cin&gt;&gt;x)），条件可能在循环体内变化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6B6D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do-while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至少执行一次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先输入一次再检查合不合法，菜单选择等需要先展示再判断的场景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44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同一个任务，三种写法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889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5016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打印 1 2 3 4 5，三种写法结果完全一样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(i&lt;=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){cout&lt;&lt;i&lt;&lt;</a:t>
            </a:r>
            <a:r>
              <a:rPr lang="en-US" sz="12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'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i++;}</a:t>
            </a:r>
            <a:endParaRPr lang="en-US" sz="12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j=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{cout&lt;&lt;j&lt;&lt;</a:t>
            </a:r>
            <a:r>
              <a:rPr lang="en-US" sz="12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'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j++;} </a:t>
            </a: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while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(j&lt;=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endParaRPr lang="en-US" sz="12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2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k=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k&lt;=</a:t>
            </a:r>
            <a:r>
              <a:rPr lang="en-US" sz="12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k++) cout&lt;&lt;k&lt;&lt;</a:t>
            </a:r>
            <a:r>
              <a:rPr lang="en-US" sz="12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'</a:t>
            </a:r>
            <a:r>
              <a:rPr lang="en-US" sz="12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2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6350000"/>
            <a:ext cx="10668000" cy="381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6350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三种循环本质上都是「初始化 + 判断 + 更新」，可以互相转换。初学先用 for 和 while，熟手再用 do-while。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循环的三个常见坑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095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死循环：条件永远为真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476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 (int i=0; i&lt;n; ) { ... }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忘了 i++，i永远是0，死循环！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常见原因：忘了更新循环变量、条件写反了（写成 i&gt;n 而不是 i&lt;n）。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6830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多一个 / 少一个（off-by-one）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0640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遍历长度 n 的数组：for (int i=0; i&lt;n; i++)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正确，0到n-1共n次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写成 i&lt;=n 会多执行一次，访问 a[n] 越界！i&lt;=n 和 i&lt;n 差一次，一定要注意。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270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循环变量溢出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5651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循环变量 i 是 int，一旦超过 int 范围（约21亿）会变成负数，导致无限循环。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数据范围大时用 long long 当循环变量，或确保不会超过 int 范围。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 与 continue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6E3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break：直接跳出整个循环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; i++) {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(i ==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输出 1..49，到50就跳出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8B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continue：跳过本次，继续下一次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413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 {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(i %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==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continue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输出 1 3 5 7 9，偶数跳过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 = 结束整个循环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 break，循环立刻停止，后面的迭代都不做了。</a:t>
            </a:r>
            <a:endParaRPr lang="en-US" sz="13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445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CE7F3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57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318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continue = 只结束当前这一次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8318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 continue，本次循环体剩下的跳过，直接进入下一次循环。</a:t>
            </a:r>
            <a:endParaRPr lang="en-US" sz="1300" b="0" i="0" u="none" strike="noStrike">
              <a:solidFill>
                <a:srgbClr val="83184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651500"/>
            <a:ext cx="10668000" cy="952500"/>
          </a:xfrm>
          <a:prstGeom prst="roundRect">
            <a:avLst>
              <a:gd name="adj" fmla="val 10666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778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 和 continue 都只影响最内层循环。嵌套循环里，内层的 break 不会跳出外层。break 也用在 switch 里：跳出 switch 结构。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10 · 数组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数组的三个常见坑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9731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1333500"/>
          </a:xfrm>
          <a:prstGeom prst="roundRect">
            <a:avLst>
              <a:gd name="adj" fmla="val 9523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095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越界访问：下标超出范围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4765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a[5]; a[5] = 10;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越界！合法下标只有 0-4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越界可能 RE，也可能悄悄改掉别的变量的值，最难排查。遍历一定写 i&lt;n。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10668000" cy="1333500"/>
          </a:xfrm>
          <a:prstGeom prst="roundRect">
            <a:avLst>
              <a:gd name="adj" fmla="val 9523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619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未初始化就使用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0005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a[5]; cout &lt;&lt; a[0];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a[0] 是随机垃圾值！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定义后要初始化：int a[5] = {0}; 全部设为 0。或者用循环逐个赋值。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10668000" cy="1333500"/>
          </a:xfrm>
          <a:prstGeom prst="roundRect">
            <a:avLst>
              <a:gd name="adj" fmla="val 9523"/>
            </a:avLst>
          </a:prstGeom>
          <a:solidFill>
            <a:srgbClr val="FEF2F2">
              <a:alpha val="5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143500"/>
            <a:ext cx="927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数组开太小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55245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题目说 n&lt;=1000，你开 int a[100];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数据多了就越界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开数组要比题目数据范围大一点，留余量。全局数组可以开很大（几百万），局部数组有大小限制。</a:t>
            </a:r>
            <a:endParaRPr lang="en-US" sz="1300" b="0" i="0" u="none" strike="noStrike">
              <a:solidFill>
                <a:srgbClr val="7F1D1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10 · 数组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数组：一次存一堆数据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9731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变量一次只能存一个数据。如果要存100个学生的成绩，难道要定义100个变量？</a:t>
            </a:r>
            <a:r>
              <a:rPr lang="en-US" sz="14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数组就是一排编号整齐的「格子」，一个名字存多个同类型数据，用下标访问。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 = {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];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3，第一个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]; </a:t>
            </a: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5，最后一个</a:t>
            </a:r>
            <a:endParaRPr lang="en-US" sz="14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0" y="2857500"/>
            <a:ext cx="495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31000" y="3048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数组就是一排编号的格子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34925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a[0] a[1] a[2] a[3] a[4]</a:t>
            </a:r>
            <a:endParaRPr lang="en-US" sz="1100"/>
          </a:p>
          <a:p>
            <a:pPr marL="0" indent="0" algn="ctr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3 1 4 1 5</a:t>
            </a:r>
            <a:endParaRPr lang="en-US" sz="1400" b="0" i="0" u="none" strike="noStrike">
              <a:solidFill>
                <a:srgbClr val="47556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F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共 5 个，编号从 0 到 4</a:t>
            </a:r>
            <a:endParaRPr lang="en-US" sz="1400" b="0" i="0" u="none" strike="noStrike">
              <a:solidFill>
                <a:srgbClr val="EF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E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143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最重要的规则：下标从 0 开始！</a:t>
            </a:r>
            <a:r>
              <a:rPr lang="en-US" sz="1400" b="0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长度为 n 的数组，合法下标是 0 到 n-1。访问 a[n] 就是越界，会导致 RE（运行时错误）。这是新手最容易犯的错误。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609600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DCFCE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6096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遍历数组：</a:t>
            </a: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(int i=0; i&lt;n; i++) cout &lt;&lt; a[i]; —— 配合循环逐个处理，这是数组最常见的用法。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嵌套循环：循环套循环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334000" cy="2540000"/>
          </a:xfrm>
          <a:prstGeom prst="roundRect">
            <a:avLst>
              <a:gd name="adj" fmla="val 5000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打印一个三角形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i&lt;=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 {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4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j=</a:t>
            </a:r>
            <a:r>
              <a:rPr lang="en-US" sz="14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j&lt;=i; j++)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"*"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4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endl</a:t>
            </a: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31000" y="20955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输出结果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24765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1E1B4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*</a:t>
            </a:r>
            <a:endParaRPr lang="en-US" sz="1800" b="0" i="0" u="none" strike="noStrike">
              <a:solidFill>
                <a:srgbClr val="1E1B4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1E1B4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**</a:t>
            </a:r>
            <a:endParaRPr lang="en-US" sz="1800" b="0" i="0" u="none" strike="noStrike">
              <a:solidFill>
                <a:srgbClr val="1E1B4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1E1B4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***</a:t>
            </a:r>
            <a:endParaRPr lang="en-US" sz="1800" b="0" i="0" u="none" strike="noStrike">
              <a:solidFill>
                <a:srgbClr val="1E1B4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762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嵌套循环的核心：</a:t>
            </a:r>
            <a:r>
              <a:rPr lang="en-US" sz="13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外层 i 控制行数，内层 j 控制每行打印几个星号。内层循环的次数依赖外层变量 i，这是嵌套循环的关键。九九乘法表、打印图形、枚举所有组合都是这类题。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12307"/>
            </a:avLst>
          </a:prstGeom>
          <a:solidFill>
            <a:srgbClr val="FE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778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两层循环各跑 n 次，总共执行 n×n = n² 次。这就是 O(n²) 的来源——嵌套循环的层数决定了复杂度的次方。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10 · 数组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 + 循环：综合应用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9731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求数组中最大值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 = {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7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9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mx = a[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(a[i] &gt; mx) mx = a[i];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mx; </a:t>
            </a: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9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逆序输出数组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286000"/>
            <a:ext cx="4953000" cy="1905000"/>
          </a:xfrm>
          <a:prstGeom prst="roundRect">
            <a:avLst>
              <a:gd name="adj" fmla="val 6666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31000" y="2413000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 = {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i&gt;=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i--)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a[i]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A6E3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 "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输出：5 4 3 2 1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数组求和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sum = 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sum += a[i];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4C7E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300" b="0" i="0" u="none" strike="noStrike">
                <a:solidFill>
                  <a:srgbClr val="F38B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sum;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4445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统计出现次数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826000"/>
            <a:ext cx="4953000" cy="1524000"/>
          </a:xfrm>
          <a:prstGeom prst="roundRect">
            <a:avLst>
              <a:gd name="adj" fmla="val 8333"/>
            </a:avLst>
          </a:prstGeom>
          <a:solidFill>
            <a:srgbClr val="1E1E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4953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cnt[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] = {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300" b="0" i="0" u="none" strike="noStrike">
                <a:solidFill>
                  <a:srgbClr val="89B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</a:t>
            </a:r>
            <a:r>
              <a:rPr lang="en-US" sz="1300" b="0" i="0" u="none" strike="noStrike">
                <a:solidFill>
                  <a:srgbClr val="F9E2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</a:t>
            </a: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i++)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DD6F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cnt[a[i]]++;</a:t>
            </a:r>
            <a:endParaRPr lang="en-US" sz="1300" b="0" i="0" u="none" strike="noStrike">
              <a:solidFill>
                <a:srgbClr val="CDD6F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cnt[x] 就是 x 出现的次数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6540500"/>
            <a:ext cx="10668000" cy="254000"/>
          </a:xfrm>
          <a:prstGeom prst="roundRect">
            <a:avLst>
              <a:gd name="adj" fmla="val 20000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11 · 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本课总结与下节预告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64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F3DC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F3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第二课你掌握了什么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if-else、switch-case，能根据条件做不同的事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while、do-while、for，能让代码重复执行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一次存一堆数据，配合循环批量处理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break/continue：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控制循环的跳出和跳过</a:t>
            </a:r>
            <a:endParaRPr lang="en-US" sz="14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下节课预告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349500"/>
            <a:ext cx="4953000" cy="2032000"/>
          </a:xfrm>
          <a:prstGeom prst="roundRect">
            <a:avLst>
              <a:gd name="adj" fmla="val 6250"/>
            </a:avLst>
          </a:prstGeom>
          <a:solidFill>
            <a:srgbClr val="ECFEFF">
              <a:alpha val="50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31000" y="24765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函数：</a:t>
            </a:r>
            <a:r>
              <a:rPr lang="en-US" sz="1400" b="0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把一段代码打包，起个名字就能反复用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递归：</a:t>
            </a:r>
            <a:r>
              <a:rPr lang="en-US" sz="1400" b="0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函数自己调用自己，解决分治问题</a:t>
            </a:r>
            <a:endParaRPr lang="en-US" sz="1400" b="0" i="0" u="none" strike="noStrike">
              <a:solidFill>
                <a:srgbClr val="9B2F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作用域：</a:t>
            </a:r>
            <a:r>
              <a:rPr lang="en-US" sz="1400" b="0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变量在哪里有效、全局 vs 局部</a:t>
            </a:r>
            <a:endParaRPr lang="en-US" sz="1400" b="0" i="0" u="none" strike="noStrike">
              <a:solidFill>
                <a:srgbClr val="9B2F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传参：</a:t>
            </a:r>
            <a:r>
              <a:rPr lang="en-US" sz="1400" b="0" i="0" u="none" strike="noStrike">
                <a:solidFill>
                  <a:srgbClr val="9B2F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值传递 vs 引用传递</a:t>
            </a:r>
            <a:endParaRPr lang="en-US" sz="1400" b="0" i="0" u="none" strike="noStrike">
              <a:solidFill>
                <a:srgbClr val="9B2F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355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EF2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762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课后练习建议：</a:t>
            </a:r>
            <a:r>
              <a:rPr lang="en-US" sz="1400" b="0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把今天学的每个知识点都在 OJ 上做 2-3 道题。分支做「判断闰年」「成绩等级」，循环做「打印九九乘法表」「求阶乘」，数组做「逆序输出」「找最大值」。代码写不出来就先抄一遍，再自己默写一遍。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EF3C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84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学习心法：</a:t>
            </a:r>
            <a:r>
              <a:rPr lang="en-US" sz="14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编程是练出来的，不是看出来的。每学一个语法点，立刻动手写代码验证。遇到 bug 不要怕，读报错信息、加 cout 调试，这是成长最快的方式。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2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3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4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5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6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7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8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9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0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1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2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3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4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17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18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19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0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1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2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3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4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5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6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7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8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29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30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31.xml><?xml version="1.0" encoding="utf-8"?>
<p:tagLst xmlns:p="http://schemas.openxmlformats.org/presentationml/2006/main">
  <p:tag name="KSO_WM_DIAGRAM_VIRTUALLY_FRAME" val="{&quot;height&quot;:340,&quot;left&quot;:470,&quot;top&quot;:150,&quot;width&quot;:430}"/>
</p:tagLst>
</file>

<file path=ppt/tags/tag32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ags/tag33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ags/tag34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ags/tag35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ags/tag36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ags/tag37.xml><?xml version="1.0" encoding="utf-8"?>
<p:tagLst xmlns:p="http://schemas.openxmlformats.org/presentationml/2006/main">
  <p:tag name="KSO_WM_DIAGRAM_VIRTUALLY_FRAME" val="{&quot;height&quot;:280,&quot;left&quot;:510,&quot;top&quot;:150,&quot;width&quot;:39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9756</Words>
  <Application>WPS Office WWO_dingtalk_20240221035043-c523bba0e7</Application>
  <PresentationFormat/>
  <Paragraphs>907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Arial</vt:lpstr>
      <vt:lpstr>Noto Sans SC</vt:lpstr>
      <vt:lpstr>Noto Serif CJK SC</vt:lpstr>
      <vt:lpstr>Consolas</vt:lpstr>
      <vt:lpstr>Alibaba PuHuiTi 3.0 55 Regular</vt:lpstr>
      <vt:lpstr>微软雅黑 Light</vt:lpstr>
      <vt:lpstr>FZYaYiHei GB18030L2 R</vt:lpstr>
      <vt:lpstr>Inter</vt:lpstr>
      <vt:lpstr>汉仪书宋二KW</vt:lpstr>
      <vt:lpstr>Kingsoft Confetti</vt:lpstr>
      <vt:lpstr>Liberation Sans Narrow</vt:lpstr>
      <vt:lpstr>汉仪旗黑KW 55S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এ᭄Galaxyഒᩚ࿐</cp:lastModifiedBy>
  <dcterms:created xsi:type="dcterms:W3CDTF">2026-09-12T13:32:05Z</dcterms:created>
  <dcterms:modified xsi:type="dcterms:W3CDTF">2026-09-12T13:32:05Z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{"Label":"1","ContentProducer":"001191110102MACQD9K64010000","ProduceID":"7683793986260077759","ReservedCode1":"","ContentPropagator":"","PropagateID":"","ReservedCode2":""}</vt:lpwstr>
  </property>
  <property fmtid="{D5CDD505-2E9C-101B-9397-08002B2CF9AE}" pid="3" name="ICV">
    <vt:lpwstr>A2F1E7E3D4474FC4AC1617C4873197C9_12</vt:lpwstr>
  </property>
  <property fmtid="{D5CDD505-2E9C-101B-9397-08002B2CF9AE}" pid="4" name="KSOProductBuildVer">
    <vt:lpwstr>2052-0.0.0.0</vt:lpwstr>
  </property>
</Properties>
</file>