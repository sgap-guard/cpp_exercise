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7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二维差分的还原，也直接使用前缀和描述：对差分矩阵 d 求二维前缀和，得到的 S 就是最终原数组。不要把这一步理解成另一个新算法，它就是前面已经学过的二维前缀和建表，只是输入数组换成了 d。</a:t>
            </a:r>
          </a:p>
          <a:p>
            <a:endParaRPr lang="zh-CN" dirty="0"/>
          </a:p>
          <a:p>
            <a:r>
              <a:rPr lang="zh-CN" dirty="0"/>
              <a:t>左上差分来自三行四列的零矩阵，给第一行第二列到第二行第三列这个矩形的每格加二。四角标记分别是第一行第二列正二、第三行第二列负二、第一行第四列负二、第三行第四列正二。</a:t>
            </a:r>
          </a:p>
          <a:p>
            <a:endParaRPr lang="zh-CN" dirty="0"/>
          </a:p>
          <a:p>
            <a:r>
              <a:rPr lang="zh-CN" dirty="0"/>
              <a:t>对左上的 d 求二维前缀和，结果就是左下的 S。前两行中间两列为二，其余格子为零。右边代码把当前差分加上上方与左方前缀，再减左上重叠，和前面构建前缀和的公式完全同型。每个 S 的位置都是左上角差分矩形的总和，同时就是还原后的当前位置数值。</a:t>
            </a:r>
          </a:p>
          <a:p>
            <a:endParaRPr lang="zh-CN" dirty="0"/>
          </a:p>
          <a:p>
            <a:r>
              <a:rPr lang="zh-CN" dirty="0"/>
              <a:t>所有更新完成后统一执行一次。s 的第零行、第零列为零，使用 long long，开 n 加二乘 m 加二的空间以容纳取消边界。初始化和还原 O(nm)，记录 q 次修改 O(q)，总计 O(nm+q)。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eshman-prefix-differen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reshman-prefix-differenc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600075" y="1148715"/>
            <a:ext cx="4495800" cy="2772727"/>
            <a:chOff x="600075" y="1148715"/>
            <a:chExt cx="4495800" cy="2772727"/>
          </a:xfrm>
        </p:grpSpPr>
        <p:sp>
          <p:nvSpPr>
            <p:cNvPr id="2" name="TextBox 2"/>
            <p:cNvSpPr txBox="1"/>
            <p:nvPr/>
          </p:nvSpPr>
          <p:spPr>
            <a:xfrm>
              <a:off x="657606" y="1148715"/>
              <a:ext cx="9874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算法入门 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075" y="1844992"/>
              <a:ext cx="4495800" cy="2076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425"/>
                </a:lnSpc>
              </a:pPr>
              <a:r>
                <a:rPr lang="zh-CN" sz="5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前缀和、差分</a:t>
              </a:r>
              <a:br>
                <a:rPr dirty="0"/>
              </a:br>
              <a:r>
                <a:rPr lang="zh-CN" sz="5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与离散化</a:t>
              </a:r>
            </a:p>
          </p:txBody>
        </p:sp>
      </p:grpSp>
      <p:grpSp>
        <p:nvGrpSpPr>
          <p:cNvPr id="9" name="presenter"/>
          <p:cNvGrpSpPr/>
          <p:nvPr/>
        </p:nvGrpSpPr>
        <p:grpSpPr>
          <a:xfrm>
            <a:off x="654558" y="5732145"/>
            <a:ext cx="3416808" cy="469392"/>
            <a:chOff x="654558" y="5732145"/>
            <a:chExt cx="3416808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654558" y="5732145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讲题人：网络24-2 张昊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804017" y="6378892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01 / 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1005840" cy="704088"/>
            <a:chOff x="553212" y="611505"/>
            <a:chExt cx="1005840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10058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</p:grpSp>
      <p:grpSp>
        <p:nvGrpSpPr>
          <p:cNvPr id="8" name="one"/>
          <p:cNvGrpSpPr/>
          <p:nvPr/>
        </p:nvGrpSpPr>
        <p:grpSpPr>
          <a:xfrm>
            <a:off x="557784" y="1908810"/>
            <a:ext cx="10234893" cy="528066"/>
            <a:chOff x="557784" y="1908810"/>
            <a:chExt cx="10234893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557784" y="1908810"/>
              <a:ext cx="4272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10284" y="1908810"/>
              <a:ext cx="2935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一维前缀和与差分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087356" y="2005965"/>
              <a:ext cx="705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03–06 </a:t>
              </a:r>
            </a:p>
          </p:txBody>
        </p:sp>
      </p:grpSp>
      <p:grpSp>
        <p:nvGrpSpPr>
          <p:cNvPr id="13" name="two"/>
          <p:cNvGrpSpPr/>
          <p:nvPr/>
        </p:nvGrpSpPr>
        <p:grpSpPr>
          <a:xfrm>
            <a:off x="557784" y="3318510"/>
            <a:ext cx="10234893" cy="528066"/>
            <a:chOff x="557784" y="3318510"/>
            <a:chExt cx="10234893" cy="528066"/>
          </a:xfrm>
        </p:grpSpPr>
        <p:sp>
          <p:nvSpPr>
            <p:cNvPr id="9" name="TextBox 9"/>
            <p:cNvSpPr txBox="1"/>
            <p:nvPr/>
          </p:nvSpPr>
          <p:spPr>
            <a:xfrm>
              <a:off x="557784" y="3318510"/>
              <a:ext cx="4272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0284" y="3318510"/>
              <a:ext cx="2935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二维前缀和与差分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87356" y="3415665"/>
              <a:ext cx="705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07–13 </a:t>
              </a:r>
            </a:p>
          </p:txBody>
        </p:sp>
      </p:grpSp>
      <p:grpSp>
        <p:nvGrpSpPr>
          <p:cNvPr id="18" name="three"/>
          <p:cNvGrpSpPr/>
          <p:nvPr/>
        </p:nvGrpSpPr>
        <p:grpSpPr>
          <a:xfrm>
            <a:off x="557784" y="4728210"/>
            <a:ext cx="10234893" cy="528066"/>
            <a:chOff x="557784" y="4728210"/>
            <a:chExt cx="10234893" cy="528066"/>
          </a:xfrm>
        </p:grpSpPr>
        <p:sp>
          <p:nvSpPr>
            <p:cNvPr id="14" name="TextBox 14"/>
            <p:cNvSpPr txBox="1"/>
            <p:nvPr/>
          </p:nvSpPr>
          <p:spPr>
            <a:xfrm>
              <a:off x="557784" y="4728210"/>
              <a:ext cx="4272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0284" y="4728210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离散化与前缀和的配合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87356" y="4825365"/>
              <a:ext cx="705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14–17 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899267" y="63503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 / 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53212" y="521018"/>
            <a:ext cx="6924973" cy="854035"/>
            <a:chOff x="553212" y="521018"/>
            <a:chExt cx="6924973" cy="854035"/>
          </a:xfrm>
        </p:grpSpPr>
        <p:sp>
          <p:nvSpPr>
            <p:cNvPr id="2" name="TextBox 2"/>
            <p:cNvSpPr txBox="1"/>
            <p:nvPr/>
          </p:nvSpPr>
          <p:spPr>
            <a:xfrm>
              <a:off x="564642" y="5210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前缀和与差分 / 算法入门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3212" y="821055"/>
              <a:ext cx="6924973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一维前缀和：前面的数</a:t>
              </a:r>
              <a:r>
                <a:rPr lang="zh-CN" alt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累计的结果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" name="definition"/>
          <p:cNvGrpSpPr/>
          <p:nvPr/>
        </p:nvGrpSpPr>
        <p:grpSpPr>
          <a:xfrm>
            <a:off x="557784" y="1817370"/>
            <a:ext cx="5303368" cy="1057656"/>
            <a:chOff x="557784" y="1817370"/>
            <a:chExt cx="5303368" cy="1057656"/>
          </a:xfrm>
        </p:grpSpPr>
        <p:sp>
          <p:nvSpPr>
            <p:cNvPr id="5" name="TextBox 5"/>
            <p:cNvSpPr txBox="1"/>
            <p:nvPr/>
          </p:nvSpPr>
          <p:spPr>
            <a:xfrm>
              <a:off x="559308" y="1817370"/>
              <a:ext cx="53018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S[i] 表示前 i 项的总和，S[0] = 0。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7784" y="2346960"/>
              <a:ext cx="345300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S[i] = S[i−1] + a[i]</a:t>
              </a:r>
            </a:p>
          </p:txBody>
        </p:sp>
      </p:grpSp>
      <p:grpSp>
        <p:nvGrpSpPr>
          <p:cNvPr id="31" name="array"/>
          <p:cNvGrpSpPr/>
          <p:nvPr/>
        </p:nvGrpSpPr>
        <p:grpSpPr>
          <a:xfrm>
            <a:off x="559308" y="3196590"/>
            <a:ext cx="10442067" cy="1766697"/>
            <a:chOff x="559308" y="3196590"/>
            <a:chExt cx="10442067" cy="1766697"/>
          </a:xfrm>
        </p:grpSpPr>
        <p:sp>
          <p:nvSpPr>
            <p:cNvPr id="8" name="TextBox 8"/>
            <p:cNvSpPr txBox="1"/>
            <p:nvPr/>
          </p:nvSpPr>
          <p:spPr>
            <a:xfrm>
              <a:off x="562356" y="3196590"/>
              <a:ext cx="6483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下标 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10231" y="31965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86606" y="31965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62981" y="31965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39356" y="31965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15731" y="31965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92106" y="31965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19500" y="3590925"/>
              <a:ext cx="4429125" cy="60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143125" y="4333875"/>
              <a:ext cx="885825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9308" y="3750945"/>
              <a:ext cx="65440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a[i]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07183" y="37509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83558" y="37509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59933" y="37509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36308" y="37509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12683" y="37509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89058" y="37509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9308" y="4493895"/>
              <a:ext cx="6722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S[i]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07183" y="44938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83558" y="44938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59933" y="44938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6308" y="449389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6483" y="449389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12858" y="449389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559308" y="5522595"/>
            <a:ext cx="3298980" cy="369332"/>
            <a:chOff x="559308" y="5522595"/>
            <a:chExt cx="3298980" cy="369332"/>
          </a:xfrm>
        </p:grpSpPr>
        <p:sp>
          <p:nvSpPr>
            <p:cNvPr id="32" name="TextBox 32"/>
            <p:cNvSpPr txBox="1"/>
            <p:nvPr/>
          </p:nvSpPr>
          <p:spPr>
            <a:xfrm>
              <a:off x="559308" y="5522595"/>
              <a:ext cx="32989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例如 S[3] = 2+1+3 = 6。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899267" y="63503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 / 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6336792" cy="704088"/>
            <a:chOff x="553212" y="611505"/>
            <a:chExt cx="6336792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一维区间查询：两个前缀相减</a:t>
              </a:r>
            </a:p>
          </p:txBody>
        </p:sp>
      </p:grpSp>
      <p:grpSp>
        <p:nvGrpSpPr>
          <p:cNvPr id="6" name="formula"/>
          <p:cNvGrpSpPr/>
          <p:nvPr/>
        </p:nvGrpSpPr>
        <p:grpSpPr>
          <a:xfrm>
            <a:off x="557784" y="1746885"/>
            <a:ext cx="4874666" cy="944499"/>
            <a:chOff x="557784" y="1746885"/>
            <a:chExt cx="4874666" cy="944499"/>
          </a:xfrm>
        </p:grpSpPr>
        <p:sp>
          <p:nvSpPr>
            <p:cNvPr id="4" name="TextBox 4"/>
            <p:cNvSpPr txBox="1"/>
            <p:nvPr/>
          </p:nvSpPr>
          <p:spPr>
            <a:xfrm>
              <a:off x="557784" y="1746885"/>
              <a:ext cx="470458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sum(L,R) = S[R] − S[L−1]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2356" y="2339340"/>
              <a:ext cx="48700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 R 项减去前 L−1 项，留下第 L 到第 R 项。</a:t>
              </a:r>
            </a:p>
          </p:txBody>
        </p:sp>
      </p:grpSp>
      <p:grpSp>
        <p:nvGrpSpPr>
          <p:cNvPr id="18" name="example"/>
          <p:cNvGrpSpPr/>
          <p:nvPr/>
        </p:nvGrpSpPr>
        <p:grpSpPr>
          <a:xfrm>
            <a:off x="557784" y="3072765"/>
            <a:ext cx="4776216" cy="2135886"/>
            <a:chOff x="557784" y="3072765"/>
            <a:chExt cx="4776216" cy="2135886"/>
          </a:xfrm>
        </p:grpSpPr>
        <p:sp>
          <p:nvSpPr>
            <p:cNvPr id="7" name="TextBox 7"/>
            <p:cNvSpPr txBox="1"/>
            <p:nvPr/>
          </p:nvSpPr>
          <p:spPr>
            <a:xfrm>
              <a:off x="562356" y="3072765"/>
              <a:ext cx="15569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求 [2,4] 的和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3533775"/>
              <a:ext cx="952500" cy="714375"/>
            </a:xfrm>
            <a:prstGeom prst="rect">
              <a:avLst/>
            </a:prstGeom>
            <a:solidFill>
              <a:srgbClr val="C6532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524000" y="3533775"/>
              <a:ext cx="2857500" cy="7143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381500" y="3533775"/>
              <a:ext cx="952500" cy="7143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524000" y="3533775"/>
              <a:ext cx="2857500" cy="714375"/>
            </a:xfrm>
            <a:custGeom>
              <a:avLst/>
              <a:gdLst/>
              <a:ahLst/>
              <a:cxnLst/>
              <a:rect l="l" t="t" r="r" b="b"/>
              <a:pathLst>
                <a:path w="2857500" h="714375">
                  <a:moveTo>
                    <a:pt x="0" y="0"/>
                  </a:moveTo>
                  <a:lnTo>
                    <a:pt x="0" y="714375"/>
                  </a:lnTo>
                  <a:moveTo>
                    <a:pt x="952500" y="0"/>
                  </a:moveTo>
                  <a:lnTo>
                    <a:pt x="952500" y="714375"/>
                  </a:lnTo>
                  <a:moveTo>
                    <a:pt x="1905000" y="0"/>
                  </a:moveTo>
                  <a:lnTo>
                    <a:pt x="1905000" y="714375"/>
                  </a:lnTo>
                  <a:moveTo>
                    <a:pt x="2857500" y="0"/>
                  </a:moveTo>
                  <a:lnTo>
                    <a:pt x="2857500" y="714375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0783" y="37414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83283" y="37414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35783" y="37414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88283" y="37414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40783" y="37414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7784" y="4680585"/>
              <a:ext cx="432744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S[4] − S[1] = 10 − 2 = </a:t>
              </a:r>
              <a:r>
                <a:rPr lang="zh-CN" sz="27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1" name="code"/>
          <p:cNvGrpSpPr/>
          <p:nvPr/>
        </p:nvGrpSpPr>
        <p:grpSpPr>
          <a:xfrm>
            <a:off x="6048375" y="2905125"/>
            <a:ext cx="5572125" cy="2590800"/>
            <a:chOff x="6048375" y="2905125"/>
            <a:chExt cx="5572125" cy="2590800"/>
          </a:xfrm>
        </p:grpSpPr>
        <p:sp>
          <p:nvSpPr>
            <p:cNvPr id="19" name="Rectangle 19"/>
            <p:cNvSpPr/>
            <p:nvPr/>
          </p:nvSpPr>
          <p:spPr>
            <a:xfrm>
              <a:off x="6048375" y="2905125"/>
              <a:ext cx="5572125" cy="2590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6594" y="3104197"/>
              <a:ext cx="4391406" cy="22315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//</a:t>
              </a:r>
              <a:r>
                <a:rPr lang="zh-CN" alt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前缀和生成</a:t>
              </a:r>
              <a:endParaRPr lang="en-US" sz="1950" dirty="0">
                <a:solidFill>
                  <a:srgbClr val="FFFFFF"/>
                </a:solidFill>
                <a:latin typeface="Consolas"/>
                <a:ea typeface="Consolas"/>
                <a:cs typeface="Consolas"/>
              </a:endParaRPr>
            </a:p>
            <a:p>
              <a:pPr algn="l">
                <a:lnSpc>
                  <a:spcPts val="3150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(int i = 1; i &lt;= n; ++i)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s[i] = s[i-1] + a[</a:t>
              </a:r>
              <a:r>
                <a:rPr lang="en-US" sz="1950" dirty="0" err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];</a:t>
              </a:r>
            </a:p>
            <a:p>
              <a:pPr algn="l">
                <a:lnSpc>
                  <a:spcPts val="3150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//</a:t>
              </a:r>
              <a:r>
                <a:rPr lang="zh-CN" alt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区间求解</a:t>
              </a:r>
              <a:endParaRPr lang="en-US" sz="1950" dirty="0">
                <a:solidFill>
                  <a:srgbClr val="FFFFFF"/>
                </a:solidFill>
                <a:latin typeface="Consolas"/>
                <a:ea typeface="Consolas"/>
                <a:cs typeface="Consolas"/>
              </a:endParaRPr>
            </a:p>
            <a:p>
              <a:pPr algn="l">
                <a:lnSpc>
                  <a:spcPts val="3150"/>
                </a:lnSpc>
                <a:spcBef>
                  <a:spcPts val="1650"/>
                </a:spcBef>
              </a:pPr>
              <a:r>
                <a:rPr lang="en-US" altLang="zh-CN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</a:t>
              </a:r>
              <a:r>
                <a:rPr lang="en-US" sz="1950" dirty="0" err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ans</a:t>
              </a: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=</a:t>
              </a:r>
              <a:r>
                <a:rPr lang="en-US" altLang="zh-CN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</a:t>
              </a: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[r] - s[l-1];</a:t>
              </a:r>
            </a:p>
          </p:txBody>
        </p:sp>
      </p:grpSp>
      <p:grpSp>
        <p:nvGrpSpPr>
          <p:cNvPr id="23" name="complexity"/>
          <p:cNvGrpSpPr/>
          <p:nvPr/>
        </p:nvGrpSpPr>
        <p:grpSpPr>
          <a:xfrm>
            <a:off x="562356" y="5787390"/>
            <a:ext cx="4744889" cy="276999"/>
            <a:chOff x="562356" y="5787390"/>
            <a:chExt cx="4744889" cy="276999"/>
          </a:xfrm>
        </p:grpSpPr>
        <p:sp>
          <p:nvSpPr>
            <p:cNvPr id="22" name="TextBox 22"/>
            <p:cNvSpPr txBox="1"/>
            <p:nvPr/>
          </p:nvSpPr>
          <p:spPr>
            <a:xfrm>
              <a:off x="562356" y="5787390"/>
              <a:ext cx="47448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数组保持不变：预处理 O(n)，单次查询 O(1)。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899267" y="63503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 / 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7306056" cy="704088"/>
            <a:chOff x="553212" y="611505"/>
            <a:chExt cx="7306056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730605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一维差分：前缀和可以还原原数组</a:t>
              </a:r>
            </a:p>
          </p:txBody>
        </p:sp>
      </p:grpSp>
      <p:grpSp>
        <p:nvGrpSpPr>
          <p:cNvPr id="5" name="formula"/>
          <p:cNvGrpSpPr/>
          <p:nvPr/>
        </p:nvGrpSpPr>
        <p:grpSpPr>
          <a:xfrm>
            <a:off x="557784" y="1889760"/>
            <a:ext cx="7097001" cy="528066"/>
            <a:chOff x="557784" y="1889760"/>
            <a:chExt cx="7097001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557784" y="1889760"/>
              <a:ext cx="709700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定义：d[i] = a[i] − a[i−1]，其中 a[0] = 0</a:t>
              </a:r>
            </a:p>
          </p:txBody>
        </p:sp>
      </p:grpSp>
      <p:grpSp>
        <p:nvGrpSpPr>
          <p:cNvPr id="10" name="example"/>
          <p:cNvGrpSpPr/>
          <p:nvPr/>
        </p:nvGrpSpPr>
        <p:grpSpPr>
          <a:xfrm>
            <a:off x="559308" y="2918460"/>
            <a:ext cx="7531494" cy="1309116"/>
            <a:chOff x="559308" y="2918460"/>
            <a:chExt cx="7531494" cy="1309116"/>
          </a:xfrm>
        </p:grpSpPr>
        <p:sp>
          <p:nvSpPr>
            <p:cNvPr id="6" name="TextBox 6"/>
            <p:cNvSpPr txBox="1"/>
            <p:nvPr/>
          </p:nvSpPr>
          <p:spPr>
            <a:xfrm>
              <a:off x="559308" y="2950845"/>
              <a:ext cx="12682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原数组 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320034" y="2918460"/>
              <a:ext cx="47707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　 3　　 7　　 12　　 98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9308" y="3731895"/>
              <a:ext cx="9451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差分 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20034" y="3699510"/>
              <a:ext cx="45708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　　 1　　 4　　 5　　 86</a:t>
              </a:r>
            </a:p>
          </p:txBody>
        </p:sp>
      </p:grpSp>
      <p:grpSp>
        <p:nvGrpSpPr>
          <p:cNvPr id="14" name="inverse"/>
          <p:cNvGrpSpPr/>
          <p:nvPr/>
        </p:nvGrpSpPr>
        <p:grpSpPr>
          <a:xfrm>
            <a:off x="557784" y="4770120"/>
            <a:ext cx="4916157" cy="1369314"/>
            <a:chOff x="557784" y="4770120"/>
            <a:chExt cx="4916157" cy="1369314"/>
          </a:xfrm>
        </p:grpSpPr>
        <p:sp>
          <p:nvSpPr>
            <p:cNvPr id="11" name="TextBox 11"/>
            <p:cNvSpPr txBox="1"/>
            <p:nvPr/>
          </p:nvSpPr>
          <p:spPr>
            <a:xfrm>
              <a:off x="559308" y="4770120"/>
              <a:ext cx="42729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还原：对差分数组 d 求前缀和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784" y="5252085"/>
              <a:ext cx="49161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a[i] = d[1] + d[2] + … + d[i]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2356" y="5787390"/>
              <a:ext cx="4852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例如 a[3] = d[1]+d[2]+d[3] = 2+1+4 = 7。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7790688" cy="704088"/>
            <a:chOff x="553212" y="611505"/>
            <a:chExt cx="7790688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77906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一维区间修改：记边界，再求前缀和</a:t>
              </a:r>
            </a:p>
          </p:txBody>
        </p:sp>
      </p:grpSp>
      <p:grpSp>
        <p:nvGrpSpPr>
          <p:cNvPr id="22" name="demo"/>
          <p:cNvGrpSpPr/>
          <p:nvPr/>
        </p:nvGrpSpPr>
        <p:grpSpPr>
          <a:xfrm>
            <a:off x="562356" y="1834515"/>
            <a:ext cx="4962144" cy="3400044"/>
            <a:chOff x="562356" y="1834515"/>
            <a:chExt cx="4962144" cy="3400044"/>
          </a:xfrm>
        </p:grpSpPr>
        <p:sp>
          <p:nvSpPr>
            <p:cNvPr id="4" name="TextBox 4"/>
            <p:cNvSpPr txBox="1"/>
            <p:nvPr/>
          </p:nvSpPr>
          <p:spPr>
            <a:xfrm>
              <a:off x="562356" y="1834515"/>
              <a:ext cx="37014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零数组 [2,4] 加 3，观察边界变化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2356" y="24060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238250" y="2257425"/>
              <a:ext cx="428625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21333" y="24269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78583" y="24269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35833" y="24269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93083" y="24269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16983" y="2426970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C65325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26058" y="3160395"/>
              <a:ext cx="201137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对 d 求前缀和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2356" y="40252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238250" y="3876675"/>
              <a:ext cx="428625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095500" y="3876675"/>
              <a:ext cx="25717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21333" y="40462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78583" y="40462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35833" y="40462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93083" y="40462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50333" y="40462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2356" y="4882515"/>
              <a:ext cx="31583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 开始生效，R+1 取消影响。</a:t>
              </a:r>
            </a:p>
          </p:txBody>
        </p:sp>
      </p:grpSp>
      <p:grpSp>
        <p:nvGrpSpPr>
          <p:cNvPr id="25" name="code"/>
          <p:cNvGrpSpPr/>
          <p:nvPr/>
        </p:nvGrpSpPr>
        <p:grpSpPr>
          <a:xfrm>
            <a:off x="6000750" y="1647825"/>
            <a:ext cx="5619750" cy="3705225"/>
            <a:chOff x="6000750" y="1647825"/>
            <a:chExt cx="5619750" cy="3705225"/>
          </a:xfrm>
        </p:grpSpPr>
        <p:sp>
          <p:nvSpPr>
            <p:cNvPr id="23" name="Rectangle 23"/>
            <p:cNvSpPr/>
            <p:nvPr/>
          </p:nvSpPr>
          <p:spPr>
            <a:xfrm>
              <a:off x="6000750" y="1647825"/>
              <a:ext cx="5619750" cy="37052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38494" y="1846898"/>
              <a:ext cx="4135748" cy="24207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d[l] += c;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d[r + 1] -= c;</a:t>
              </a:r>
            </a:p>
            <a:p>
              <a:pPr algn="l">
                <a:lnSpc>
                  <a:spcPts val="2925"/>
                </a:lnSpc>
                <a:spcBef>
                  <a:spcPts val="1725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long long sum = 0;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(int i = 1; i &lt;= n; ++i) {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sum += d[</a:t>
              </a:r>
              <a:r>
                <a:rPr lang="en-US" sz="1950" dirty="0" err="1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];</a:t>
              </a:r>
              <a:br>
                <a:rPr dirty="0"/>
              </a:br>
              <a:r>
                <a:rPr lang="zh-CN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takeaway"/>
          <p:cNvGrpSpPr/>
          <p:nvPr/>
        </p:nvGrpSpPr>
        <p:grpSpPr>
          <a:xfrm>
            <a:off x="562356" y="5796915"/>
            <a:ext cx="5845988" cy="352044"/>
            <a:chOff x="562356" y="5796915"/>
            <a:chExt cx="5845988" cy="352044"/>
          </a:xfrm>
        </p:grpSpPr>
        <p:sp>
          <p:nvSpPr>
            <p:cNvPr id="26" name="TextBox 26"/>
            <p:cNvSpPr txBox="1"/>
            <p:nvPr/>
          </p:nvSpPr>
          <p:spPr>
            <a:xfrm>
              <a:off x="562356" y="5796915"/>
              <a:ext cx="58459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sum 始终是 d[1…i] 的前缀和，也就是修改后的 a[i]。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899267" y="6397942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 / 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7848302" cy="553998"/>
            <a:chOff x="553212" y="611505"/>
            <a:chExt cx="7848302" cy="55399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7848302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二维前缀和：左上角矩形的</a:t>
              </a:r>
              <a:r>
                <a:rPr lang="zh-CN" altLang="en-US" sz="3600" b="1" dirty="0">
                  <a:solidFill>
                    <a:schemeClr val="accent1"/>
                  </a:solidFill>
                </a:rPr>
                <a:t>累计的结果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matrix"/>
          <p:cNvGrpSpPr/>
          <p:nvPr/>
        </p:nvGrpSpPr>
        <p:grpSpPr>
          <a:xfrm>
            <a:off x="1229106" y="1805940"/>
            <a:ext cx="3819144" cy="3228594"/>
            <a:chOff x="1229106" y="1805940"/>
            <a:chExt cx="3819144" cy="3228594"/>
          </a:xfrm>
        </p:grpSpPr>
        <p:sp>
          <p:nvSpPr>
            <p:cNvPr id="4" name="TextBox 4"/>
            <p:cNvSpPr txBox="1"/>
            <p:nvPr/>
          </p:nvSpPr>
          <p:spPr>
            <a:xfrm>
              <a:off x="1229106" y="1805940"/>
              <a:ext cx="30152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S[2][3]：前 2 行、前 3 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238250" y="2333625"/>
              <a:ext cx="3810000" cy="217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238250" y="2333625"/>
              <a:ext cx="2857500" cy="144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238250" y="2333625"/>
              <a:ext cx="3810000" cy="2171700"/>
            </a:xfrm>
            <a:custGeom>
              <a:avLst/>
              <a:gdLst/>
              <a:ahLst/>
              <a:cxnLst/>
              <a:rect l="l" t="t" r="r" b="b"/>
              <a:pathLst>
                <a:path w="3810000" h="2171700">
                  <a:moveTo>
                    <a:pt x="952500" y="0"/>
                  </a:moveTo>
                  <a:lnTo>
                    <a:pt x="952500" y="2171700"/>
                  </a:lnTo>
                  <a:moveTo>
                    <a:pt x="1905000" y="0"/>
                  </a:moveTo>
                  <a:lnTo>
                    <a:pt x="1905000" y="2171700"/>
                  </a:lnTo>
                  <a:moveTo>
                    <a:pt x="2857500" y="0"/>
                  </a:moveTo>
                  <a:lnTo>
                    <a:pt x="2857500" y="2171700"/>
                  </a:lnTo>
                  <a:moveTo>
                    <a:pt x="0" y="723900"/>
                  </a:moveTo>
                  <a:lnTo>
                    <a:pt x="3810000" y="723900"/>
                  </a:lnTo>
                  <a:moveTo>
                    <a:pt x="0" y="1447800"/>
                  </a:moveTo>
                  <a:lnTo>
                    <a:pt x="3810000" y="144780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97533" y="25412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50033" y="25412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02533" y="25412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55033" y="25412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97533" y="32651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50033" y="32651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02533" y="32651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55033" y="32651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97533" y="39890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64308" y="3989070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16808" y="3989070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69308" y="3989070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29106" y="4682490"/>
              <a:ext cx="3580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x 是行（向下），y 是列（向右）</a:t>
              </a:r>
            </a:p>
          </p:txBody>
        </p:sp>
      </p:grpSp>
      <p:grpSp>
        <p:nvGrpSpPr>
          <p:cNvPr id="27" name="meaning"/>
          <p:cNvGrpSpPr/>
          <p:nvPr/>
        </p:nvGrpSpPr>
        <p:grpSpPr>
          <a:xfrm>
            <a:off x="5987034" y="1845945"/>
            <a:ext cx="4048354" cy="2902839"/>
            <a:chOff x="5987034" y="1845945"/>
            <a:chExt cx="4048354" cy="2902839"/>
          </a:xfrm>
        </p:grpSpPr>
        <p:sp>
          <p:nvSpPr>
            <p:cNvPr id="22" name="TextBox 22"/>
            <p:cNvSpPr txBox="1"/>
            <p:nvPr/>
          </p:nvSpPr>
          <p:spPr>
            <a:xfrm>
              <a:off x="5988558" y="1845945"/>
              <a:ext cx="38691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固定从 (1,1) 加到 (i,j)。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87034" y="2394585"/>
              <a:ext cx="237012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S[2][3] = 24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88558" y="3093720"/>
              <a:ext cx="40468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上方 + 左方 − 重叠 + 当前格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88558" y="3655695"/>
              <a:ext cx="27544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 + 14 − 3 + 7 = 24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91606" y="439674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重叠部分被加了两次，要减一次。</a:t>
              </a:r>
            </a:p>
          </p:txBody>
        </p:sp>
      </p:grpSp>
      <p:grpSp>
        <p:nvGrpSpPr>
          <p:cNvPr id="29" name="formula"/>
          <p:cNvGrpSpPr/>
          <p:nvPr/>
        </p:nvGrpSpPr>
        <p:grpSpPr>
          <a:xfrm>
            <a:off x="559308" y="5284470"/>
            <a:ext cx="5221224" cy="898017"/>
            <a:chOff x="559308" y="5284470"/>
            <a:chExt cx="5221224" cy="898017"/>
          </a:xfrm>
        </p:grpSpPr>
        <p:sp>
          <p:nvSpPr>
            <p:cNvPr id="28" name="TextBox 28"/>
            <p:cNvSpPr txBox="1"/>
            <p:nvPr/>
          </p:nvSpPr>
          <p:spPr>
            <a:xfrm>
              <a:off x="559308" y="5284470"/>
              <a:ext cx="5221224" cy="898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4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S[i][j] = S[i-1][j] + S[i][j-1]</a:t>
              </a:r>
            </a:p>
            <a:p>
              <a:pPr algn="l">
                <a:lnSpc>
                  <a:spcPts val="3375"/>
                </a:lnSpc>
              </a:pPr>
              <a:r>
                <a:rPr lang="en-US" sz="24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- S[i-1][j-1] + a[i][j]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899267" y="6397942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 / 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8275320" cy="704088"/>
            <a:chOff x="553212" y="611505"/>
            <a:chExt cx="8275320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827532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二维矩形查询：减去多余，再补回重叠</a:t>
              </a:r>
            </a:p>
          </p:txBody>
        </p:sp>
      </p:grpSp>
      <p:grpSp>
        <p:nvGrpSpPr>
          <p:cNvPr id="23" name="regions"/>
          <p:cNvGrpSpPr/>
          <p:nvPr/>
        </p:nvGrpSpPr>
        <p:grpSpPr>
          <a:xfrm>
            <a:off x="1229106" y="1758315"/>
            <a:ext cx="3819144" cy="3180969"/>
            <a:chOff x="1229106" y="1758315"/>
            <a:chExt cx="3819144" cy="3180969"/>
          </a:xfrm>
        </p:grpSpPr>
        <p:sp>
          <p:nvSpPr>
            <p:cNvPr id="4" name="TextBox 4"/>
            <p:cNvSpPr txBox="1"/>
            <p:nvPr/>
          </p:nvSpPr>
          <p:spPr>
            <a:xfrm>
              <a:off x="1229106" y="1758315"/>
              <a:ext cx="24656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目标：(2,2) 到 (3,4)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238250" y="2247900"/>
              <a:ext cx="3810000" cy="2171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238250" y="2247900"/>
              <a:ext cx="3810000" cy="723900"/>
            </a:xfrm>
            <a:prstGeom prst="rect">
              <a:avLst/>
            </a:prstGeom>
            <a:solidFill>
              <a:srgbClr val="C6532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238250" y="2247900"/>
              <a:ext cx="952500" cy="2171700"/>
            </a:xfrm>
            <a:prstGeom prst="rect">
              <a:avLst/>
            </a:prstGeom>
            <a:solidFill>
              <a:srgbClr val="C6532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238250" y="2247900"/>
              <a:ext cx="952500" cy="723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238250" y="2247900"/>
              <a:ext cx="3810000" cy="2171700"/>
            </a:xfrm>
            <a:custGeom>
              <a:avLst/>
              <a:gdLst/>
              <a:ahLst/>
              <a:cxnLst/>
              <a:rect l="l" t="t" r="r" b="b"/>
              <a:pathLst>
                <a:path w="3810000" h="2171700">
                  <a:moveTo>
                    <a:pt x="952500" y="0"/>
                  </a:moveTo>
                  <a:lnTo>
                    <a:pt x="952500" y="2171700"/>
                  </a:lnTo>
                  <a:moveTo>
                    <a:pt x="1905000" y="0"/>
                  </a:moveTo>
                  <a:lnTo>
                    <a:pt x="1905000" y="2171700"/>
                  </a:lnTo>
                  <a:moveTo>
                    <a:pt x="2857500" y="0"/>
                  </a:moveTo>
                  <a:lnTo>
                    <a:pt x="2857500" y="2171700"/>
                  </a:lnTo>
                  <a:moveTo>
                    <a:pt x="0" y="723900"/>
                  </a:moveTo>
                  <a:lnTo>
                    <a:pt x="3810000" y="723900"/>
                  </a:lnTo>
                  <a:moveTo>
                    <a:pt x="0" y="1447800"/>
                  </a:moveTo>
                  <a:lnTo>
                    <a:pt x="3810000" y="144780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97533" y="24555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50033" y="24555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02533" y="24555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55033" y="24555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97533" y="31794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50033" y="31794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02533" y="31794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55033" y="31794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97533" y="39033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64308" y="390334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16808" y="390334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69308" y="390334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29106" y="45872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矩形的两端都包含</a:t>
              </a:r>
            </a:p>
          </p:txBody>
        </p:sp>
      </p:grpSp>
      <p:grpSp>
        <p:nvGrpSpPr>
          <p:cNvPr id="27" name="steps"/>
          <p:cNvGrpSpPr/>
          <p:nvPr/>
        </p:nvGrpSpPr>
        <p:grpSpPr>
          <a:xfrm>
            <a:off x="5982462" y="1769745"/>
            <a:ext cx="4664812" cy="3056394"/>
            <a:chOff x="5982462" y="1769745"/>
            <a:chExt cx="4664812" cy="3056394"/>
          </a:xfrm>
        </p:grpSpPr>
        <p:sp>
          <p:nvSpPr>
            <p:cNvPr id="24" name="TextBox 24"/>
            <p:cNvSpPr txBox="1"/>
            <p:nvPr/>
          </p:nvSpPr>
          <p:spPr>
            <a:xfrm>
              <a:off x="5988558" y="1769745"/>
              <a:ext cx="3331464" cy="15742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取大前缀 78</a:t>
              </a:r>
              <a:br>
                <a:rPr dirty="0"/>
              </a:br>
              <a:r>
                <a:rPr lang="zh-CN" sz="2400" dirty="0">
                  <a:solidFill>
                    <a:srgbClr val="C65325"/>
                  </a:solidFill>
                  <a:latin typeface="+mn-lt"/>
                  <a:ea typeface="+mn-ea"/>
                  <a:cs typeface="+mn-cs"/>
                </a:rPr>
                <a:t>减上方 10，减左方 15</a:t>
              </a:r>
              <a:br>
                <a:rPr dirty="0"/>
              </a:br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左上角被减两遍，补回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82462" y="3811905"/>
              <a:ext cx="466481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78 − 10 − 15 + 1 = 54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91606" y="4549140"/>
              <a:ext cx="232967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6+7+8+10+11+12 = 54</a:t>
              </a:r>
            </a:p>
          </p:txBody>
        </p:sp>
      </p:grpSp>
      <p:grpSp>
        <p:nvGrpSpPr>
          <p:cNvPr id="29" name="formula"/>
          <p:cNvGrpSpPr/>
          <p:nvPr/>
        </p:nvGrpSpPr>
        <p:grpSpPr>
          <a:xfrm>
            <a:off x="559308" y="5246370"/>
            <a:ext cx="4885944" cy="917067"/>
            <a:chOff x="559308" y="5246370"/>
            <a:chExt cx="4885944" cy="917067"/>
          </a:xfrm>
        </p:grpSpPr>
        <p:sp>
          <p:nvSpPr>
            <p:cNvPr id="28" name="TextBox 28"/>
            <p:cNvSpPr txBox="1"/>
            <p:nvPr/>
          </p:nvSpPr>
          <p:spPr>
            <a:xfrm>
              <a:off x="559308" y="5246370"/>
              <a:ext cx="4885944" cy="9170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525"/>
                </a:lnSpc>
              </a:pPr>
              <a:r>
                <a:rPr lang="en-US" sz="24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sum = S[x2][y2] - S[x1-1][y2]</a:t>
              </a:r>
            </a:p>
            <a:p>
              <a:pPr algn="l">
                <a:lnSpc>
                  <a:spcPts val="3525"/>
                </a:lnSpc>
              </a:pPr>
              <a:r>
                <a:rPr lang="en-US" sz="24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- S[x2][y1-1] + S[x1-1][y1-1]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899267" y="6397942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 / 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3693319" cy="553998"/>
            <a:chOff x="553212" y="611505"/>
            <a:chExt cx="3693319" cy="55399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3693319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二维前缀和：代码</a:t>
              </a:r>
            </a:p>
          </p:txBody>
        </p:sp>
      </p:grpSp>
      <p:grpSp>
        <p:nvGrpSpPr>
          <p:cNvPr id="21" name="matrix"/>
          <p:cNvGrpSpPr/>
          <p:nvPr/>
        </p:nvGrpSpPr>
        <p:grpSpPr>
          <a:xfrm>
            <a:off x="562356" y="1853565"/>
            <a:ext cx="3628644" cy="3276219"/>
            <a:chOff x="562356" y="1853565"/>
            <a:chExt cx="3628644" cy="3276219"/>
          </a:xfrm>
        </p:grpSpPr>
        <p:sp>
          <p:nvSpPr>
            <p:cNvPr id="4" name="TextBox 4"/>
            <p:cNvSpPr txBox="1"/>
            <p:nvPr/>
          </p:nvSpPr>
          <p:spPr>
            <a:xfrm>
              <a:off x="562356" y="1853565"/>
              <a:ext cx="17666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构建后的 S 数组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2390775"/>
              <a:ext cx="3429000" cy="2000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476500" y="3057525"/>
              <a:ext cx="857250" cy="666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762000" y="2390775"/>
              <a:ext cx="3429000" cy="2000250"/>
            </a:xfrm>
            <a:custGeom>
              <a:avLst/>
              <a:gdLst/>
              <a:ahLst/>
              <a:cxnLst/>
              <a:rect l="l" t="t" r="r" b="b"/>
              <a:pathLst>
                <a:path w="3429000" h="2000250">
                  <a:moveTo>
                    <a:pt x="857250" y="0"/>
                  </a:moveTo>
                  <a:lnTo>
                    <a:pt x="857250" y="2000250"/>
                  </a:lnTo>
                  <a:moveTo>
                    <a:pt x="1714500" y="0"/>
                  </a:moveTo>
                  <a:lnTo>
                    <a:pt x="1714500" y="2000250"/>
                  </a:lnTo>
                  <a:moveTo>
                    <a:pt x="2571750" y="0"/>
                  </a:moveTo>
                  <a:lnTo>
                    <a:pt x="2571750" y="2000250"/>
                  </a:lnTo>
                  <a:moveTo>
                    <a:pt x="0" y="666750"/>
                  </a:moveTo>
                  <a:lnTo>
                    <a:pt x="3429000" y="666750"/>
                  </a:lnTo>
                  <a:moveTo>
                    <a:pt x="0" y="1333500"/>
                  </a:moveTo>
                  <a:lnTo>
                    <a:pt x="3429000" y="133350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3658" y="25698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30908" y="25698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88158" y="25698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69208" y="256984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73658" y="32365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54708" y="323659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11958" y="323659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69208" y="323659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7458" y="390334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54708" y="390334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11958" y="390334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69208" y="390334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2356" y="4777740"/>
              <a:ext cx="23566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蓝格：6+14−3+7 = 24</a:t>
              </a:r>
            </a:p>
          </p:txBody>
        </p:sp>
      </p:grpSp>
      <p:grpSp>
        <p:nvGrpSpPr>
          <p:cNvPr id="24" name="code"/>
          <p:cNvGrpSpPr/>
          <p:nvPr/>
        </p:nvGrpSpPr>
        <p:grpSpPr>
          <a:xfrm>
            <a:off x="5143500" y="1685925"/>
            <a:ext cx="6477000" cy="3562350"/>
            <a:chOff x="5143500" y="1685925"/>
            <a:chExt cx="6477000" cy="3562350"/>
          </a:xfrm>
        </p:grpSpPr>
        <p:sp>
          <p:nvSpPr>
            <p:cNvPr id="22" name="Rectangle 22"/>
            <p:cNvSpPr/>
            <p:nvPr/>
          </p:nvSpPr>
          <p:spPr>
            <a:xfrm>
              <a:off x="5143500" y="1685925"/>
              <a:ext cx="6477000" cy="3562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71719" y="1856422"/>
              <a:ext cx="4787074" cy="27150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(int i = 1; i &lt;= n; ++i)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for (int j = 1; j &lt;= m; ++j)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s[i][j] = s[i-1][j] + s[i][j-1]</a:t>
              </a:r>
            </a:p>
            <a:p>
              <a:pPr algn="l">
                <a:lnSpc>
                  <a:spcPts val="2775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  - s[i-1][j-1] + a[i][j];</a:t>
              </a:r>
            </a:p>
            <a:p>
              <a:pPr algn="l">
                <a:lnSpc>
                  <a:spcPts val="2775"/>
                </a:lnSpc>
                <a:spcBef>
                  <a:spcPts val="1725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long long ans = s[x2][y2]</a:t>
              </a:r>
            </a:p>
            <a:p>
              <a:pPr algn="l">
                <a:lnSpc>
                  <a:spcPts val="2775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- s[x1-1][y2] - s[x2][y1-1]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+ s[x1-1][y1-1];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62356" y="5606415"/>
            <a:ext cx="3090590" cy="304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625"/>
              </a:lnSpc>
            </a:pPr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预处理 O(nm)，单次查询 O(1)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87837" y="6455092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 / 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6821424" cy="704088"/>
            <a:chOff x="553212" y="611505"/>
            <a:chExt cx="6821424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二维差分：矩形修改只动四个角</a:t>
              </a:r>
            </a:p>
          </p:txBody>
        </p:sp>
      </p:grpSp>
      <p:grpSp>
        <p:nvGrpSpPr>
          <p:cNvPr id="19" name="corners"/>
          <p:cNvGrpSpPr/>
          <p:nvPr/>
        </p:nvGrpSpPr>
        <p:grpSpPr>
          <a:xfrm>
            <a:off x="562356" y="1739265"/>
            <a:ext cx="3967658" cy="2709672"/>
            <a:chOff x="562356" y="1739265"/>
            <a:chExt cx="3967658" cy="2709672"/>
          </a:xfrm>
        </p:grpSpPr>
        <p:sp>
          <p:nvSpPr>
            <p:cNvPr id="4" name="TextBox 4"/>
            <p:cNvSpPr txBox="1"/>
            <p:nvPr/>
          </p:nvSpPr>
          <p:spPr>
            <a:xfrm>
              <a:off x="562356" y="1739265"/>
              <a:ext cx="36409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示例：(2,2) 到 (3,4)，每格加 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381125" y="2381250"/>
              <a:ext cx="2571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1381125" y="2381250"/>
              <a:ext cx="2571750" cy="1428750"/>
            </a:xfrm>
            <a:custGeom>
              <a:avLst/>
              <a:gdLst/>
              <a:ahLst/>
              <a:cxnLst/>
              <a:rect l="l" t="t" r="r" b="b"/>
              <a:pathLst>
                <a:path w="2571750" h="1428750">
                  <a:moveTo>
                    <a:pt x="857250" y="0"/>
                  </a:moveTo>
                  <a:lnTo>
                    <a:pt x="857250" y="1428750"/>
                  </a:lnTo>
                  <a:moveTo>
                    <a:pt x="1714500" y="0"/>
                  </a:moveTo>
                  <a:lnTo>
                    <a:pt x="1714500" y="1428750"/>
                  </a:lnTo>
                  <a:moveTo>
                    <a:pt x="0" y="714375"/>
                  </a:moveTo>
                  <a:lnTo>
                    <a:pt x="2571750" y="714375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381125" y="2381250"/>
              <a:ext cx="2571750" cy="142875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295400" y="229552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867150" y="2295525"/>
              <a:ext cx="171450" cy="171450"/>
            </a:xfrm>
            <a:prstGeom prst="ellipse">
              <a:avLst/>
            </a:prstGeom>
            <a:solidFill>
              <a:srgbClr val="C65325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95400" y="3724275"/>
              <a:ext cx="171450" cy="171450"/>
            </a:xfrm>
            <a:prstGeom prst="ellipse">
              <a:avLst/>
            </a:prstGeom>
            <a:solidFill>
              <a:srgbClr val="C65325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867150" y="37242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7433" y="203644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+3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50233" y="218884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C65325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7433" y="3979545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C65325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50233" y="3760470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+3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24406" y="27679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目标矩形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24406" y="3320415"/>
              <a:ext cx="8421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每格 +3</a:t>
              </a:r>
            </a:p>
          </p:txBody>
        </p:sp>
      </p:grpSp>
      <p:grpSp>
        <p:nvGrpSpPr>
          <p:cNvPr id="22" name="code"/>
          <p:cNvGrpSpPr/>
          <p:nvPr/>
        </p:nvGrpSpPr>
        <p:grpSpPr>
          <a:xfrm>
            <a:off x="5953125" y="1704975"/>
            <a:ext cx="5667375" cy="2905125"/>
            <a:chOff x="5953125" y="1704975"/>
            <a:chExt cx="5667375" cy="2905125"/>
          </a:xfrm>
        </p:grpSpPr>
        <p:sp>
          <p:nvSpPr>
            <p:cNvPr id="20" name="Rectangle 20"/>
            <p:cNvSpPr/>
            <p:nvPr/>
          </p:nvSpPr>
          <p:spPr>
            <a:xfrm>
              <a:off x="5953125" y="1704975"/>
              <a:ext cx="5667375" cy="2905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81344" y="1942148"/>
              <a:ext cx="3152584" cy="21244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75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d[x1][y1]         += c;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d[x2 + 1][y1]     -= c;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d[x1][y2 + 1]     -= c;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d[x2 + 1][y2 + 1] += c;</a:t>
              </a:r>
            </a:p>
          </p:txBody>
        </p:sp>
      </p:grpSp>
      <p:grpSp>
        <p:nvGrpSpPr>
          <p:cNvPr id="24" name="why"/>
          <p:cNvGrpSpPr/>
          <p:nvPr/>
        </p:nvGrpSpPr>
        <p:grpSpPr>
          <a:xfrm>
            <a:off x="559308" y="5303520"/>
            <a:ext cx="7644384" cy="936117"/>
            <a:chOff x="559308" y="5303520"/>
            <a:chExt cx="7644384" cy="936117"/>
          </a:xfrm>
        </p:grpSpPr>
        <p:sp>
          <p:nvSpPr>
            <p:cNvPr id="23" name="TextBox 23"/>
            <p:cNvSpPr txBox="1"/>
            <p:nvPr/>
          </p:nvSpPr>
          <p:spPr>
            <a:xfrm>
              <a:off x="559308" y="5303520"/>
              <a:ext cx="7644384" cy="936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左上开始生效，下边与右边取消，右下重复取消要补回。</a:t>
              </a:r>
              <a:br>
                <a:rPr dirty="0"/>
              </a:b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还原后，目标右下方的影响：3 − 3 − 3 + 3 = </a:t>
              </a:r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564642" y="6445568"/>
            <a:ext cx="10957160" cy="264033"/>
            <a:chOff x="564642" y="6445568"/>
            <a:chExt cx="10957160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564642" y="6445568"/>
              <a:ext cx="6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99267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7306056" cy="704088"/>
            <a:chOff x="553212" y="611505"/>
            <a:chExt cx="7306056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730605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二维差分：先把原矩阵转换成差分</a:t>
              </a:r>
            </a:p>
          </p:txBody>
        </p:sp>
      </p:grpSp>
      <p:grpSp>
        <p:nvGrpSpPr>
          <p:cNvPr id="23" name="matrices"/>
          <p:cNvGrpSpPr/>
          <p:nvPr/>
        </p:nvGrpSpPr>
        <p:grpSpPr>
          <a:xfrm>
            <a:off x="752856" y="1777365"/>
            <a:ext cx="3342894" cy="3347847"/>
            <a:chOff x="752856" y="1777365"/>
            <a:chExt cx="3342894" cy="3347847"/>
          </a:xfrm>
        </p:grpSpPr>
        <p:sp>
          <p:nvSpPr>
            <p:cNvPr id="4" name="TextBox 4"/>
            <p:cNvSpPr txBox="1"/>
            <p:nvPr/>
          </p:nvSpPr>
          <p:spPr>
            <a:xfrm>
              <a:off x="752856" y="1777365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原矩阵 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238250" y="2190750"/>
              <a:ext cx="28575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1238250" y="2190750"/>
              <a:ext cx="2857500" cy="1066800"/>
            </a:xfrm>
            <a:custGeom>
              <a:avLst/>
              <a:gdLst/>
              <a:ahLst/>
              <a:cxnLst/>
              <a:rect l="l" t="t" r="r" b="b"/>
              <a:pathLst>
                <a:path w="2857500" h="1066800">
                  <a:moveTo>
                    <a:pt x="952500" y="0"/>
                  </a:moveTo>
                  <a:lnTo>
                    <a:pt x="952500" y="1066800"/>
                  </a:lnTo>
                  <a:moveTo>
                    <a:pt x="1905000" y="0"/>
                  </a:moveTo>
                  <a:lnTo>
                    <a:pt x="1905000" y="1066800"/>
                  </a:lnTo>
                  <a:moveTo>
                    <a:pt x="0" y="533400"/>
                  </a:moveTo>
                  <a:lnTo>
                    <a:pt x="2857500" y="53340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97533" y="22840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550033" y="22840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02533" y="22840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97533" y="28174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50033" y="28174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02533" y="28174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856" y="3615690"/>
              <a:ext cx="11935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初始差分 d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238250" y="4029075"/>
              <a:ext cx="28575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190750" y="4562475"/>
              <a:ext cx="952500" cy="53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238250" y="4029075"/>
              <a:ext cx="2857500" cy="1066800"/>
            </a:xfrm>
            <a:custGeom>
              <a:avLst/>
              <a:gdLst/>
              <a:ahLst/>
              <a:cxnLst/>
              <a:rect l="l" t="t" r="r" b="b"/>
              <a:pathLst>
                <a:path w="2857500" h="1066800">
                  <a:moveTo>
                    <a:pt x="952500" y="0"/>
                  </a:moveTo>
                  <a:lnTo>
                    <a:pt x="952500" y="1066800"/>
                  </a:lnTo>
                  <a:moveTo>
                    <a:pt x="1905000" y="0"/>
                  </a:moveTo>
                  <a:lnTo>
                    <a:pt x="1905000" y="1066800"/>
                  </a:lnTo>
                  <a:moveTo>
                    <a:pt x="0" y="533400"/>
                  </a:moveTo>
                  <a:lnTo>
                    <a:pt x="2857500" y="53340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97533" y="41224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50033" y="41224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02533" y="41224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97533" y="46558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50033" y="46558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02533" y="46558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26" name="code"/>
          <p:cNvGrpSpPr/>
          <p:nvPr/>
        </p:nvGrpSpPr>
        <p:grpSpPr>
          <a:xfrm>
            <a:off x="5334000" y="1704975"/>
            <a:ext cx="6286500" cy="2571750"/>
            <a:chOff x="5334000" y="1704975"/>
            <a:chExt cx="6286500" cy="2571750"/>
          </a:xfrm>
        </p:grpSpPr>
        <p:sp>
          <p:nvSpPr>
            <p:cNvPr id="24" name="Rectangle 24"/>
            <p:cNvSpPr/>
            <p:nvPr/>
          </p:nvSpPr>
          <p:spPr>
            <a:xfrm>
              <a:off x="5334000" y="1704975"/>
              <a:ext cx="6286500" cy="2571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62219" y="1904048"/>
              <a:ext cx="4106037" cy="1867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(int i = 1; i &lt;= n; ++i)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for (int j = 1; j &lt;= m; ++j)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d[i][j] = a[i][j]</a:t>
              </a:r>
            </a:p>
            <a:p>
              <a:pPr algn="l">
                <a:lnSpc>
                  <a:spcPts val="2925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  - a[i-1][j] - a[i][j-1]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  + a[i-1][j-1];</a:t>
              </a:r>
            </a:p>
          </p:txBody>
        </p:sp>
      </p:grpSp>
      <p:grpSp>
        <p:nvGrpSpPr>
          <p:cNvPr id="29" name="example"/>
          <p:cNvGrpSpPr/>
          <p:nvPr/>
        </p:nvGrpSpPr>
        <p:grpSpPr>
          <a:xfrm>
            <a:off x="5321808" y="4692015"/>
            <a:ext cx="2399081" cy="785622"/>
            <a:chOff x="5321808" y="4692015"/>
            <a:chExt cx="2399081" cy="785622"/>
          </a:xfrm>
        </p:grpSpPr>
        <p:sp>
          <p:nvSpPr>
            <p:cNvPr id="27" name="TextBox 27"/>
            <p:cNvSpPr txBox="1"/>
            <p:nvPr/>
          </p:nvSpPr>
          <p:spPr>
            <a:xfrm>
              <a:off x="5324856" y="4692015"/>
              <a:ext cx="15085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蓝格 d[2][2]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1808" y="5008245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5 − 2 − 4 + 1 = 0</a:t>
              </a:r>
            </a:p>
          </p:txBody>
        </p:sp>
      </p:grpSp>
      <p:grpSp>
        <p:nvGrpSpPr>
          <p:cNvPr id="31" name="next"/>
          <p:cNvGrpSpPr/>
          <p:nvPr/>
        </p:nvGrpSpPr>
        <p:grpSpPr>
          <a:xfrm>
            <a:off x="562356" y="5806440"/>
            <a:ext cx="6597167" cy="352044"/>
            <a:chOff x="562356" y="5806440"/>
            <a:chExt cx="6597167" cy="352044"/>
          </a:xfrm>
        </p:grpSpPr>
        <p:sp>
          <p:nvSpPr>
            <p:cNvPr id="30" name="TextBox 30"/>
            <p:cNvSpPr txBox="1"/>
            <p:nvPr/>
          </p:nvSpPr>
          <p:spPr>
            <a:xfrm>
              <a:off x="562356" y="5806440"/>
              <a:ext cx="65971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建立初始差分后，记录所有四角修改，再对 d 求二维前缀和。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7406617" cy="704088"/>
            <a:chOff x="553212" y="611505"/>
            <a:chExt cx="7406617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74066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二维差分还原：对 d 求二维前缀和</a:t>
              </a:r>
            </a:p>
          </p:txBody>
        </p:sp>
      </p:grpSp>
      <p:grpSp>
        <p:nvGrpSpPr>
          <p:cNvPr id="35" name="matrices"/>
          <p:cNvGrpSpPr/>
          <p:nvPr/>
        </p:nvGrpSpPr>
        <p:grpSpPr>
          <a:xfrm>
            <a:off x="657606" y="1729740"/>
            <a:ext cx="3628644" cy="3704844"/>
            <a:chOff x="657606" y="1729740"/>
            <a:chExt cx="3628644" cy="3704844"/>
          </a:xfrm>
        </p:grpSpPr>
        <p:sp>
          <p:nvSpPr>
            <p:cNvPr id="4" name="TextBox 4"/>
            <p:cNvSpPr txBox="1"/>
            <p:nvPr/>
          </p:nvSpPr>
          <p:spPr>
            <a:xfrm>
              <a:off x="657606" y="1729740"/>
              <a:ext cx="16781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四角修改后的 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47750" y="2105025"/>
              <a:ext cx="3238500" cy="1314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1047750" y="2105025"/>
              <a:ext cx="3238500" cy="1314450"/>
            </a:xfrm>
            <a:custGeom>
              <a:avLst/>
              <a:gdLst/>
              <a:ahLst/>
              <a:cxnLst/>
              <a:rect l="l" t="t" r="r" b="b"/>
              <a:pathLst>
                <a:path w="3238500" h="1314450">
                  <a:moveTo>
                    <a:pt x="809625" y="0"/>
                  </a:moveTo>
                  <a:lnTo>
                    <a:pt x="809625" y="1314450"/>
                  </a:lnTo>
                  <a:moveTo>
                    <a:pt x="1619250" y="0"/>
                  </a:moveTo>
                  <a:lnTo>
                    <a:pt x="1619250" y="1314450"/>
                  </a:lnTo>
                  <a:moveTo>
                    <a:pt x="2428875" y="0"/>
                  </a:moveTo>
                  <a:lnTo>
                    <a:pt x="2428875" y="1314450"/>
                  </a:lnTo>
                  <a:moveTo>
                    <a:pt x="0" y="438150"/>
                  </a:moveTo>
                  <a:lnTo>
                    <a:pt x="3238500" y="438150"/>
                  </a:lnTo>
                  <a:moveTo>
                    <a:pt x="0" y="876300"/>
                  </a:moveTo>
                  <a:lnTo>
                    <a:pt x="3238500" y="87630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43406" y="22155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53031" y="22155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62656" y="22155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86556" y="221551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6532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3406" y="26536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53031" y="26536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62656" y="26536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72281" y="26536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43406" y="3091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67306" y="309181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6532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62656" y="3091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72281" y="3091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7606" y="3701415"/>
              <a:ext cx="34223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对 d 求前缀和，得到最终矩阵 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47750" y="4095750"/>
              <a:ext cx="3238500" cy="1314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857375" y="4095750"/>
              <a:ext cx="1619250" cy="876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47750" y="4095750"/>
              <a:ext cx="3238500" cy="1314450"/>
            </a:xfrm>
            <a:custGeom>
              <a:avLst/>
              <a:gdLst/>
              <a:ahLst/>
              <a:cxnLst/>
              <a:rect l="l" t="t" r="r" b="b"/>
              <a:pathLst>
                <a:path w="3238500" h="1314450">
                  <a:moveTo>
                    <a:pt x="809625" y="0"/>
                  </a:moveTo>
                  <a:lnTo>
                    <a:pt x="809625" y="1314450"/>
                  </a:lnTo>
                  <a:moveTo>
                    <a:pt x="1619250" y="0"/>
                  </a:moveTo>
                  <a:lnTo>
                    <a:pt x="1619250" y="1314450"/>
                  </a:lnTo>
                  <a:moveTo>
                    <a:pt x="2428875" y="0"/>
                  </a:moveTo>
                  <a:lnTo>
                    <a:pt x="2428875" y="1314450"/>
                  </a:lnTo>
                  <a:moveTo>
                    <a:pt x="0" y="438150"/>
                  </a:moveTo>
                  <a:lnTo>
                    <a:pt x="3238500" y="438150"/>
                  </a:lnTo>
                  <a:moveTo>
                    <a:pt x="0" y="876300"/>
                  </a:moveTo>
                  <a:lnTo>
                    <a:pt x="3238500" y="87630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43406" y="4206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53031" y="4206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62656" y="4206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72281" y="4206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43406" y="46443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53031" y="46443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62656" y="46443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72281" y="46443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43406" y="50825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53031" y="50825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62656" y="50825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72281" y="50825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38" name="code"/>
          <p:cNvGrpSpPr/>
          <p:nvPr/>
        </p:nvGrpSpPr>
        <p:grpSpPr>
          <a:xfrm>
            <a:off x="5286375" y="1685925"/>
            <a:ext cx="6334125" cy="2600325"/>
            <a:chOff x="5286375" y="1685925"/>
            <a:chExt cx="6334125" cy="2600325"/>
          </a:xfrm>
        </p:grpSpPr>
        <p:sp>
          <p:nvSpPr>
            <p:cNvPr id="36" name="Rectangle 36"/>
            <p:cNvSpPr/>
            <p:nvPr/>
          </p:nvSpPr>
          <p:spPr>
            <a:xfrm>
              <a:off x="5286375" y="1685925"/>
              <a:ext cx="6334125" cy="26003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514594" y="1884998"/>
              <a:ext cx="4106037" cy="1905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(int i = 1; i &lt;= n; ++i)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for (int j = 1; j &lt;= m; ++j)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s[i][j] = d[i][j]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  + s[i-1][j] + s[i][j-1]</a:t>
              </a:r>
            </a:p>
            <a:p>
              <a:pPr algn="l">
                <a:lnSpc>
                  <a:spcPts val="3000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  - s[i-1][j-1];</a:t>
              </a:r>
            </a:p>
          </p:txBody>
        </p:sp>
      </p:grpSp>
      <p:grpSp>
        <p:nvGrpSpPr>
          <p:cNvPr id="40" name="meaning"/>
          <p:cNvGrpSpPr/>
          <p:nvPr/>
        </p:nvGrpSpPr>
        <p:grpSpPr>
          <a:xfrm>
            <a:off x="5274183" y="4741545"/>
            <a:ext cx="3986784" cy="936117"/>
            <a:chOff x="5274183" y="4741545"/>
            <a:chExt cx="3986784" cy="936117"/>
          </a:xfrm>
        </p:grpSpPr>
        <p:sp>
          <p:nvSpPr>
            <p:cNvPr id="39" name="TextBox 39"/>
            <p:cNvSpPr txBox="1"/>
            <p:nvPr/>
          </p:nvSpPr>
          <p:spPr>
            <a:xfrm>
              <a:off x="5274183" y="4741545"/>
              <a:ext cx="3986784" cy="936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是差分 d 的二维前缀和，</a:t>
              </a:r>
              <a:br>
                <a:rPr dirty="0"/>
              </a:br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也是所有修改完成后的数组。</a:t>
              </a:r>
            </a:p>
          </p:txBody>
        </p:sp>
      </p:grpSp>
      <p:grpSp>
        <p:nvGrpSpPr>
          <p:cNvPr id="42" name="case"/>
          <p:cNvGrpSpPr/>
          <p:nvPr/>
        </p:nvGrpSpPr>
        <p:grpSpPr>
          <a:xfrm>
            <a:off x="562356" y="5901690"/>
            <a:ext cx="5470398" cy="352044"/>
            <a:chOff x="562356" y="5901690"/>
            <a:chExt cx="5470398" cy="352044"/>
          </a:xfrm>
        </p:grpSpPr>
        <p:sp>
          <p:nvSpPr>
            <p:cNvPr id="41" name="TextBox 41"/>
            <p:cNvSpPr txBox="1"/>
            <p:nvPr/>
          </p:nvSpPr>
          <p:spPr>
            <a:xfrm>
              <a:off x="562356" y="5901690"/>
              <a:ext cx="54703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图例：3×4 零矩阵，给 (1,2) 到 (2,3) 每格加 2。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0899267" y="644556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 / 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7329076" cy="704088"/>
            <a:chOff x="553212" y="611505"/>
            <a:chExt cx="7329076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732907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问题：坐标到 10⁹，数组怎么开？</a:t>
              </a:r>
            </a:p>
          </p:txBody>
        </p:sp>
      </p:grpSp>
      <p:grpSp>
        <p:nvGrpSpPr>
          <p:cNvPr id="5" name="task"/>
          <p:cNvGrpSpPr/>
          <p:nvPr/>
        </p:nvGrpSpPr>
        <p:grpSpPr>
          <a:xfrm>
            <a:off x="559308" y="1712595"/>
            <a:ext cx="7508466" cy="835613"/>
            <a:chOff x="559308" y="1712595"/>
            <a:chExt cx="7508466" cy="835613"/>
          </a:xfrm>
        </p:grpSpPr>
        <p:sp>
          <p:nvSpPr>
            <p:cNvPr id="4" name="TextBox 4"/>
            <p:cNvSpPr txBox="1"/>
            <p:nvPr/>
          </p:nvSpPr>
          <p:spPr>
            <a:xfrm>
              <a:off x="559308" y="1712595"/>
              <a:ext cx="7508466" cy="8356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一条街道上，</a:t>
              </a:r>
              <a:r>
                <a:rPr lang="zh-CN" alt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在一些</a:t>
              </a: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位置存放包裹，坐标最大为 10⁹。</a:t>
              </a:r>
              <a:br>
                <a:rPr dirty="0"/>
              </a:b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要多次查询闭区间 [L,R] 中的包裹总数。</a:t>
              </a:r>
            </a:p>
          </p:txBody>
        </p:sp>
      </p:grpSp>
      <p:grpSp>
        <p:nvGrpSpPr>
          <p:cNvPr id="17" name="street"/>
          <p:cNvGrpSpPr/>
          <p:nvPr/>
        </p:nvGrpSpPr>
        <p:grpSpPr>
          <a:xfrm>
            <a:off x="1238250" y="2851785"/>
            <a:ext cx="9334500" cy="1397127"/>
            <a:chOff x="1238250" y="2851785"/>
            <a:chExt cx="9334500" cy="1397127"/>
          </a:xfrm>
        </p:grpSpPr>
        <p:sp>
          <p:nvSpPr>
            <p:cNvPr id="6" name="Line 6"/>
            <p:cNvSpPr/>
            <p:nvPr/>
          </p:nvSpPr>
          <p:spPr>
            <a:xfrm>
              <a:off x="1238250" y="3457575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2190750" y="33623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810250" y="33623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429750" y="33623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81784" y="2851785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10784" y="2851785"/>
              <a:ext cx="6271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16009" y="2851785"/>
              <a:ext cx="6271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54708" y="3779520"/>
              <a:ext cx="62209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 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74208" y="3779520"/>
              <a:ext cx="62209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 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3708" y="3779520"/>
              <a:ext cx="62209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 件</a:t>
              </a:r>
            </a:p>
          </p:txBody>
        </p:sp>
      </p:grpSp>
      <p:grpSp>
        <p:nvGrpSpPr>
          <p:cNvPr id="19" name="query"/>
          <p:cNvGrpSpPr/>
          <p:nvPr/>
        </p:nvGrpSpPr>
        <p:grpSpPr>
          <a:xfrm>
            <a:off x="557784" y="4899660"/>
            <a:ext cx="8151076" cy="528066"/>
            <a:chOff x="557784" y="4899660"/>
            <a:chExt cx="8151076" cy="528066"/>
          </a:xfrm>
        </p:grpSpPr>
        <p:sp>
          <p:nvSpPr>
            <p:cNvPr id="18" name="TextBox 18"/>
            <p:cNvSpPr txBox="1"/>
            <p:nvPr/>
          </p:nvSpPr>
          <p:spPr>
            <a:xfrm>
              <a:off x="557784" y="4899660"/>
              <a:ext cx="81510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查询 [50,10⁹]：取后两个位置，答案为 4+2 = 6。</a:t>
              </a:r>
            </a:p>
          </p:txBody>
        </p:sp>
      </p:grpSp>
      <p:grpSp>
        <p:nvGrpSpPr>
          <p:cNvPr id="21" name="challenge"/>
          <p:cNvGrpSpPr/>
          <p:nvPr/>
        </p:nvGrpSpPr>
        <p:grpSpPr>
          <a:xfrm>
            <a:off x="562356" y="5739765"/>
            <a:ext cx="7803261" cy="352044"/>
            <a:chOff x="562356" y="5739765"/>
            <a:chExt cx="7803261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562356" y="5739765"/>
              <a:ext cx="7803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65325"/>
                  </a:solidFill>
                  <a:latin typeface="+mn-lt"/>
                  <a:ea typeface="+mn-ea"/>
                  <a:cs typeface="+mn-cs"/>
                </a:rPr>
                <a:t>直接开 10⁹ 个 long long，仅元素就约 8 GB；能否只存实际出现的坐标？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7306056" cy="704088"/>
            <a:chOff x="553212" y="611505"/>
            <a:chExt cx="7306056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730605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离散化：三个坐标，压成三个位置</a:t>
              </a:r>
            </a:p>
          </p:txBody>
        </p:sp>
      </p:grpSp>
      <p:grpSp>
        <p:nvGrpSpPr>
          <p:cNvPr id="18" name="mapping"/>
          <p:cNvGrpSpPr/>
          <p:nvPr/>
        </p:nvGrpSpPr>
        <p:grpSpPr>
          <a:xfrm>
            <a:off x="559308" y="1784985"/>
            <a:ext cx="10870692" cy="2785491"/>
            <a:chOff x="559308" y="1784985"/>
            <a:chExt cx="10870692" cy="2785491"/>
          </a:xfrm>
        </p:grpSpPr>
        <p:sp>
          <p:nvSpPr>
            <p:cNvPr id="4" name="TextBox 4"/>
            <p:cNvSpPr txBox="1"/>
            <p:nvPr/>
          </p:nvSpPr>
          <p:spPr>
            <a:xfrm>
              <a:off x="559308" y="1817370"/>
              <a:ext cx="12682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原坐标 x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20034" y="1784985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87059" y="1784985"/>
              <a:ext cx="6271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520809" y="1784985"/>
              <a:ext cx="6271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10⁹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3495675" y="2324100"/>
              <a:ext cx="6286500" cy="428625"/>
            </a:xfrm>
            <a:custGeom>
              <a:avLst/>
              <a:gdLst/>
              <a:ahLst/>
              <a:cxnLst/>
              <a:rect l="l" t="t" r="r" b="b"/>
              <a:pathLst>
                <a:path w="6286500" h="428625">
                  <a:moveTo>
                    <a:pt x="0" y="0"/>
                  </a:moveTo>
                  <a:lnTo>
                    <a:pt x="0" y="428625"/>
                  </a:lnTo>
                  <a:moveTo>
                    <a:pt x="3048000" y="0"/>
                  </a:moveTo>
                  <a:lnTo>
                    <a:pt x="3048000" y="428625"/>
                  </a:lnTo>
                  <a:moveTo>
                    <a:pt x="6286500" y="0"/>
                  </a:moveTo>
                  <a:lnTo>
                    <a:pt x="6286500" y="428625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9308" y="31032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压缩下标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77362" y="2973705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5362" y="2973705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63862" y="2973705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371475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59308" y="4074795"/>
              <a:ext cx="12682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包裹数 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20034" y="4042410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68034" y="4042410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06534" y="4042410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0" name="meaning"/>
          <p:cNvGrpSpPr/>
          <p:nvPr/>
        </p:nvGrpSpPr>
        <p:grpSpPr>
          <a:xfrm>
            <a:off x="559308" y="5303520"/>
            <a:ext cx="7644384" cy="926592"/>
            <a:chOff x="559308" y="5303520"/>
            <a:chExt cx="7644384" cy="926592"/>
          </a:xfrm>
        </p:grpSpPr>
        <p:sp>
          <p:nvSpPr>
            <p:cNvPr id="19" name="TextBox 19"/>
            <p:cNvSpPr txBox="1"/>
            <p:nvPr/>
          </p:nvSpPr>
          <p:spPr>
            <a:xfrm>
              <a:off x="559308" y="5303520"/>
              <a:ext cx="76443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只压缩坐标，包裹数保持不变；相同坐标用同一个下标。</a:t>
              </a:r>
              <a:br>
                <a:rPr dirty="0"/>
              </a:b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保留大小与相等关系，</a:t>
              </a:r>
              <a:r>
                <a:rPr lang="zh-CN" sz="2400" b="1" dirty="0">
                  <a:solidFill>
                    <a:srgbClr val="C65325"/>
                  </a:solidFill>
                  <a:latin typeface="+mn-lt"/>
                  <a:ea typeface="+mn-ea"/>
                  <a:cs typeface="+mn-cs"/>
                </a:rPr>
                <a:t>不保留真实距离</a:t>
              </a: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6336792" cy="704088"/>
            <a:chOff x="553212" y="611505"/>
            <a:chExt cx="6336792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离散化：排序、去重、查排名</a:t>
              </a:r>
            </a:p>
          </p:txBody>
        </p:sp>
      </p:grpSp>
      <p:grpSp>
        <p:nvGrpSpPr>
          <p:cNvPr id="10" name="example"/>
          <p:cNvGrpSpPr/>
          <p:nvPr/>
        </p:nvGrpSpPr>
        <p:grpSpPr>
          <a:xfrm>
            <a:off x="557784" y="1824990"/>
            <a:ext cx="2979115" cy="3391674"/>
            <a:chOff x="557784" y="1824990"/>
            <a:chExt cx="2979115" cy="3391674"/>
          </a:xfrm>
        </p:grpSpPr>
        <p:sp>
          <p:nvSpPr>
            <p:cNvPr id="4" name="TextBox 4"/>
            <p:cNvSpPr txBox="1"/>
            <p:nvPr/>
          </p:nvSpPr>
          <p:spPr>
            <a:xfrm>
              <a:off x="562356" y="1824990"/>
              <a:ext cx="9874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有序坐标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784" y="2289810"/>
              <a:ext cx="24445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[2, 100, 10⁹]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2356" y="3101340"/>
              <a:ext cx="29745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读入位置 x=100，包裹 w=4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784" y="3604260"/>
              <a:ext cx="144498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rank = 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784" y="4175760"/>
              <a:ext cx="164489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b[2] += 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2356" y="4939665"/>
              <a:ext cx="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code"/>
          <p:cNvGrpSpPr/>
          <p:nvPr/>
        </p:nvGrpSpPr>
        <p:grpSpPr>
          <a:xfrm>
            <a:off x="4810125" y="1638300"/>
            <a:ext cx="6810375" cy="3714750"/>
            <a:chOff x="4810125" y="1638300"/>
            <a:chExt cx="6810375" cy="3714750"/>
          </a:xfrm>
        </p:grpSpPr>
        <p:sp>
          <p:nvSpPr>
            <p:cNvPr id="11" name="Rectangle 11"/>
            <p:cNvSpPr/>
            <p:nvPr/>
          </p:nvSpPr>
          <p:spPr>
            <a:xfrm>
              <a:off x="4810125" y="1638300"/>
              <a:ext cx="6810375" cy="3714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038344" y="1818322"/>
              <a:ext cx="6379933" cy="26388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vector&lt;long long&gt; xs = coords;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sort(xs.begin(), xs.end());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xs.erase(unique(xs.begin(), xs.end()),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     xs.end());</a:t>
              </a:r>
            </a:p>
            <a:p>
              <a:pPr algn="l">
                <a:lnSpc>
                  <a:spcPts val="2775"/>
                </a:lnSpc>
                <a:spcBef>
                  <a:spcPts val="1125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int rank = lower_bound(xs.begin(),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xs.end(), x) - xs.begin() + 1;</a:t>
              </a:r>
              <a:br>
                <a:rPr dirty="0"/>
              </a:b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b[rank] += w;</a:t>
              </a:r>
            </a:p>
          </p:txBody>
        </p:sp>
      </p:grpSp>
      <p:grpSp>
        <p:nvGrpSpPr>
          <p:cNvPr id="15" name="notes"/>
          <p:cNvGrpSpPr/>
          <p:nvPr/>
        </p:nvGrpSpPr>
        <p:grpSpPr>
          <a:xfrm>
            <a:off x="562356" y="5758815"/>
            <a:ext cx="4167808" cy="276999"/>
            <a:chOff x="562356" y="5758815"/>
            <a:chExt cx="4167808" cy="276999"/>
          </a:xfrm>
        </p:grpSpPr>
        <p:sp>
          <p:nvSpPr>
            <p:cNvPr id="14" name="TextBox 14"/>
            <p:cNvSpPr txBox="1"/>
            <p:nvPr/>
          </p:nvSpPr>
          <p:spPr>
            <a:xfrm>
              <a:off x="562356" y="5758815"/>
              <a:ext cx="41678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unique 返回逻辑末尾，erase 缩小容器。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899267" y="6397942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 / 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7790688" cy="704088"/>
            <a:chOff x="553212" y="611505"/>
            <a:chExt cx="7790688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77906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回到问题：离散化后，用前缀和查询</a:t>
              </a:r>
            </a:p>
          </p:txBody>
        </p:sp>
      </p:grpSp>
      <p:grpSp>
        <p:nvGrpSpPr>
          <p:cNvPr id="10" name="demo"/>
          <p:cNvGrpSpPr/>
          <p:nvPr/>
        </p:nvGrpSpPr>
        <p:grpSpPr>
          <a:xfrm>
            <a:off x="557784" y="1786890"/>
            <a:ext cx="3887114" cy="3183636"/>
            <a:chOff x="557784" y="1786890"/>
            <a:chExt cx="3887114" cy="3183636"/>
          </a:xfrm>
        </p:grpSpPr>
        <p:sp>
          <p:nvSpPr>
            <p:cNvPr id="4" name="TextBox 4"/>
            <p:cNvSpPr txBox="1"/>
            <p:nvPr/>
          </p:nvSpPr>
          <p:spPr>
            <a:xfrm>
              <a:off x="562356" y="1786890"/>
              <a:ext cx="21749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xs = [2, 100, 10⁹]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2188845"/>
              <a:ext cx="201137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= [3, 4, 2]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9308" y="2712720"/>
              <a:ext cx="26017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 = [0, 3, 7, 9]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2356" y="3396615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查询 [50,10⁹]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9308" y="3817620"/>
              <a:ext cx="28837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left = 1，right = 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4442460"/>
              <a:ext cx="38871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S[3] − S[1] = 9−3 = 6</a:t>
              </a:r>
            </a:p>
          </p:txBody>
        </p:sp>
      </p:grpSp>
      <p:grpSp>
        <p:nvGrpSpPr>
          <p:cNvPr id="13" name="code"/>
          <p:cNvGrpSpPr/>
          <p:nvPr/>
        </p:nvGrpSpPr>
        <p:grpSpPr>
          <a:xfrm>
            <a:off x="5286375" y="1647825"/>
            <a:ext cx="6334125" cy="3295650"/>
            <a:chOff x="5286375" y="1647825"/>
            <a:chExt cx="6334125" cy="3295650"/>
          </a:xfrm>
        </p:grpSpPr>
        <p:sp>
          <p:nvSpPr>
            <p:cNvPr id="11" name="Rectangle 11"/>
            <p:cNvSpPr/>
            <p:nvPr/>
          </p:nvSpPr>
          <p:spPr>
            <a:xfrm>
              <a:off x="5286375" y="1647825"/>
              <a:ext cx="6334125" cy="3295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4594" y="1827848"/>
              <a:ext cx="4787074" cy="2191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int left = lower_bound(xs.begin(),</a:t>
              </a:r>
              <a:br/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xs.end(), L) - xs.begin();</a:t>
              </a:r>
            </a:p>
            <a:p>
              <a:pPr algn="l">
                <a:lnSpc>
                  <a:spcPts val="2775"/>
                </a:lnSpc>
                <a:spcBef>
                  <a:spcPts val="1575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int right = upper_bound(xs.begin(),</a:t>
              </a:r>
              <a:br/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    xs.end(), R) - xs.begin();</a:t>
              </a:r>
            </a:p>
            <a:p>
              <a:pPr algn="l">
                <a:lnSpc>
                  <a:spcPts val="2775"/>
                </a:lnSpc>
                <a:spcBef>
                  <a:spcPts val="1575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long long ans = S[right] - S[left];</a:t>
              </a:r>
            </a:p>
          </p:txBody>
        </p:sp>
      </p:grpSp>
      <p:grpSp>
        <p:nvGrpSpPr>
          <p:cNvPr id="15" name="why"/>
          <p:cNvGrpSpPr/>
          <p:nvPr/>
        </p:nvGrpSpPr>
        <p:grpSpPr>
          <a:xfrm>
            <a:off x="562356" y="5368290"/>
            <a:ext cx="7184898" cy="742569"/>
            <a:chOff x="562356" y="5368290"/>
            <a:chExt cx="7184898" cy="742569"/>
          </a:xfrm>
        </p:grpSpPr>
        <p:sp>
          <p:nvSpPr>
            <p:cNvPr id="14" name="TextBox 14"/>
            <p:cNvSpPr txBox="1"/>
            <p:nvPr/>
          </p:nvSpPr>
          <p:spPr>
            <a:xfrm>
              <a:off x="562356" y="5368290"/>
              <a:ext cx="7184898" cy="7425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left 是“小于 L”的坐标个数，right 是“不大于 R”的坐标个数。</a:t>
              </a:r>
              <a:br>
                <a:rPr dirty="0"/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保留前 right 项，减去前 left 项；端点 50 没出现过，也能正确查询。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899267" y="6397942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17 / 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53212" y="611505"/>
            <a:ext cx="4882896" cy="704088"/>
            <a:chOff x="553212" y="611505"/>
            <a:chExt cx="4882896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53212" y="611505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总结：按任务选择工具</a:t>
              </a:r>
            </a:p>
          </p:txBody>
        </p:sp>
      </p:grpSp>
      <p:grpSp>
        <p:nvGrpSpPr>
          <p:cNvPr id="7" name="prefix"/>
          <p:cNvGrpSpPr/>
          <p:nvPr/>
        </p:nvGrpSpPr>
        <p:grpSpPr>
          <a:xfrm>
            <a:off x="557784" y="1765935"/>
            <a:ext cx="8079867" cy="849249"/>
            <a:chOff x="557784" y="1765935"/>
            <a:chExt cx="8079867" cy="849249"/>
          </a:xfrm>
        </p:grpSpPr>
        <p:sp>
          <p:nvSpPr>
            <p:cNvPr id="4" name="TextBox 4"/>
            <p:cNvSpPr txBox="1"/>
            <p:nvPr/>
          </p:nvSpPr>
          <p:spPr>
            <a:xfrm>
              <a:off x="557784" y="1765935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前缀和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797683" y="1798320"/>
              <a:ext cx="58399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原数据固定，反复查询区间和或矩形和。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800731" y="2263140"/>
              <a:ext cx="35284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一维 O(n+q)，二维 O(nm+q)。</a:t>
              </a:r>
            </a:p>
          </p:txBody>
        </p:sp>
      </p:grpSp>
      <p:grpSp>
        <p:nvGrpSpPr>
          <p:cNvPr id="11" name="difference"/>
          <p:cNvGrpSpPr/>
          <p:nvPr/>
        </p:nvGrpSpPr>
        <p:grpSpPr>
          <a:xfrm>
            <a:off x="557784" y="3466924"/>
            <a:ext cx="8319135" cy="849249"/>
            <a:chOff x="557784" y="2861310"/>
            <a:chExt cx="8319135" cy="849249"/>
          </a:xfrm>
        </p:grpSpPr>
        <p:sp>
          <p:nvSpPr>
            <p:cNvPr id="8" name="TextBox 8"/>
            <p:cNvSpPr txBox="1"/>
            <p:nvPr/>
          </p:nvSpPr>
          <p:spPr>
            <a:xfrm>
              <a:off x="557784" y="2861310"/>
              <a:ext cx="7543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差分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97683" y="2893695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记录边界变化，对差分求前缀和还原。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00731" y="33585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一维求一维前缀和，二维求二维前缀和，总复杂度同上。</a:t>
              </a:r>
            </a:p>
          </p:txBody>
        </p:sp>
      </p:grpSp>
      <p:grpSp>
        <p:nvGrpSpPr>
          <p:cNvPr id="15" name="discrete"/>
          <p:cNvGrpSpPr/>
          <p:nvPr/>
        </p:nvGrpSpPr>
        <p:grpSpPr>
          <a:xfrm>
            <a:off x="553212" y="5222777"/>
            <a:ext cx="8079867" cy="774204"/>
            <a:chOff x="557784" y="3956685"/>
            <a:chExt cx="8079867" cy="774204"/>
          </a:xfrm>
        </p:grpSpPr>
        <p:sp>
          <p:nvSpPr>
            <p:cNvPr id="12" name="TextBox 12"/>
            <p:cNvSpPr txBox="1"/>
            <p:nvPr/>
          </p:nvSpPr>
          <p:spPr>
            <a:xfrm>
              <a:off x="557784" y="3956685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离散化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97683" y="3989070"/>
              <a:ext cx="58399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值很大但只关心大小关系，用排名压缩。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00731" y="4453890"/>
              <a:ext cx="10259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freshman-prefix-difference">
  <a:themeElements>
    <a:clrScheme name="freshman-prefix-difference">
      <a:dk1>
        <a:srgbClr val="182B3A"/>
      </a:dk1>
      <a:lt1>
        <a:srgbClr val="F7F9FC"/>
      </a:lt1>
      <a:dk2>
        <a:srgbClr val="1F497D"/>
      </a:dk2>
      <a:lt2>
        <a:srgbClr val="E8EEF7"/>
      </a:lt2>
      <a:accent1>
        <a:srgbClr val="132D46"/>
      </a:accent1>
      <a:accent2>
        <a:srgbClr val="245CDA"/>
      </a:accent2>
      <a:accent3>
        <a:srgbClr val="007F78"/>
      </a:accent3>
      <a:accent4>
        <a:srgbClr val="132D46"/>
      </a:accent4>
      <a:accent5>
        <a:srgbClr val="586B7B"/>
      </a:accent5>
      <a:accent6>
        <a:srgbClr val="C9D4E2"/>
      </a:accent6>
      <a:hlink>
        <a:srgbClr val="245CDA"/>
      </a:hlink>
      <a:folHlink>
        <a:srgbClr val="007F78"/>
      </a:folHlink>
    </a:clrScheme>
    <a:fontScheme name="freshman-prefix-differenc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shman-prefix-differen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reshman-prefix-difference">
  <a:themeElements>
    <a:clrScheme name="freshman-prefix-difference">
      <a:dk1>
        <a:srgbClr val="182B3A"/>
      </a:dk1>
      <a:lt1>
        <a:srgbClr val="F7F9FC"/>
      </a:lt1>
      <a:dk2>
        <a:srgbClr val="1F497D"/>
      </a:dk2>
      <a:lt2>
        <a:srgbClr val="E8EEF7"/>
      </a:lt2>
      <a:accent1>
        <a:srgbClr val="132D46"/>
      </a:accent1>
      <a:accent2>
        <a:srgbClr val="245CDA"/>
      </a:accent2>
      <a:accent3>
        <a:srgbClr val="007F78"/>
      </a:accent3>
      <a:accent4>
        <a:srgbClr val="132D46"/>
      </a:accent4>
      <a:accent5>
        <a:srgbClr val="586B7B"/>
      </a:accent5>
      <a:accent6>
        <a:srgbClr val="C9D4E2"/>
      </a:accent6>
      <a:hlink>
        <a:srgbClr val="245CDA"/>
      </a:hlink>
      <a:folHlink>
        <a:srgbClr val="007F78"/>
      </a:folHlink>
    </a:clrScheme>
    <a:fontScheme name="freshman-prefix-differenc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shman-prefix-differen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2705</Words>
  <Application>Microsoft Office PowerPoint</Application>
  <PresentationFormat>宽屏</PresentationFormat>
  <Paragraphs>278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Consolas</vt:lpstr>
      <vt:lpstr>freshman-prefix-difference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昊 张</cp:lastModifiedBy>
  <cp:revision>7</cp:revision>
  <dcterms:created xsi:type="dcterms:W3CDTF">2026-09-21T13:57:37Z</dcterms:created>
  <dcterms:modified xsi:type="dcterms:W3CDTF">2026-09-27T04:34:37Z</dcterms:modified>
  <cp:category/>
  <cp:contentStatus/>
  <dc:language>zh-CN</dc:language>
</cp:coreProperties>
</file>