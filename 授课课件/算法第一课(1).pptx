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326" r:id="rId4"/>
    <p:sldId id="310" r:id="rId6"/>
    <p:sldId id="338" r:id="rId7"/>
    <p:sldId id="345" r:id="rId8"/>
    <p:sldId id="346" r:id="rId9"/>
    <p:sldId id="339" r:id="rId10"/>
    <p:sldId id="347" r:id="rId11"/>
    <p:sldId id="348" r:id="rId12"/>
    <p:sldId id="303" r:id="rId13"/>
    <p:sldId id="267" r:id="rId14"/>
    <p:sldId id="277" r:id="rId15"/>
    <p:sldId id="306" r:id="rId16"/>
    <p:sldId id="307" r:id="rId17"/>
    <p:sldId id="332" r:id="rId18"/>
    <p:sldId id="349" r:id="rId19"/>
    <p:sldId id="293" r:id="rId20"/>
    <p:sldId id="344" r:id="rId21"/>
    <p:sldId id="29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2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5"/>
    <p:restoredTop sz="94666"/>
  </p:normalViewPr>
  <p:slideViewPr>
    <p:cSldViewPr snapToGrid="0" snapToObjects="1" showGuides="1">
      <p:cViewPr varScale="1">
        <p:scale>
          <a:sx n="121" d="100"/>
          <a:sy n="121" d="100"/>
        </p:scale>
        <p:origin x="192" y="616"/>
      </p:cViewPr>
      <p:guideLst>
        <p:guide orient="horz" pos="2128"/>
        <p:guide pos="2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门课的核心目标是什么呢？不仅仅是传授知识，更重要的是激发大家对算法的好奇心和兴趣。因为只有当你对一件事情产生好奇，才会主动去尝试；在尝试的过程中，才会遇到问题，进而去主动检索资料、请教他人；只有当你主动去探索，真正的学习过程才开始。为了实现这个目标，我们的课程将涵盖四个主要部分：首先是编程基础与环境准备，让你能顺利开始写代码；然后是算法的定义与核心特征，帮你建立正确的认知；接着，我们会深入解析主流的刷题平台，告诉你去哪里练习；最后，我们会分享高效的学习路径与策略，让你的学习事半功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C和C++的历史简单了解就行，不用记年份。重点是理解C++是C的超集，兼容C的语法，同时增加了面向对象等特性。算法竞赛用C++主要是因为快、库全、资料多。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这是每个程序员写的第一个程序。逐行解释：#include是引入头文件，bits/stdc++.h是竞赛常用的万能头；using namespace std是用标准命名空间；main是主函数入口；cout是输出。大家课后一定要亲手敲一遍，不要复制粘贴，形成肌肉记忆。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今天的重点内容之一：如何选择刷题平台。这里我列出了六个主流平台的横向对比。力扣是面试求职的首选，题目质量高，社区活跃。洛谷非常适合算法竞赛入门，中文社区对新手友好。Codeforces和AtCoder是顶级的竞技编程平台，比赛多，题目质量高，非常适合提升竞赛水平。学校OJ，比如POJ和HDU，收录了大量经典的ACM真题，是巩固基础的好地方。而VJ则是一个刷题聚合器，可以让你在一个平台上刷遍所有OJ的题目。大家可以根据自己的目标来选择合适的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是这个时代最重要的工具，但用不好反而会害了自己。最忌讳的就是遇到题直接抄AI代码，AC了就觉得自己会了，这是自欺欺人。正确的做法是先自己想，想不出来再问AI具体的点，把AI当助手而不是替身。大一上学期的核心是打基础，代码一定要亲手敲，不要复制粘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7204" y="1234440"/>
            <a:ext cx="2194560" cy="2194560"/>
          </a:xfrm>
          <a:prstGeom prst="roundRect">
            <a:avLst>
              <a:gd name="adj" fmla="val 6000"/>
            </a:avLst>
          </a:prstGeom>
          <a:solidFill>
            <a:srgbClr val="6EC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7244" y="1783080"/>
            <a:ext cx="2194560" cy="2194560"/>
          </a:xfrm>
          <a:prstGeom prst="roundRect">
            <a:avLst>
              <a:gd name="adj" fmla="val 6000"/>
            </a:avLst>
          </a:prstGeom>
          <a:solidFill>
            <a:srgbClr val="FFB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7284" y="2578608"/>
            <a:ext cx="2194560" cy="2194560"/>
          </a:xfrm>
          <a:prstGeom prst="roundRect">
            <a:avLst>
              <a:gd name="adj" fmla="val 6000"/>
            </a:avLst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7863840" cy="1045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5800" b="1" dirty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新生培训</a:t>
            </a:r>
            <a:r>
              <a:rPr sz="5800" b="1" i="0" dirty="0" err="1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第一课</a:t>
            </a:r>
            <a:endParaRPr sz="5800" b="1" i="0" dirty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4041648"/>
            <a:ext cx="2926080" cy="41148"/>
          </a:xfrm>
          <a:prstGeom prst="rect">
            <a:avLst/>
          </a:prstGeom>
          <a:solidFill>
            <a:srgbClr val="B4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31596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主讲人</a:t>
            </a:r>
            <a:endParaRPr sz="1300" b="0" i="0">
              <a:solidFill>
                <a:srgbClr val="6E6779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1408" y="4315968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谷欣鸽</a:t>
            </a:r>
            <a:endParaRPr sz="145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473659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专业届别</a:t>
            </a:r>
            <a:endParaRPr sz="1300" b="0" i="0">
              <a:solidFill>
                <a:srgbClr val="6E6779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21408" y="4736592"/>
            <a:ext cx="6400800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2023 </a:t>
            </a:r>
            <a:r>
              <a:rPr lang="zh-CN" sz="14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级</a:t>
            </a:r>
            <a:r>
              <a:rPr sz="14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计算机科学与技术</a:t>
            </a:r>
            <a:endParaRPr sz="145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81590" y="8212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4" name="TextBox 11"/>
          <p:cNvSpPr txBox="1"/>
          <p:nvPr/>
        </p:nvSpPr>
        <p:spPr>
          <a:xfrm>
            <a:off x="658495" y="5238115"/>
            <a:ext cx="2660015" cy="455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sz="13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腾讯</a:t>
            </a:r>
            <a:r>
              <a:rPr lang="en-US" altLang="zh-CN" sz="13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pcg</a:t>
            </a:r>
            <a:r>
              <a:rPr lang="zh-CN" altLang="en-US" sz="13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事业群</a:t>
            </a:r>
            <a:r>
              <a:rPr lang="en-US" altLang="zh-CN" sz="13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4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客户端开发</a:t>
            </a:r>
            <a:endParaRPr sz="145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419100"/>
            <a:ext cx="108712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1200" b="1" i="0" u="none" strike="noStrike">
                <a:solidFill>
                  <a:srgbClr val="5F3DC4"/>
                </a:solidFill>
                <a:latin typeface="Segoe UI" panose="020B0502040204020203"/>
                <a:ea typeface="Segoe UI" panose="020B0502040204020203"/>
                <a:cs typeface="Segoe UI" panose="020B0502040204020203"/>
                <a:sym typeface="Segoe UI" panose="020B0502040204020203"/>
              </a:rPr>
              <a:t>PART 01 ·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1" i="0" u="none" strike="noStrike">
                <a:solidFill>
                  <a:srgbClr val="5F3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课程导览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400" y="660400"/>
            <a:ext cx="1087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2700" b="1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课程目标与内容概览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" y="1219200"/>
            <a:ext cx="469900" cy="381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60400" y="1574800"/>
            <a:ext cx="108712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3000" b="1" i="0" u="none" strike="noStrike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激发兴趣，开启算法学习之旅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2184400"/>
            <a:ext cx="108712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1500" b="0" i="0" u="none" strike="noStrike">
                <a:solidFill>
                  <a:srgbClr val="5F3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算法入门指南 | 从理论到实践的完整进阶路径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2616200"/>
            <a:ext cx="101600" cy="2387600"/>
          </a:xfrm>
          <a:prstGeom prst="roundRect">
            <a:avLst>
              <a:gd name="adj" fmla="val 0"/>
            </a:avLst>
          </a:prstGeom>
          <a:solidFill>
            <a:srgbClr val="0B8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832100"/>
            <a:ext cx="10871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1500" b="1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核心内容模块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1"/>
            </p:custDataLst>
          </p:nvPr>
        </p:nvSpPr>
        <p:spPr>
          <a:xfrm>
            <a:off x="1016000" y="3238500"/>
            <a:ext cx="2159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2"/>
            </p:custDataLst>
          </p:nvPr>
        </p:nvSpPr>
        <p:spPr>
          <a:xfrm>
            <a:off x="1270000" y="32131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17000"/>
              </a:lnSpc>
              <a:spcAft>
                <a:spcPts val="600"/>
              </a:spcAft>
              <a:defRPr/>
            </a:pPr>
            <a:r>
              <a:rPr lang="en-US" sz="1400" b="0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编程基础与环境准备：快速搭建开发环境，掌握核心</a:t>
            </a:r>
            <a:r>
              <a:rPr lang="zh-CN" altLang="en-US" sz="1400" b="0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基础</a:t>
            </a:r>
            <a:r>
              <a:rPr lang="en-US" sz="1400" b="0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语法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1016000" y="3644900"/>
            <a:ext cx="2159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4"/>
            </p:custDataLst>
          </p:nvPr>
        </p:nvSpPr>
        <p:spPr>
          <a:xfrm>
            <a:off x="1270000" y="3619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17000"/>
              </a:lnSpc>
              <a:spcAft>
                <a:spcPts val="600"/>
              </a:spcAft>
              <a:defRPr/>
            </a:pPr>
            <a:r>
              <a:rPr lang="en-US" sz="1400" b="0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算法的定义与核心特征：理解算法本质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1016000" y="4038600"/>
            <a:ext cx="2159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6"/>
            </p:custDataLst>
          </p:nvPr>
        </p:nvSpPr>
        <p:spPr>
          <a:xfrm>
            <a:off x="1270000" y="40513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17000"/>
              </a:lnSpc>
              <a:spcAft>
                <a:spcPts val="600"/>
              </a:spcAft>
              <a:defRPr/>
            </a:pPr>
            <a:r>
              <a:rPr lang="en-US" sz="1400" b="0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主流刷题平台深度解析：剖析</a:t>
            </a:r>
            <a:r>
              <a:rPr lang="zh-CN" altLang="en-US" sz="1400" b="0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刷题网站，</a:t>
            </a:r>
            <a:r>
              <a:rPr lang="en-US" sz="1400" b="0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掌握刷题策略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1016000" y="4445000"/>
            <a:ext cx="2159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5F3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8"/>
            </p:custDataLst>
          </p:nvPr>
        </p:nvSpPr>
        <p:spPr>
          <a:xfrm>
            <a:off x="1270000" y="4445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17000"/>
              </a:lnSpc>
              <a:spcAft>
                <a:spcPts val="600"/>
              </a:spcAft>
              <a:defRPr/>
            </a:pPr>
            <a:r>
              <a:rPr lang="en-US" sz="1400" b="0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高效学习路径与策略：制定科学的学习计划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590800"/>
            <a:ext cx="5181600" cy="508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75400" y="2781300"/>
            <a:ext cx="5334000" cy="119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 defTabSz="457200">
              <a:lnSpc>
                <a:spcPct val="133000"/>
              </a:lnSpc>
              <a:spcAft>
                <a:spcPts val="1600"/>
              </a:spcAft>
              <a:defRPr/>
            </a:pPr>
            <a:r>
              <a:rPr lang="en-US" sz="1500" b="0" i="0" u="none" strike="noStrike">
                <a:solidFill>
                  <a:srgbClr val="645D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课程核心宗旨</a:t>
            </a:r>
            <a:endParaRPr lang="en-US" sz="1100"/>
          </a:p>
          <a:p>
            <a:pPr marL="0" indent="0" algn="ctr" defTabSz="457200">
              <a:lnSpc>
                <a:spcPct val="133000"/>
              </a:lnSpc>
              <a:spcAft>
                <a:spcPts val="1600"/>
              </a:spcAft>
            </a:pPr>
            <a:r>
              <a:rPr lang="en-US" sz="3600" b="1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建立对算法的好奇与兴趣</a:t>
            </a:r>
            <a:endParaRPr lang="en-US" sz="3600" b="1" i="0" u="none" strike="noStrike">
              <a:solidFill>
                <a:srgbClr val="2C2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02 · 课程定位</a:t>
            </a:r>
            <a:endParaRPr sz="1150" b="1" i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这学期要学什么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74959" cy="243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 err="1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内容按四个阶段推进</a:t>
            </a:r>
            <a:r>
              <a:rPr sz="1350" b="0" i="0" dirty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1350" b="0" i="0" dirty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8368" y="1883664"/>
            <a:ext cx="10874959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45720" cy="822960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255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阶段一 · 入门</a:t>
            </a:r>
            <a:endParaRPr sz="1400" b="1" i="0">
              <a:solidFill>
                <a:srgbClr val="C2255C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2340864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第 1 – 4 周</a:t>
            </a:r>
            <a:endParaRPr sz="120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58768" y="2048256"/>
            <a:ext cx="73087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编译环境与 OJ 使用、基本输入输出、分支与循环、数组、复杂度、函数与结构体、C++ 容器与常用库函数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368" y="2834640"/>
            <a:ext cx="10874959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B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34640"/>
            <a:ext cx="45720" cy="822960"/>
          </a:xfrm>
          <a:prstGeom prst="rect">
            <a:avLst/>
          </a:prstGeom>
          <a:solidFill>
            <a:srgbClr val="FFB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4436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9480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阶段二 · 基础算法</a:t>
            </a:r>
            <a:endParaRPr sz="1400" b="1" i="0">
              <a:solidFill>
                <a:srgbClr val="D9480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2688" y="3291840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第 5 – 8 周</a:t>
            </a:r>
            <a:endParaRPr sz="120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58768" y="2999232"/>
            <a:ext cx="73087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离散化、前缀和、差分、递归与递推、分治、双指针、模拟与枚举、贪心、二分、三分、倍增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368" y="3785616"/>
            <a:ext cx="10874959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D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785616"/>
            <a:ext cx="45720" cy="822960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9534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A660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阶段三 · 数据结构与图论</a:t>
            </a:r>
            <a:endParaRPr sz="1400" b="1" i="0">
              <a:solidFill>
                <a:srgbClr val="8A660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4242816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第 9 – 13 周</a:t>
            </a:r>
            <a:endParaRPr sz="120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58768" y="3950208"/>
            <a:ext cx="73087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搜索（BFS / DFS）、数论基础、树与图的存储及遍历、拓扑排序、并查集、最小生成树、最短路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8368" y="4736592"/>
            <a:ext cx="10874959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5F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36592"/>
            <a:ext cx="45720" cy="822960"/>
          </a:xfrm>
          <a:prstGeom prst="rect">
            <a:avLst/>
          </a:prstGeom>
          <a:solidFill>
            <a:srgbClr val="5F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463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阶段四 · 进阶专题</a:t>
            </a:r>
            <a:endParaRPr sz="14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2688" y="519379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第 14 – 15 周</a:t>
            </a:r>
            <a:endParaRPr sz="120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58768" y="4901184"/>
            <a:ext cx="73087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线性动态规划与背包问题、字符串哈希与 KMP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 与 C++：从哪里来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1016032" y="1200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24000"/>
            <a:ext cx="4826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CDD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71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语言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1590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1972 年诞生于贝尔实验室，Dennis Ritchie 设计。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继承了 B 语言的思想，加入了数据类型等特性。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面向过程的程序设计语言，执行效率高，是很多操作系统和底层软件的基础。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4826000" cy="2540000"/>
          </a:xfrm>
          <a:prstGeom prst="roundRect">
            <a:avLst>
              <a:gd name="adj" fmla="val 400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71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C++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159000"/>
            <a:ext cx="431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1979 年由本贾尼·斯特劳斯特卢普在 AT&amp;T 贝尔实验室研发。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 C 语言扩展升级而来，是 C 的超集——C 代码基本可以直接在 C++ 里运行。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既可以写过程化程序，也支持面向对象（继承、多态），是算法竞赛的主流语言。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443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DD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699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为什么算法竞赛用 C++？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270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执行效率高——同样的算法，C++ 通常比 Python 快几十倍；标准库丰富——排序、数据结构都有现成的；生态成熟——几乎所有 OJ 都支持，题解和资料最多。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02 · 环境准备</a:t>
            </a:r>
            <a:endParaRPr sz="1150" b="1" i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什么是编译器与 IDE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03 / 22</a:t>
            </a:r>
            <a:endParaRPr sz="1000" b="0" i="0">
              <a:solidFill>
                <a:srgbClr val="6E6779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554480"/>
            <a:ext cx="10874959" cy="566928"/>
          </a:xfrm>
          <a:prstGeom prst="rect">
            <a:avLst/>
          </a:prstGeom>
          <a:noFill/>
          <a:ln w="12700">
            <a:solidFill>
              <a:srgbClr val="6EC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什么是程序？按一定顺序组织起来的指令集合。计算机只认二进制，于是需要一个“翻译”来把你写的代码变成机器能跳读的语言。</a:t>
            </a:r>
            <a:endParaRPr sz="135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2468880"/>
            <a:ext cx="2490139" cy="713232"/>
          </a:xfrm>
          <a:prstGeom prst="rect">
            <a:avLst/>
          </a:prstGeom>
          <a:noFill/>
          <a:ln w="17780">
            <a:solidFill>
              <a:srgbClr val="C22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24901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255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源代码</a:t>
            </a:r>
            <a:endParaRPr sz="1400" b="1" i="0">
              <a:solidFill>
                <a:srgbClr val="C2255C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2852928"/>
            <a:ext cx="24901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C2A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main.cpp</a:t>
            </a:r>
            <a:endParaRPr sz="1150" b="0" i="0">
              <a:solidFill>
                <a:srgbClr val="2C2A3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203371" y="2724912"/>
            <a:ext cx="329184" cy="201168"/>
          </a:xfrm>
          <a:prstGeom prst="rightArrow">
            <a:avLst/>
          </a:prstGeom>
          <a:solidFill>
            <a:srgbClr val="E6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1115" y="2468880"/>
            <a:ext cx="2490139" cy="713232"/>
          </a:xfrm>
          <a:prstGeom prst="rect">
            <a:avLst/>
          </a:prstGeom>
          <a:noFill/>
          <a:ln w="1778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1115" y="2560320"/>
            <a:ext cx="24901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9480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编译器</a:t>
            </a:r>
            <a:endParaRPr sz="1400" b="1" i="0">
              <a:solidFill>
                <a:srgbClr val="D9480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115" y="2852928"/>
            <a:ext cx="24901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C2A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g++ / clang</a:t>
            </a:r>
            <a:endParaRPr sz="1150" b="0" i="0">
              <a:solidFill>
                <a:srgbClr val="2C2A3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986119" y="2724912"/>
            <a:ext cx="329184" cy="201168"/>
          </a:xfrm>
          <a:prstGeom prst="rightArrow">
            <a:avLst/>
          </a:prstGeom>
          <a:solidFill>
            <a:srgbClr val="E6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863" y="2468880"/>
            <a:ext cx="2490139" cy="713232"/>
          </a:xfrm>
          <a:prstGeom prst="rect">
            <a:avLst/>
          </a:prstGeom>
          <a:noFill/>
          <a:ln w="17780">
            <a:solidFill>
              <a:srgbClr val="8A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3863" y="2560320"/>
            <a:ext cx="24901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A660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可执行文件</a:t>
            </a:r>
            <a:endParaRPr sz="1400" b="1" i="0">
              <a:solidFill>
                <a:srgbClr val="8A660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23863" y="2852928"/>
            <a:ext cx="24901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C2A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a.out</a:t>
            </a:r>
            <a:endParaRPr sz="1150" b="0" i="0">
              <a:solidFill>
                <a:srgbClr val="2C2A3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8768867" y="2724912"/>
            <a:ext cx="329184" cy="201168"/>
          </a:xfrm>
          <a:prstGeom prst="rightArrow">
            <a:avLst/>
          </a:prstGeom>
          <a:solidFill>
            <a:srgbClr val="E6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611" y="2468880"/>
            <a:ext cx="2490139" cy="713232"/>
          </a:xfrm>
          <a:prstGeom prst="rect">
            <a:avLst/>
          </a:prstGeom>
          <a:noFill/>
          <a:ln w="17780">
            <a:solidFill>
              <a:srgbClr val="0B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611" y="2560320"/>
            <a:ext cx="24901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运行</a:t>
            </a:r>
            <a:endParaRPr sz="14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06611" y="2852928"/>
            <a:ext cx="24901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C2A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输出结果</a:t>
            </a:r>
            <a:endParaRPr sz="1150" b="0" i="0">
              <a:solidFill>
                <a:srgbClr val="2C2A3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8368" y="3456432"/>
            <a:ext cx="10874959" cy="566928"/>
          </a:xfrm>
          <a:prstGeom prst="rect">
            <a:avLst/>
          </a:prstGeom>
          <a:noFill/>
          <a:ln w="12700">
            <a:solidFill>
              <a:srgbClr val="6EC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584448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IDE = 代码编辑器 + 编译器 + 调试器 + 图形界面。一键编译运行，不用手打一堆命令。</a:t>
            </a:r>
            <a:endParaRPr sz="135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368" y="4206240"/>
            <a:ext cx="10874959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1"/>
            </p:custDataLst>
          </p:nvPr>
        </p:nvSpPr>
        <p:spPr>
          <a:xfrm>
            <a:off x="658368" y="4206240"/>
            <a:ext cx="45720" cy="566928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"/>
            </p:custDataLst>
          </p:nvPr>
        </p:nvSpPr>
        <p:spPr>
          <a:xfrm>
            <a:off x="932688" y="427939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2255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编译器</a:t>
            </a:r>
            <a:endParaRPr sz="1350" b="1" i="0">
              <a:solidFill>
                <a:srgbClr val="C2255C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3"/>
            </p:custDataLst>
          </p:nvPr>
        </p:nvSpPr>
        <p:spPr>
          <a:xfrm>
            <a:off x="2441448" y="4279392"/>
            <a:ext cx="86803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把 C/C++ 语言翻译成计算机能跳读的二进制指令。</a:t>
            </a:r>
            <a:endParaRPr sz="125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4"/>
            </p:custDataLst>
          </p:nvPr>
        </p:nvSpPr>
        <p:spPr>
          <a:xfrm>
            <a:off x="2441448" y="4517136"/>
            <a:ext cx="86803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g++ / clang / MSVC 是常见的编译器。</a:t>
            </a:r>
            <a:endParaRPr sz="110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8368" y="4828031"/>
            <a:ext cx="10874959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1" name="Rectangle 30"/>
          <p:cNvSpPr/>
          <p:nvPr>
            <p:custDataLst>
              <p:tags r:id="rId5"/>
            </p:custDataLst>
          </p:nvPr>
        </p:nvSpPr>
        <p:spPr>
          <a:xfrm>
            <a:off x="658368" y="4828031"/>
            <a:ext cx="45720" cy="566928"/>
          </a:xfrm>
          <a:prstGeom prst="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6"/>
            </p:custDataLst>
          </p:nvPr>
        </p:nvSpPr>
        <p:spPr>
          <a:xfrm>
            <a:off x="932688" y="4901183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D9480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IDE</a:t>
            </a:r>
            <a:endParaRPr sz="1350" b="1" i="0">
              <a:solidFill>
                <a:srgbClr val="D9480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7"/>
            </p:custDataLst>
          </p:nvPr>
        </p:nvSpPr>
        <p:spPr>
          <a:xfrm>
            <a:off x="2441448" y="4901183"/>
            <a:ext cx="86803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集成开发环境，封装了编辑、编译、调试三套工具。</a:t>
            </a:r>
            <a:endParaRPr sz="125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8"/>
            </p:custDataLst>
          </p:nvPr>
        </p:nvSpPr>
        <p:spPr>
          <a:xfrm>
            <a:off x="2441448" y="5138927"/>
            <a:ext cx="86803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Dev-C++ / Code::Blocks / VS Code / CLion / VS</a:t>
            </a:r>
            <a:endParaRPr sz="110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58368" y="5449823"/>
            <a:ext cx="10874959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6" name="Rectangle 35"/>
          <p:cNvSpPr/>
          <p:nvPr>
            <p:custDataLst>
              <p:tags r:id="rId9"/>
            </p:custDataLst>
          </p:nvPr>
        </p:nvSpPr>
        <p:spPr>
          <a:xfrm>
            <a:off x="658368" y="5449823"/>
            <a:ext cx="45720" cy="566928"/>
          </a:xfrm>
          <a:prstGeom prst="rect">
            <a:avLst/>
          </a:prstGeom>
          <a:solidFill>
            <a:srgbClr val="8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>
            <p:custDataLst>
              <p:tags r:id="rId10"/>
            </p:custDataLst>
          </p:nvPr>
        </p:nvSpPr>
        <p:spPr>
          <a:xfrm>
            <a:off x="932688" y="5522975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8A660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源文件</a:t>
            </a:r>
            <a:endParaRPr sz="1350" b="1" i="0">
              <a:solidFill>
                <a:srgbClr val="8A660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>
            <p:custDataLst>
              <p:tags r:id="rId11"/>
            </p:custDataLst>
          </p:nvPr>
        </p:nvSpPr>
        <p:spPr>
          <a:xfrm>
            <a:off x="2441448" y="5522975"/>
            <a:ext cx="86803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你写的代码以 .cpp 作为后缀；运行后可能产生可执行文件。</a:t>
            </a:r>
            <a:endParaRPr sz="125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>
            <p:custDataLst>
              <p:tags r:id="rId12"/>
            </p:custDataLst>
          </p:nvPr>
        </p:nvSpPr>
        <p:spPr>
          <a:xfrm>
            <a:off x="2441448" y="5760719"/>
            <a:ext cx="86803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代码本身也是文本文件，可以用你喜欢的编辑器打开看。</a:t>
            </a:r>
            <a:endParaRPr sz="110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02 · 环境准备</a:t>
            </a:r>
            <a:endParaRPr sz="1150" b="1" i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起手选哪个？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04 / 22</a:t>
            </a:r>
            <a:endParaRPr sz="1000" b="0" i="0">
              <a:solidFill>
                <a:srgbClr val="6E6779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不同 IDE 的侧重点不一样，只要能让你“写代码 → 编译 → 运行”这三步走通，都能用。</a:t>
            </a:r>
            <a:endParaRPr sz="130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920240"/>
          <a:ext cx="10874958" cy="3255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1170"/>
                <a:gridCol w="6039288"/>
                <a:gridCol w="309450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IDE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适合场景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费用与跨平台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Dev-C++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入门首选，体量小，打包即用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免费；Windows / 部分 Linux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Code::Blocks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与 Dev-C++ 类似，接近赛题环境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免费；Windows / Linux / macOS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VS Code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轻量编辑器 + 插件、多语言，调试依赖配置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免费；Windows / macOS / Linux（需自行装编译器）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CLion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代码体验和调试能力强，后期写工程也能用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学生可申请免费许可；跨平台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Visual Studio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工程项目友好，但算法似之下会变得简版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社区版免费；仅 Windows（部分 macOS 限制多）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444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第一个 C++ 程序：Hello, World!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035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333500"/>
            <a:ext cx="5588000" cy="4826000"/>
          </a:xfrm>
          <a:prstGeom prst="roundRect">
            <a:avLst>
              <a:gd name="adj" fmla="val 2105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524000"/>
            <a:ext cx="5080000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</a:t>
            </a:r>
            <a:r>
              <a:rPr lang="en-US" sz="1500" b="0" i="0" u="none" strike="noStrike">
                <a:solidFill>
                  <a:srgbClr val="DC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0" i="0" u="none" strike="noStrike">
                <a:solidFill>
                  <a:srgbClr val="FFC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</a:t>
            </a:r>
            <a:r>
              <a:rPr lang="en-US" sz="1500" b="0" i="0" u="none" strike="noStrike">
                <a:solidFill>
                  <a:srgbClr val="FFC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iostream&gt;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using namespace</a:t>
            </a:r>
            <a:r>
              <a:rPr lang="en-US" sz="1500" b="0" i="0" u="none" strike="noStrike">
                <a:solidFill>
                  <a:srgbClr val="DC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std;</a:t>
            </a:r>
            <a:endParaRPr lang="en-US" sz="1500" b="0" i="0" u="none" strike="noStrike">
              <a:solidFill>
                <a:srgbClr val="DCDC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</a:t>
            </a:r>
            <a:r>
              <a:rPr lang="en-US" sz="1500" b="0" i="0" u="none" strike="noStrike">
                <a:solidFill>
                  <a:srgbClr val="DC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0" i="0" u="none" strike="noStrike">
                <a:solidFill>
                  <a:srgbClr val="64FF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</a:t>
            </a:r>
            <a:r>
              <a:rPr lang="en-US" sz="1500" b="0" i="0" u="none" strike="noStrike">
                <a:solidFill>
                  <a:srgbClr val="DC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()</a:t>
            </a:r>
            <a:endParaRPr lang="en-US" sz="1500" b="0" i="0" u="none" strike="noStrike">
              <a:solidFill>
                <a:srgbClr val="DCDC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DC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endParaRPr lang="en-US" sz="1500" b="0" i="0" u="none" strike="noStrike">
              <a:solidFill>
                <a:srgbClr val="DCDC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DC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cout &lt;&lt; </a:t>
            </a:r>
            <a:r>
              <a:rPr lang="en-US" sz="1500" b="0" i="0" u="none" strike="noStrike">
                <a:solidFill>
                  <a:srgbClr val="FFC8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"Hello World!\n"</a:t>
            </a:r>
            <a:r>
              <a:rPr lang="en-US" sz="1500" b="0" i="0" u="none" strike="noStrike">
                <a:solidFill>
                  <a:srgbClr val="DC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500" b="0" i="0" u="none" strike="noStrike">
              <a:solidFill>
                <a:srgbClr val="DCDC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return</a:t>
            </a:r>
            <a:r>
              <a:rPr lang="en-US" sz="1500" b="0" i="0" u="none" strike="noStrike">
                <a:solidFill>
                  <a:srgbClr val="DC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0;</a:t>
            </a:r>
            <a:endParaRPr lang="en-US" sz="1500" b="0" i="0" u="none" strike="noStrike">
              <a:solidFill>
                <a:srgbClr val="DCDC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DCDC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500" b="0" i="0" u="none" strike="noStrike">
              <a:solidFill>
                <a:srgbClr val="DCDC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0" y="13335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逐行解释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0" y="19050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#include &lt;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stdio.h&gt;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万能头文件，包含了几乎所有常用的库函数，竞赛中直接用这一个就够了。</a:t>
            </a:r>
            <a:endParaRPr lang="en-US" sz="13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985000" y="3048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using namespace std;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使用标准命名空间，这样写 cout、cin 时不用每次加 std:: 前缀。</a:t>
            </a:r>
            <a:endParaRPr lang="en-US" sz="13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985000" y="4064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main()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主函数，程序的入口。操作系统从这里开始执行你的代码。</a:t>
            </a:r>
            <a:endParaRPr lang="en-US" sz="13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985000" y="5080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cout &lt;&lt; "..."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输出语句，把引号里的内容打印到屏幕上。\n 表示换行。</a:t>
            </a:r>
            <a:endParaRPr lang="en-US" sz="13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03 · 你的第一个程序</a:t>
            </a:r>
            <a:endParaRPr sz="1150" b="1" i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基本数据类型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06 / 22</a:t>
            </a:r>
            <a:endParaRPr sz="1000" b="0" i="0">
              <a:solidFill>
                <a:srgbClr val="6E6779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609344"/>
          <a:ext cx="10874956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0562"/>
                <a:gridCol w="2801125"/>
                <a:gridCol w="4284074"/>
                <a:gridCol w="2389195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C++ 中的关键字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用途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例子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整型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int / long long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计数、索引、位数组下标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int n = 100; 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long long big = 1e12;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浮点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float / double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计算结果可能是小数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double pi = 3.14159;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字符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char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单个字符（字母、数字、标点）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char c = 'A';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布尔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bool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表示</a:t>
                      </a: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是否，取值 true / false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bool ok = true;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字符串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string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一段文本（需 #include 后才能用）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string name = "ACM";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4956048"/>
            <a:ext cx="10874959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5102352"/>
            <a:ext cx="10234879" cy="290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数据太大会“溢出”：int 范围约 ±2×10⁹，计数</a:t>
            </a:r>
            <a:r>
              <a:rPr lang="zh-CN" sz="135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频次</a:t>
            </a:r>
            <a:r>
              <a:rPr sz="135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超过这个量级时，请用 long long。</a:t>
            </a:r>
            <a:endParaRPr sz="135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04 · 基本输出</a:t>
            </a:r>
            <a:endParaRPr sz="1150" b="1" i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输出：cout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07 / 22</a:t>
            </a:r>
            <a:endParaRPr sz="1000" b="0" i="0">
              <a:solidFill>
                <a:srgbClr val="6E6779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517904"/>
            <a:ext cx="10874959" cy="566928"/>
          </a:xfrm>
          <a:prstGeom prst="rect">
            <a:avLst/>
          </a:prstGeom>
          <a:noFill/>
          <a:ln w="12700">
            <a:solidFill>
              <a:srgbClr val="6EC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64208"/>
            <a:ext cx="10326319" cy="269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cout 是 C++ 风格的输出。&lt;&lt; </a:t>
            </a:r>
            <a:r>
              <a:rPr lang="zh-CN" sz="13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表示</a:t>
            </a:r>
            <a:r>
              <a:rPr sz="135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“把右侧的数据插进输出流”。可以连着写多个。</a:t>
            </a:r>
            <a:endParaRPr sz="135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2194560"/>
            <a:ext cx="10874959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04288"/>
            <a:ext cx="10472623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C2A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age = 18;</a:t>
            </a:r>
            <a:endParaRPr sz="1400" b="1" i="0">
              <a:solidFill>
                <a:srgbClr val="2C2A3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C2A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cout &lt;&lt; "I am " &lt;&lt; age &lt;&lt; " years old." &lt;&lt; endl;</a:t>
            </a:r>
            <a:endParaRPr sz="1400" b="0" i="0">
              <a:solidFill>
                <a:srgbClr val="2C2A3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" y="3803904"/>
            <a:ext cx="10874959" cy="859536"/>
          </a:xfrm>
          <a:prstGeom prst="rect">
            <a:avLst/>
          </a:prstGeom>
          <a:noFill/>
          <a:ln w="15240">
            <a:solidFill>
              <a:srgbClr val="5F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803904"/>
            <a:ext cx="45720" cy="859536"/>
          </a:xfrm>
          <a:prstGeom prst="rect">
            <a:avLst/>
          </a:prstGeom>
          <a:solidFill>
            <a:srgbClr val="5F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950208"/>
            <a:ext cx="102348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0B8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运行结果：  I am 18 years old.</a:t>
            </a:r>
            <a:endParaRPr sz="1350" b="0" i="0">
              <a:solidFill>
                <a:srgbClr val="0B8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368" y="4791456"/>
            <a:ext cx="10874959" cy="768096"/>
          </a:xfrm>
          <a:prstGeom prst="rect">
            <a:avLst/>
          </a:prstGeom>
          <a:noFill/>
          <a:ln w="127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901184"/>
            <a:ext cx="10472623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C2A3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cout &lt;&lt; a &lt;&lt; "+" &lt;&lt; b &lt;&lt; "=" &lt;&lt; a + b &lt;&lt; endl;</a:t>
            </a:r>
            <a:endParaRPr sz="1400" b="0" i="0">
              <a:solidFill>
                <a:srgbClr val="2C2A3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" y="5669280"/>
            <a:ext cx="10874959" cy="566928"/>
          </a:xfrm>
          <a:prstGeom prst="rect">
            <a:avLst/>
          </a:prstGeom>
          <a:noFill/>
          <a:ln w="12700">
            <a:solidFill>
              <a:srgbClr val="6EC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797296"/>
            <a:ext cx="10326319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endl </a:t>
            </a:r>
            <a:r>
              <a:rPr lang="zh-CN" sz="120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表示</a:t>
            </a:r>
            <a:r>
              <a:rPr sz="1200" b="0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“换行并刷新缓冲”。高频输出场景下可用 "\n" 替代，略快。</a:t>
            </a:r>
            <a:endParaRPr sz="1200" b="0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</a:t>
            </a:r>
            <a:r>
              <a:rPr lang="en-US"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lang="zh-CN" sz="1150" b="1" i="0" dirty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 dirty="0" err="1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猜数字</a:t>
            </a:r>
            <a:r>
              <a:rPr lang="zh-CN" altLang="en-US" sz="2700" b="1" dirty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小游戏</a:t>
            </a:r>
            <a:endParaRPr sz="2700" b="1" i="0" dirty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17904"/>
            <a:ext cx="10874959" cy="548640"/>
          </a:xfrm>
          <a:prstGeom prst="rect">
            <a:avLst/>
          </a:prstGeom>
          <a:solidFill>
            <a:srgbClr val="F3EFE4"/>
          </a:solidFill>
          <a:ln w="15240">
            <a:solidFill>
              <a:srgbClr val="B4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64208"/>
            <a:ext cx="10326319" cy="243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 err="1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心里想一个</a:t>
            </a:r>
            <a:r>
              <a:rPr sz="1350" b="0" i="0" dirty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1 – 100 </a:t>
            </a:r>
            <a:r>
              <a:rPr sz="1350" b="0" i="0" dirty="0" err="1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的数，只</a:t>
            </a:r>
            <a:r>
              <a:rPr lang="zh-CN" altLang="en-US" sz="1350" b="0" i="0" dirty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能</a:t>
            </a:r>
            <a:r>
              <a:rPr sz="1350" b="0" i="0" dirty="0" err="1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回答「大了</a:t>
            </a:r>
            <a:r>
              <a:rPr sz="1350" b="0" i="0" dirty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350" b="0" i="0" dirty="0" err="1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小了</a:t>
            </a:r>
            <a:r>
              <a:rPr sz="1350" b="0" i="0" dirty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350" b="0" i="0" dirty="0" err="1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猜对了</a:t>
            </a:r>
            <a:r>
              <a:rPr sz="1350" b="0" i="0" dirty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」。</a:t>
            </a:r>
            <a:endParaRPr sz="1350" b="0" i="0" dirty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2249424"/>
            <a:ext cx="5245455" cy="2414016"/>
          </a:xfrm>
          <a:prstGeom prst="rect">
            <a:avLst/>
          </a:prstGeom>
          <a:solidFill>
            <a:srgbClr val="FFFFFF"/>
          </a:solidFill>
          <a:ln w="16510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49424"/>
            <a:ext cx="5245455" cy="50292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4733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6336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从 1 开始，一个一个试</a:t>
            </a:r>
            <a:endParaRPr sz="1500" b="1" i="0">
              <a:solidFill>
                <a:srgbClr val="D6336C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4733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1？  2？  3？  4？  ……</a:t>
            </a:r>
            <a:endParaRPr sz="130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9287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04174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9061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93949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88836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3723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78611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73498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68385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63272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58160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53047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47934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2822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37709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32596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27483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22371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7258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12145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07033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01920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96807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91694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86582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81469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6356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71244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66131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61018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55905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50793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45680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40567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5455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0342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25229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20116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15004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09891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04778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99666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94553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89440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84327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79215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374102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68989" y="3255264"/>
            <a:ext cx="83914" cy="182880"/>
          </a:xfrm>
          <a:prstGeom prst="rect">
            <a:avLst/>
          </a:prstGeom>
          <a:solidFill>
            <a:srgbClr val="F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3877" y="3255264"/>
            <a:ext cx="83914" cy="182880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3584448"/>
            <a:ext cx="4733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D6336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平均要猜 50 次</a:t>
            </a:r>
            <a:endParaRPr sz="1550" b="1" i="0">
              <a:solidFill>
                <a:srgbClr val="D6336C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14400" y="3895344"/>
            <a:ext cx="473339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如果范围换成 1 – 100 万，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就要猜 100 万次。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87871" y="2249424"/>
            <a:ext cx="5245455" cy="2414016"/>
          </a:xfrm>
          <a:prstGeom prst="rect">
            <a:avLst/>
          </a:prstGeom>
          <a:solidFill>
            <a:srgbClr val="FFFFFF"/>
          </a:solidFill>
          <a:ln w="16510">
            <a:solidFill>
              <a:srgbClr val="0B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7871" y="2249424"/>
            <a:ext cx="5245455" cy="50292"/>
          </a:xfrm>
          <a:prstGeom prst="rect">
            <a:avLst/>
          </a:prstGeom>
          <a:solidFill>
            <a:srgbClr val="5F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43903" y="2487168"/>
            <a:ext cx="4733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每次砍一半</a:t>
            </a:r>
            <a:endParaRPr sz="15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543903" y="2852928"/>
            <a:ext cx="4733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先猜 50，听到「大了」就砍掉一半范围</a:t>
            </a:r>
            <a:endParaRPr sz="130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543903" y="3236976"/>
            <a:ext cx="6291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F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43903" y="3328416"/>
            <a:ext cx="6291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50</a:t>
            </a:r>
            <a:endParaRPr sz="13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227940" y="3236976"/>
            <a:ext cx="6291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F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27940" y="3328416"/>
            <a:ext cx="6291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3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911976" y="3236976"/>
            <a:ext cx="6291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F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11976" y="3328416"/>
            <a:ext cx="6291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596013" y="3236976"/>
            <a:ext cx="6291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F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6013" y="3328416"/>
            <a:ext cx="6291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9280049" y="3236976"/>
            <a:ext cx="6291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F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80049" y="3328416"/>
            <a:ext cx="6291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9964086" y="3236976"/>
            <a:ext cx="6291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F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64086" y="3328416"/>
            <a:ext cx="6291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0648122" y="3236976"/>
            <a:ext cx="6291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B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648122" y="3328416"/>
            <a:ext cx="6291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130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543903" y="3785615"/>
            <a:ext cx="47333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最多只要 7 次</a:t>
            </a:r>
            <a:endParaRPr sz="1550" b="1" i="0">
              <a:solidFill>
                <a:srgbClr val="0B8A5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43903" y="4096512"/>
            <a:ext cx="473339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即使范围是 1 – 100 万，也只要 20 次。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规模越大，差距越悬殊。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58368" y="4846320"/>
            <a:ext cx="10874959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5F3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9264" y="5029200"/>
            <a:ext cx="1023487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题目完全一样，一个 50 次，一个 7 次。</a:t>
            </a:r>
            <a:endParaRPr sz="16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这个「怎么猜」，就是算法。</a:t>
            </a:r>
            <a:endParaRPr sz="1600" b="1" i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</a:t>
            </a:r>
            <a:r>
              <a:rPr lang="en-US"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lang="zh-CN" sz="1150" b="1" i="0" dirty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算法的定义与四个基本特征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87495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F3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773936"/>
            <a:ext cx="102348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算法：解决特定问题的一组 有限、明确、可执行 的步骤。</a:t>
            </a:r>
            <a:endParaRPr sz="155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2523744"/>
            <a:ext cx="254043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23744"/>
            <a:ext cx="2540431" cy="50292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761487"/>
            <a:ext cx="2101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C2255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1  </a:t>
            </a:r>
            <a:r>
              <a:rPr sz="145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有穷性</a:t>
            </a:r>
            <a:endParaRPr sz="145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" y="3200400"/>
            <a:ext cx="210151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算法必须在执行有限步之后终止，不能陷入无限循环。</a:t>
            </a:r>
            <a:endParaRPr sz="118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36543" y="2523744"/>
            <a:ext cx="254043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2523744"/>
            <a:ext cx="2540431" cy="50292"/>
          </a:xfrm>
          <a:prstGeom prst="rect">
            <a:avLst/>
          </a:prstGeom>
          <a:solidFill>
            <a:srgbClr val="FFB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5999" y="2761487"/>
            <a:ext cx="2101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D9480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2  </a:t>
            </a:r>
            <a:r>
              <a:rPr sz="145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确定性</a:t>
            </a:r>
            <a:endParaRPr sz="145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5999" y="3200400"/>
            <a:ext cx="210151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每一步的含义唯一确定，不存在歧义；相同的输入必然得到相同的结果。</a:t>
            </a:r>
            <a:endParaRPr sz="118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14719" y="2523744"/>
            <a:ext cx="254043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4719" y="2523744"/>
            <a:ext cx="2540431" cy="50292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4175" y="2761487"/>
            <a:ext cx="2101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8A660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3  </a:t>
            </a:r>
            <a:r>
              <a:rPr sz="145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可行性</a:t>
            </a:r>
            <a:endParaRPr sz="145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4175" y="3200400"/>
            <a:ext cx="210151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每一步都可以通过已有的基本操作实现，且能在有限时间内完成。</a:t>
            </a:r>
            <a:endParaRPr sz="118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92895" y="2523744"/>
            <a:ext cx="254043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2895" y="2523744"/>
            <a:ext cx="2540431" cy="50292"/>
          </a:xfrm>
          <a:prstGeom prst="rect">
            <a:avLst/>
          </a:prstGeom>
          <a:solidFill>
            <a:srgbClr val="5F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2351" y="2761487"/>
            <a:ext cx="2101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B8A5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4  </a:t>
            </a:r>
            <a:r>
              <a:rPr sz="145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输入与输出</a:t>
            </a:r>
            <a:endParaRPr sz="145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12351" y="3200400"/>
            <a:ext cx="210151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具有零个或多个输入，并至少产生一个输出。没有输出的步骤序列不构成算法。</a:t>
            </a:r>
            <a:endParaRPr sz="118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8368" y="4718304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84632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400" b="1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3657600" y="4910328"/>
            <a:ext cx="658368" cy="164592"/>
          </a:xfrm>
          <a:prstGeom prst="rightArrow">
            <a:avLst/>
          </a:prstGeom>
          <a:solidFill>
            <a:srgbClr val="E6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98848" y="4718304"/>
            <a:ext cx="3017520" cy="548640"/>
          </a:xfrm>
          <a:prstGeom prst="rect">
            <a:avLst/>
          </a:prstGeom>
          <a:solidFill>
            <a:srgbClr val="F3EFE4"/>
          </a:solidFill>
          <a:ln w="1778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48463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算法（处理过程）</a:t>
            </a:r>
            <a:endParaRPr sz="1400" b="1" i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7589519" y="4910328"/>
            <a:ext cx="658368" cy="164592"/>
          </a:xfrm>
          <a:prstGeom prst="rightArrow">
            <a:avLst/>
          </a:prstGeom>
          <a:solidFill>
            <a:srgbClr val="E6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39328" y="4718304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484632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1400" b="1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</a:t>
            </a:r>
            <a:r>
              <a:rPr lang="en-US"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150" b="1" i="0" dirty="0" err="1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竞赛路径</a:t>
            </a:r>
            <a:endParaRPr sz="1150" b="1" i="0" dirty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大学四年竞赛路径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9" y="1737360"/>
            <a:ext cx="45719" cy="2496312"/>
          </a:xfrm>
          <a:prstGeom prst="rect">
            <a:avLst/>
          </a:prstGeom>
          <a:solidFill>
            <a:srgbClr val="E6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00784" y="1837943"/>
            <a:ext cx="283464" cy="283464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10512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2255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大一上</a:t>
            </a:r>
            <a:endParaRPr sz="1250" b="1" i="0">
              <a:solidFill>
                <a:srgbClr val="C2255C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31136" y="1737360"/>
            <a:ext cx="9302191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31136" y="1737360"/>
            <a:ext cx="45720" cy="694944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81965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2255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打基础</a:t>
            </a:r>
            <a:endParaRPr sz="1300" b="1" i="0">
              <a:solidFill>
                <a:srgbClr val="C2255C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75887" y="1819656"/>
            <a:ext cx="75831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C / C++ 语法 · 入门算法 · 校内练习赛</a:t>
            </a:r>
            <a:endParaRPr sz="120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00784" y="2642615"/>
            <a:ext cx="283464" cy="283464"/>
          </a:xfrm>
          <a:prstGeom prst="ellipse">
            <a:avLst/>
          </a:prstGeom>
          <a:solidFill>
            <a:srgbClr val="FFB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1518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D9480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大一下</a:t>
            </a:r>
            <a:endParaRPr sz="1250" b="1" i="0">
              <a:solidFill>
                <a:srgbClr val="D9480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31136" y="2542032"/>
            <a:ext cx="9302191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31136" y="2542032"/>
            <a:ext cx="45720" cy="694944"/>
          </a:xfrm>
          <a:prstGeom prst="rect">
            <a:avLst/>
          </a:prstGeom>
          <a:solidFill>
            <a:srgbClr val="FFB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62432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9480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首次参赛</a:t>
            </a:r>
            <a:endParaRPr sz="1300" b="1" i="0">
              <a:solidFill>
                <a:srgbClr val="D9480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75887" y="2624327"/>
            <a:ext cx="75831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 err="1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蓝桥杯（省赛</a:t>
            </a:r>
            <a:r>
              <a:rPr sz="1200" b="0" i="0" dirty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200" b="0" i="0" dirty="0" err="1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国赛</a:t>
            </a:r>
            <a:r>
              <a:rPr sz="1200" b="0" i="0" dirty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）· </a:t>
            </a:r>
            <a:r>
              <a:rPr sz="1200" b="0" i="0" dirty="0" err="1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黑龙江省大学生程序设计竞赛</a:t>
            </a:r>
            <a:endParaRPr sz="1200" b="0" i="0" dirty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CCPC </a:t>
            </a:r>
            <a:r>
              <a:rPr sz="1200" b="0" i="0" dirty="0" err="1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东北四省赛</a:t>
            </a:r>
            <a:r>
              <a:rPr sz="1200" b="0" i="0" dirty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200" b="0" i="0" dirty="0" err="1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团体程序设计天梯赛</a:t>
            </a:r>
            <a:endParaRPr sz="1200" b="0" i="0" dirty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700784" y="3447288"/>
            <a:ext cx="283464" cy="283464"/>
          </a:xfrm>
          <a:prstGeom prst="ellipse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19856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8A660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大二上</a:t>
            </a:r>
            <a:endParaRPr sz="1250" b="1" i="0">
              <a:solidFill>
                <a:srgbClr val="8A660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231136" y="3346704"/>
            <a:ext cx="9302191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31136" y="3346704"/>
            <a:ext cx="45720" cy="694944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4290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dirty="0" err="1">
                <a:solidFill>
                  <a:srgbClr val="8A660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选拔</a:t>
            </a:r>
            <a:endParaRPr sz="1300" b="1" i="0" dirty="0">
              <a:solidFill>
                <a:srgbClr val="8A660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75887" y="3429000"/>
            <a:ext cx="7583119" cy="21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 err="1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参加学校</a:t>
            </a:r>
            <a:r>
              <a:rPr sz="1200" b="0" i="0" dirty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ACM </a:t>
            </a:r>
            <a:r>
              <a:rPr sz="1200" b="0" i="0" dirty="0" err="1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集训队选拔</a:t>
            </a:r>
            <a:r>
              <a:rPr sz="1200" b="0" i="0" dirty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200" b="0" i="0" dirty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参加区域赛</a:t>
            </a:r>
            <a:endParaRPr sz="1200" b="0" i="0" dirty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96112" y="4608575"/>
            <a:ext cx="10874959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F3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0514" y="4892039"/>
            <a:ext cx="1023487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大一下学期，通常是可以参与省级及以上竞赛的第一个时间窗口，建议提前一学期开始准备。</a:t>
            </a:r>
            <a:endParaRPr sz="14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</a:t>
            </a:r>
            <a:r>
              <a:rPr lang="en-US"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150" b="1" i="0" dirty="0" err="1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为什么学算法</a:t>
            </a:r>
            <a:endParaRPr sz="1150" b="1" i="0" dirty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面试环节：算法题依然是硬门槛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82496"/>
            <a:ext cx="344210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82496"/>
            <a:ext cx="3442106" cy="50292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3003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255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1  </a:t>
            </a:r>
            <a:r>
              <a:rPr sz="15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校园招聘笔试</a:t>
            </a:r>
            <a:endParaRPr sz="15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" y="2194560"/>
            <a:ext cx="3003194" cy="1252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通常设置若干道编程题，要求在限定时间内完成；完成情况直接决定能否进入后续环节。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74794" y="1682496"/>
            <a:ext cx="344210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4794" y="1682496"/>
            <a:ext cx="3442106" cy="50292"/>
          </a:xfrm>
          <a:prstGeom prst="rect">
            <a:avLst/>
          </a:prstGeom>
          <a:solidFill>
            <a:srgbClr val="FFB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4250" y="1920240"/>
            <a:ext cx="3003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9480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2  </a:t>
            </a:r>
            <a:r>
              <a:rPr sz="15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技术面试</a:t>
            </a:r>
            <a:endParaRPr sz="15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4250" y="2194560"/>
            <a:ext cx="3003194" cy="1252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在考察项目经历之后，通常包含现场编码环节：要求在沟通中讲清思路，并写出可运行的解法。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91220" y="1682496"/>
            <a:ext cx="344210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1220" y="1682496"/>
            <a:ext cx="3442106" cy="50292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0676" y="1920240"/>
            <a:ext cx="30031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8A660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3  </a:t>
            </a:r>
            <a:r>
              <a:rPr sz="15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覆盖范围</a:t>
            </a:r>
            <a:endParaRPr sz="15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10676" y="2194560"/>
            <a:ext cx="3003194" cy="1252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并非只考算法岗。前端、客户端、后端等开发岗位的技术面试，同样普遍涉及算法与数据结构。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8368" y="3767328"/>
            <a:ext cx="1087495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913632"/>
            <a:ext cx="1023487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D6336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如果 AI 几秒钟就能写出答案，为什么面试还要现场手写？</a:t>
            </a:r>
            <a:endParaRPr sz="1450" b="1" i="0">
              <a:solidFill>
                <a:srgbClr val="D6336C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因为面试考察的不是最终那段代码，而是「面对一个没见过的问题，你如何分析、如何取舍」的过程 —— 这个过程无法外包。</a:t>
            </a:r>
            <a:endParaRPr sz="13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</a:t>
            </a:r>
            <a:r>
              <a:rPr lang="en-US"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150" b="1" i="0" dirty="0" err="1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为什么学算法</a:t>
            </a:r>
            <a:endParaRPr sz="1150" b="1" i="0" dirty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深造环节：竞赛成绩是少数可横向比较的指标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609344"/>
          <a:ext cx="10874958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1943"/>
                <a:gridCol w="8753015"/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竞赛经历的实际作用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推免（保研）</a:t>
                      </a:r>
                      <a:endParaRPr sz="1280" b="0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各高校政策不同，但多数院校在综合评价中对学科竞赛获奖设有明确权重；部分院校设有加分或优先条件</a:t>
                      </a:r>
                      <a:endParaRPr sz="12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考研复试</a:t>
                      </a:r>
                      <a:endParaRPr sz="1280" b="0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导师通常关注考生的科研潜力与工程实践能力，竞赛获奖是相对可量化的证明之一</a:t>
                      </a:r>
                      <a:endParaRPr sz="12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联系导师</a:t>
                      </a:r>
                      <a:endParaRPr sz="1280" b="0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具有可验证的竞赛成绩，有助于在沟通中更快建立信任</a:t>
                      </a:r>
                      <a:endParaRPr sz="12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评奖评优</a:t>
                      </a:r>
                      <a:endParaRPr sz="1280" b="0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在奖学金评定、综合测评等环节中，竞赛获奖通常亦有相应体现</a:t>
                      </a:r>
                      <a:endParaRPr sz="12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4443984"/>
            <a:ext cx="1087495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5F3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626864"/>
            <a:ext cx="10234879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 dirty="0" err="1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学科竞赛是能够</a:t>
            </a:r>
            <a:r>
              <a:rPr lang="zh-CN" altLang="en-US" sz="1400" b="1" i="0" dirty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400" b="1" i="0" dirty="0" err="1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横向比较</a:t>
            </a:r>
            <a:r>
              <a:rPr lang="zh-CN" altLang="en-US" sz="1400" b="1" dirty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中更亮眼的关键之一</a:t>
            </a:r>
            <a:endParaRPr sz="1400" b="1" i="0" dirty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419100"/>
            <a:ext cx="1087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1200" b="1" i="0" u="none" strike="noStrike">
                <a:solidFill>
                  <a:srgbClr val="5F3DC4"/>
                </a:solidFill>
                <a:latin typeface="Segoe UI" panose="020B0502040204020203"/>
                <a:ea typeface="Segoe UI" panose="020B0502040204020203"/>
                <a:cs typeface="Segoe UI" panose="020B0502040204020203"/>
                <a:sym typeface="Segoe UI" panose="020B0502040204020203"/>
              </a:rPr>
              <a:t>PART 07 ·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1" i="0" u="none" strike="noStrike">
                <a:solidFill>
                  <a:srgbClr val="5F3D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刷题平台选择指南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400" y="660400"/>
            <a:ext cx="1087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33000"/>
              </a:lnSpc>
              <a:spcAft>
                <a:spcPts val="600"/>
              </a:spcAft>
              <a:defRPr/>
            </a:pPr>
            <a:r>
              <a:rPr lang="en-US" sz="2700" b="1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六大刷题平台横向对比：找准赛道，高效刷题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" y="1219200"/>
            <a:ext cx="469900" cy="38100"/>
          </a:xfrm>
          <a:prstGeom prst="roundRect">
            <a:avLst>
              <a:gd name="adj" fmla="val 0"/>
            </a:avLst>
          </a:prstGeom>
          <a:solidFill>
            <a:srgbClr val="5F3D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60400" y="1612900"/>
          <a:ext cx="10871200" cy="266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20900"/>
                <a:gridCol w="8750300"/>
              </a:tblGrid>
              <a:tr h="469900"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5F3D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主流平台</a:t>
                      </a:r>
                      <a:endParaRPr lang="en-US" sz="1100"/>
                    </a:p>
                  </a:txBody>
                  <a:tcPr marL="114300" marR="114300" marT="50800" marB="50800" anchor="t" anchorCtr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5F3D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核心定位、特点与价值</a:t>
                      </a:r>
                      <a:endParaRPr lang="en-US" sz="1100"/>
                    </a:p>
                  </a:txBody>
                  <a:tcPr marL="114300" marR="114300" marT="50800" marB="50800" anchor="t" anchorCtr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4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5F3D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力扣 (LeetCode)</a:t>
                      </a:r>
                      <a:endParaRPr lang="en-US" sz="1100"/>
                    </a:p>
                  </a:txBody>
                  <a:tcPr marL="114300" marR="114300" marT="50800" marB="50800" anchor="t" anchorCtr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C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聚焦技术面试，题目质量高且社区活跃，覆盖各大厂高频面试题；适合求职面试者与算法进阶者，是备战大厂技术面试的首选平台。</a:t>
                      </a:r>
                      <a:endParaRPr lang="en-US" sz="1100"/>
                    </a:p>
                  </a:txBody>
                  <a:tcPr marL="114300" marR="114300" marT="16934" marB="16934" anchor="t" anchorCtr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5F3D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洛谷 (Luogu)</a:t>
                      </a:r>
                      <a:endParaRPr lang="en-US" sz="1100"/>
                    </a:p>
                  </a:txBody>
                  <a:tcPr marL="114300" marR="114300" marT="50800" marB="50800" anchor="t" anchorCtr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C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主打算法竞赛入门，中文社区对新手极度友好，题单体系完善且配套优质网校课程；适合编程初学者与信息学竞赛选手，助力NOI/CSP入门备赛。</a:t>
                      </a:r>
                      <a:endParaRPr lang="en-US" sz="1100"/>
                    </a:p>
                  </a:txBody>
                  <a:tcPr marL="114300" marR="114300" marT="16934" marB="16934" anchor="t" anchorCtr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5F3D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Codeforces</a:t>
                      </a:r>
                      <a:endParaRPr lang="en-US" sz="1100"/>
                    </a:p>
                  </a:txBody>
                  <a:tcPr marL="114300" marR="114300" marT="50800" marB="50800" anchor="t" anchorCtr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C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全球顶级竞技编程平台，比赛频率高且Rating系统成熟，思维型题目占比大；适合算法竞赛选手与追求挑战的程序员，快速提升竞赛思维与实战水平。</a:t>
                      </a:r>
                      <a:endParaRPr lang="en-US" sz="1100"/>
                    </a:p>
                  </a:txBody>
                  <a:tcPr marL="114300" marR="114300" marT="16934" marB="16934" anchor="t" anchorCtr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1">
                          <a:solidFill>
                            <a:srgbClr val="5F3D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vj</a:t>
                      </a:r>
                      <a:endParaRPr lang="en-US" sz="1100"/>
                    </a:p>
                  </a:txBody>
                  <a:tcPr marL="114300" marR="114300" marT="50800" marB="50800" anchor="t" anchorCtr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C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日系顶尖算法竞赛平台，题目质量极高且赛制规范，注重算法设计与数学建模；适合进阶竞赛选手，打磨高阶算法能力与逻辑推导思维。</a:t>
                      </a:r>
                      <a:endParaRPr lang="en-US" sz="1100"/>
                    </a:p>
                  </a:txBody>
                  <a:tcPr marL="114300" marR="114300" marT="16934" marB="16934" anchor="t" anchorCtr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19100"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5F3D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经典OJ (POJ/HDU)</a:t>
                      </a:r>
                      <a:endParaRPr lang="en-US" sz="1100"/>
                    </a:p>
                  </a:txBody>
                  <a:tcPr marL="114300" marR="114300" marT="50800" marB="50800" anchor="t" anchorCtr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457200">
                        <a:lnSpc>
                          <a:spcPct val="117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C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收录海量ACM/ICPC经典真题，数据严谨且覆盖基础算法全体系；适合ACM备赛选手与进阶学习者，是夯实经典算法基础的核心阵地。</a:t>
                      </a:r>
                      <a:endParaRPr lang="en-US" sz="1100"/>
                    </a:p>
                  </a:txBody>
                  <a:tcPr marL="114300" marR="114300" marT="4234" marB="4234" anchor="t" anchorCtr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60400" y="4813300"/>
            <a:ext cx="10871200" cy="927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F3DC4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57250" y="4965065"/>
            <a:ext cx="10236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457200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2C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刷题平台没有绝对的优劣，只有是否匹配你的目标。求职面试选力扣，竞赛入门选洛谷，追求极致挑战选Codeforces/AtCoder，夯实基础则可深耕经典OJ，搭配VJ能实现跨平台高效训练。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06 · </a:t>
            </a:r>
            <a:r>
              <a:rPr lang="en-US" sz="115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sz="1150" b="1" i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J 使用</a:t>
            </a:r>
            <a:endParaRPr sz="1150" b="1" i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3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常见 </a:t>
            </a:r>
            <a:r>
              <a:rPr lang="en-US"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J 返回结果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20 / 22</a:t>
            </a:r>
            <a:endParaRPr sz="1000" b="0" i="0">
              <a:solidFill>
                <a:srgbClr val="6E6779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609344"/>
          <a:ext cx="10874958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3220"/>
                <a:gridCol w="4209661"/>
                <a:gridCol w="5262077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简写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全称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你该怎么办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AC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Accepted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通过了！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CE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Compilation Error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代码编译不过去，查错字、分号、头文件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WA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Wrong Answer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输出与预期不一样，反复看题意与边界条件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RE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Runtime Error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运行时崩溃，常见原因：数组越界、除以零、堆栈溢出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TLE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Time Limit Exceeded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运行超过时限，思考是否有更优的算法或输入输出优化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MLE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Memory Limit Exceeded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内存超限，减少数组体量或重新设计算法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OLE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Output Limit Exceeded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输出过多，查代码里是否有多余输出或无限结果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PE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Presentation Error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输出接近正确但格式不一致，常见于多余空格或换行</a:t>
                      </a:r>
                      <a:endParaRPr sz="125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254496"/>
            <a:ext cx="959479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E6779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记住这八个简写，题面上出现时能够快速判断是哪个环节出了问题。</a:t>
            </a:r>
            <a:endParaRPr sz="1050" b="0" i="0">
              <a:solidFill>
                <a:srgbClr val="6E6779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</a:t>
            </a:r>
            <a:r>
              <a:rPr lang="en-US"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50" b="1" i="0" dirty="0" err="1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工具与环境</a:t>
            </a:r>
            <a:endParaRPr sz="1150" b="1" i="0" dirty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AI 编程工具概览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63040"/>
          <a:ext cx="10874957" cy="3054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107"/>
                <a:gridCol w="1367919"/>
                <a:gridCol w="1846691"/>
                <a:gridCol w="3283006"/>
                <a:gridCol w="2804234"/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工具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提供方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形态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主要特点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典型使用场景</a:t>
                      </a:r>
                      <a:endParaRPr sz="1150" b="1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3EFE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Trae</a:t>
                      </a:r>
                      <a:endParaRPr sz="1180" b="0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字节跳动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AI 原生 IDE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中文交互友好，内置项目生成能力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原型搭建、小型项目实践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1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Work</a:t>
                      </a:r>
                      <a:r>
                        <a:rPr sz="11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Buddy</a:t>
                      </a:r>
                      <a:endParaRPr sz="1180" b="0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腾讯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编程助手（IDE 插件）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中文语境支持较好，可与主流 IDE 集成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代码补全、代码解读与重构建议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Claude Code</a:t>
                      </a:r>
                      <a:endParaRPr sz="1180" b="0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Anthropic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命令行 AI 工具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可直接读取并修改项目中的代码文件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有一定基础后的重构与批量修改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GitHub Copilot</a:t>
                      </a:r>
                      <a:endParaRPr sz="1180" b="0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GitHub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IDE 插件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以行级与函数级代码补全为主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日常编码过程中的辅助补全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5F3DC4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Xcode</a:t>
                      </a:r>
                      <a:endParaRPr sz="1180" b="0" i="0">
                        <a:solidFill>
                          <a:srgbClr val="5F3DC4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Apple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集成开发环境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Apple 官方工具链，含智能补全能力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80" b="0" i="0">
                          <a:solidFill>
                            <a:srgbClr val="2C2A38"/>
                          </a:solidFill>
                          <a:latin typeface="Segoe UI" panose="020B0502040204020203"/>
                          <a:ea typeface="微软雅黑" panose="020B0503020204020204" charset="-122"/>
                          <a:cs typeface="微软雅黑" panose="020B0503020204020204" charset="-122"/>
                        </a:rPr>
                        <a:t>Apple 平台的原生应用开发</a:t>
                      </a:r>
                      <a:endParaRPr sz="1180" b="0" i="0">
                        <a:solidFill>
                          <a:srgbClr val="2C2A38"/>
                        </a:solidFill>
                        <a:latin typeface="Segoe UI" panose="020B0502040204020203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444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AI 怎么用才不坑自己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035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333500"/>
            <a:ext cx="4826000" cy="2286000"/>
          </a:xfrm>
          <a:prstGeom prst="roundRect">
            <a:avLst>
              <a:gd name="adj" fmla="val 4444"/>
            </a:avLst>
          </a:prstGeom>
          <a:solidFill>
            <a:srgbClr val="E74C3C">
              <a:alpha val="6000"/>
            </a:srgbClr>
          </a:solidFill>
          <a:ln w="12700" cap="flat" cmpd="sng">
            <a:solidFill>
              <a:srgbClr val="E74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52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错误用法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1968500"/>
            <a:ext cx="431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遇到题不会 → 直接问 AI 要代码 → 复制粘贴提交 → AC 了觉得自己会了 → 遇到同类题还是不会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问题不在于用了 AI，而在于思考过程被跳过了。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333500"/>
            <a:ext cx="4826000" cy="2286000"/>
          </a:xfrm>
          <a:prstGeom prst="roundRect">
            <a:avLst>
              <a:gd name="adj" fmla="val 4444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52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正确用法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1968500"/>
            <a:ext cx="431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先自己想 15-30 分钟 → 有思路但写不出来，问 AI 具体语法 → 写完 WA 了，让 AI 帮看报错 → AC 后让 AI 讲解复杂度和优化思路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是助手，不是替身。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393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DD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191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大一上学期的学习建议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7625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基础语法练习全部手写，不复制粘贴，形成编码手感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每题完成后用中文记一句解题思路和关键判断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遇到报错先读报错信息，再检索，最后求助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固定每周练习时间，保持连续性，不要长时间中断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C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阶段性目标：大一下开学前具备基础算法能力</a:t>
            </a:r>
            <a:endParaRPr lang="en-US" sz="1400" b="0" i="0" u="none" strike="noStrike">
              <a:solidFill>
                <a:srgbClr val="3C3C4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29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PART 0</a:t>
            </a:r>
            <a:r>
              <a:rPr lang="en-US"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150" b="1" i="0" dirty="0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150" b="1" i="0" dirty="0" err="1">
                <a:solidFill>
                  <a:srgbClr val="5F3DC4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学习方法</a:t>
            </a:r>
            <a:endParaRPr sz="1150" b="1" i="0" dirty="0">
              <a:solidFill>
                <a:srgbClr val="5F3DC4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长期来看，需要构建的三类积累</a:t>
            </a:r>
            <a:endParaRPr sz="27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475488" cy="41148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82496"/>
            <a:ext cx="3442106" cy="585216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93004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扎实的基础</a:t>
            </a:r>
            <a:endParaRPr sz="15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2377440"/>
            <a:ext cx="3442106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51176"/>
            <a:ext cx="29666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数据结构与算法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" y="3108960"/>
            <a:ext cx="3442106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82696"/>
            <a:ext cx="29666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操作系统、计算机网络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368" y="3840480"/>
            <a:ext cx="3442106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14216"/>
            <a:ext cx="29666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至少精通一门编程语言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4663440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2255C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决定发展的上限</a:t>
            </a:r>
            <a:endParaRPr sz="1300" b="1" i="0">
              <a:solidFill>
                <a:srgbClr val="C2255C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74794" y="1682496"/>
            <a:ext cx="3442106" cy="585216"/>
          </a:xfrm>
          <a:prstGeom prst="rect">
            <a:avLst/>
          </a:prstGeom>
          <a:solidFill>
            <a:srgbClr val="FFB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0826" y="1810512"/>
            <a:ext cx="293004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完整的项目</a:t>
            </a:r>
            <a:endParaRPr sz="15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74794" y="2377440"/>
            <a:ext cx="3442106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2538" y="2551176"/>
            <a:ext cx="29666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一个可运行、可展示的作品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4794" y="3108960"/>
            <a:ext cx="3442106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2538" y="3282696"/>
            <a:ext cx="29666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有代码仓库与说明文档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74794" y="3840480"/>
            <a:ext cx="3442106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2538" y="4014216"/>
            <a:ext cx="29666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能解释每一处实现的原因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74794" y="4663440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D9480F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决定能否获得机会</a:t>
            </a:r>
            <a:endParaRPr sz="1300" b="1" i="0">
              <a:solidFill>
                <a:srgbClr val="D9480F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91220" y="1682496"/>
            <a:ext cx="3442106" cy="585216"/>
          </a:xfrm>
          <a:prstGeom prst="rect">
            <a:avLst/>
          </a:prstGeom>
          <a:solidFill>
            <a:srgbClr val="FFD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7252" y="1810512"/>
            <a:ext cx="293004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贴近工程的技术栈</a:t>
            </a:r>
            <a:endParaRPr sz="150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91220" y="2377440"/>
            <a:ext cx="3442106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8964" y="2551176"/>
            <a:ext cx="29666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行业中实际使用的技术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091220" y="3108960"/>
            <a:ext cx="3442106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8964" y="3282696"/>
            <a:ext cx="29666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而非仅存在于教材中的示例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91220" y="3840480"/>
            <a:ext cx="3442106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6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8964" y="4014216"/>
            <a:ext cx="29666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5D7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如跨端、云原生、AI 工程化等</a:t>
            </a:r>
            <a:endParaRPr sz="1250" b="0" i="0">
              <a:solidFill>
                <a:srgbClr val="645D7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91220" y="4663440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8A6600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决定上手的速度</a:t>
            </a:r>
            <a:endParaRPr sz="1300" b="1" i="0">
              <a:solidFill>
                <a:srgbClr val="8A6600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58368" y="5138928"/>
            <a:ext cx="1087495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B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303520"/>
            <a:ext cx="102165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C2A38"/>
                </a:solidFill>
                <a:latin typeface="Segoe UI" panose="020B0502040204020203"/>
                <a:ea typeface="微软雅黑" panose="020B0503020204020204" charset="-122"/>
                <a:cs typeface="微软雅黑" panose="020B0503020204020204" charset="-122"/>
              </a:rPr>
              <a:t>三者的关系，可类比为「地基—主体—装修」：缺少前者，后者难以稳固。</a:t>
            </a:r>
            <a:endParaRPr sz="1450" b="1" i="0">
              <a:solidFill>
                <a:srgbClr val="2C2A38"/>
              </a:solidFill>
              <a:latin typeface="Segoe UI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2,&quot;left&quot;:80,&quot;top&quot;:253,&quot;width&quot;:400}"/>
</p:tagLst>
</file>

<file path=ppt/tags/tag2.xml><?xml version="1.0" encoding="utf-8"?>
<p:tagLst xmlns:p="http://schemas.openxmlformats.org/presentationml/2006/main">
  <p:tag name="KSO_WM_DIAGRAM_VIRTUALLY_FRAME" val="{&quot;height&quot;:132,&quot;left&quot;:80,&quot;top&quot;:253,&quot;width&quot;:400}"/>
</p:tagLst>
</file>

<file path=ppt/tags/tag3.xml><?xml version="1.0" encoding="utf-8"?>
<p:tagLst xmlns:p="http://schemas.openxmlformats.org/presentationml/2006/main">
  <p:tag name="KSO_WM_DIAGRAM_VIRTUALLY_FRAME" val="{&quot;height&quot;:132,&quot;left&quot;:80,&quot;top&quot;:253,&quot;width&quot;:400}"/>
</p:tagLst>
</file>

<file path=ppt/tags/tag4.xml><?xml version="1.0" encoding="utf-8"?>
<p:tagLst xmlns:p="http://schemas.openxmlformats.org/presentationml/2006/main">
  <p:tag name="KSO_WM_DIAGRAM_VIRTUALLY_FRAME" val="{&quot;height&quot;:132,&quot;left&quot;:80,&quot;top&quot;:253,&quot;width&quot;:400}"/>
</p:tagLst>
</file>

<file path=ppt/tags/tag5.xml><?xml version="1.0" encoding="utf-8"?>
<p:tagLst xmlns:p="http://schemas.openxmlformats.org/presentationml/2006/main">
  <p:tag name="KSO_WM_DIAGRAM_VIRTUALLY_FRAME" val="{&quot;height&quot;:132,&quot;left&quot;:80,&quot;top&quot;:253,&quot;width&quot;:400}"/>
</p:tagLst>
</file>

<file path=ppt/tags/tag6.xml><?xml version="1.0" encoding="utf-8"?>
<p:tagLst xmlns:p="http://schemas.openxmlformats.org/presentationml/2006/main">
  <p:tag name="KSO_WM_DIAGRAM_VIRTUALLY_FRAME" val="{&quot;height&quot;:132,&quot;left&quot;:80,&quot;top&quot;:253,&quot;width&quot;:400}"/>
</p:tagLst>
</file>

<file path=ppt/tags/tag7.xml><?xml version="1.0" encoding="utf-8"?>
<p:tagLst xmlns:p="http://schemas.openxmlformats.org/presentationml/2006/main">
  <p:tag name="KSO_WM_DIAGRAM_VIRTUALLY_FRAME" val="{&quot;height&quot;:132,&quot;left&quot;:80,&quot;top&quot;:253,&quot;width&quot;:400}"/>
</p:tagLst>
</file>

<file path=ppt/tags/tag8.xml><?xml version="1.0" encoding="utf-8"?>
<p:tagLst xmlns:p="http://schemas.openxmlformats.org/presentationml/2006/main">
  <p:tag name="KSO_WM_DIAGRAM_VIRTUALLY_FRAME" val="{&quot;height&quot;:132,&quot;left&quot;:80,&quot;top&quot;:253,&quot;width&quot;:400}"/>
</p:tagLst>
</file>

<file path=ppt/tags/tag9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0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1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2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3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4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5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6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7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8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19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ags/tag20.xml><?xml version="1.0" encoding="utf-8"?>
<p:tagLst xmlns:p="http://schemas.openxmlformats.org/presentationml/2006/main">
  <p:tag name="KSO_WM_DIAGRAM_VIRTUALLY_FRAME" val="{&quot;height&quot;:145.4399212598425,&quot;left&quot;:51.839999999999996,&quot;top&quot;:331.2,&quot;width&quot;:823.895984251968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5179</Words>
  <Application>WPS 演示</Application>
  <PresentationFormat>宽屏</PresentationFormat>
  <Paragraphs>627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Arial</vt:lpstr>
      <vt:lpstr>Segoe UI</vt:lpstr>
      <vt:lpstr>微软雅黑</vt:lpstr>
      <vt:lpstr>Noto Sans SC</vt:lpstr>
      <vt:lpstr>Noto Serif SC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এ᭄Galaxyഒᩚ࿐</cp:lastModifiedBy>
  <cp:revision>8</cp:revision>
  <dcterms:created xsi:type="dcterms:W3CDTF">2013-01-27T09:14:00Z</dcterms:created>
  <dcterms:modified xsi:type="dcterms:W3CDTF">2026-09-08T13:45:11Z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26A1FBA150B54B248049928EECFC89D1_12</vt:lpwstr>
  </property>
</Properties>
</file>