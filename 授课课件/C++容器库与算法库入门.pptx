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7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，今天我们来学习C++最重要的内容之一：STL标准模板库。前面我们学过数组、结构体、函数、类，但是数组有很多限制：大小固定、插入删除效率低。STL就是C++官方给我们准备的一套"现成的工具箱"，里面有各种好用的数据结构和算法，不用我们自己从头实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这节课我们会覆盖最常用的容器：string、vector、deque、list、set、map、unordered系列、priority_queue，以及算法库的sort、reverse、unique等。学完之后，大家写代码效率会大幅提升，很多题不用自己造轮子了。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大家看一下今天的内容结构。第一部分是入门，先搞清楚STL是什么，为什么我们要学它，总不能学了半天连个所以然都不知道。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和第三部分是今天的绝对重点：序列式容器和关联式容器。序列式容器就是数据按顺序排开的，我们要学string、vector、deque、list四个。关联式容器就是带索引查找功能的，set、map、unordered系列、priority_queue四个。这些容器每个我都会给大家写完整可运行的代码，讲完大家就能直接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第四部分是算法库，就是现成的排序、反转、去重函数，不用自己写循环。最后我们做综合实战和常见坑总结。再次强调，今天所有代码大家都要跟着敲，不要只看，编程是练出来的。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，我们前面一直用数组，大家有没有觉得数组很麻烦？比如你不知道题目会输入多少个数，数组开多大？开小了不够用，开大了浪费内存。再比如你想在数组中间插入一个元素，是不是要把后面所有元素都往后挪一位？如果要删除，又要全部往前挪，效率很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排序，我们自己写冒泡排序、选择排序，写半天还容易写错。STL就是C++官方给我们准备的一套现成工具，这些问题全部帮你解决了。vector可以自动扩容，deque可以两头插，set自动去重排序，map可以按键查找，sort一行代码排好序。这就是为什么竞赛选手几乎人手一套STL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TL一共有六大组件，大家不用被名字吓到。我们今天重点只学前两个：容器和算法。容器就是装数据的东西，比如vector就是动态数组，set就是自动排序去重的集合，map就是键值对字典。算法就是现成的函数，sort排序，reverse反转，unique去重，find查找，直接调用就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迭代器、仿函数、适配器、空间配置器这些，我们今天先不深入，大家只要知道有这么个东西就行，以后用到再学。初学者最容易犯的错就是一上来就钻源码细节，导致学了半天还写不出代码。我们今天的目标很明确：会用，能写对，能做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第一个容器我们学string。之前我们用char数组存字符串有多痛苦？拼接要写strcat，比较要写strcmp，算长度要strlen，还容易越界崩溃。string就是C++给我们封装好的字符串类，用起来爽太多了。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大家看代码：定义string变量，直接用+拼接，size()拿长度，s[i]访问字符，和数组一模一样。最爽的是==直接比较内容，不用像char数组那样调用strcmp。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这里有个新手最容易踩的坑：cin读入的时候遇到空格就停了，如果要读一整行带空格的，必须用getline(cin, s)。大家跟着敲一遍，跑起来看看效果。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tring除了基本的拼接和取长度，还有几个高频操作必须掌握。第一个是substr，截取子串，第一个参数是开始下标，第二个参数是截取长度。第二个是find，查找子串，找到了返回下标，找不到返回一个特殊值string::npos，这个值很大，我们判断找不到就和它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还有insert插入，erase删除，+=追加。这些操作在字符串处理题里天天用，比如判断子串、截取文件后缀、替换内容。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大家现在动手敲一个例子：定义一个string s = "hello world"，用substr取出"world"，用find找空格的位置，用insert在前面插入"##"，观察输出。5分钟时间。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第一个重点容器就是vector，这是STL里最常用的，没有之一。大家先想一下我们之前用原生数组有多麻烦：题目说输入n个数，n不知道，你得开个const int N=10005，开小了不够用，开大了浪费。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vector就解决这个问题。你定义一个空的vector，然后用push_back往尾巴上加元素，它自己会自动长大，不用你管大小。而且v[i]用法和数组一模一样，v.size()直接知道有多少个元素。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大家现在跟着我敲一遍：先加头文件#include &lt;vector&gt;，然后定义vector&lt;int&gt; v，三个push_back，然后输出size，输出v[0]，再用范围for遍历输出。跑起来你就知道有多爽了。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vector除了基本用法，还有几种初始化方式：vector(5)就是5个0，vector(5,1)就是5个1，vector v={1,2,3}直接列表初始化。二维vector就是vector套vector，vector&lt;vector&lt;int&gt;&gt; v(3, vector&lt;int&gt;(4,0))就是3行4列全部是0的二维数组。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新手有三个坑要注意：第一，v.size()是无符号数，循环用int i一般没问题，但要知道这个特性。第二，vector中间插入删除效率很低，O(n)，因为要挪动元素，如果经常在中间插删，用list或者deque。第三，用下标访问前必须push_back过元素，否则越界崩溃。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最后，vector和原生数组怎么选？大小已知追求速度用数组，不确定大小用vector。竞赛里很多时候数组开够大就行，但是工程里推荐vector。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vector虽然好用，但新手非常容易踩三个坑。第一个坑：下标越界。你定义了vector v(3)，只有v[0]、v[1]、v[2]是合法的，你写v[5]编译器不报错，运行时直接崩溃或者出现垃圾值。记住：要么先push_back，要么用resize提前开好空间。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第二个坑：v.size()是无符号数。如果你写for(int i = v.size()-2; i &gt;= 0; i--)，当v.size()是0的时候，size()-2会变成一个非常大的正数，循环根本停不下来，直接死循环。解决办法很简单：先int n = v.size()，把size存成int再循环，就安全了。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第三个坑：频繁在中间插入删除。vector中间插入要把后面所有元素往后挪，一次O(n)，插n次就是O(n²)，大数据量直接超时。频繁头部插删用deque，频繁中间插删用list。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deque叫双端队列。vector只能在尾巴上push_back，头部插入要挪动所有元素，O(n)很慢。但是deque头部和尾部都能O(1)插入删除，push_front往头插，pop_front删头，push_back尾插，pop_back删尾。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deque也支持下标访问，d[0]和vector一样。但是deque中间插入删除还是很慢，O(n)，所以不要拿它当中间插删用。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什么时候用deque？比如滑动窗口问题，BFS广度优先搜索的队列，需要频繁头删尾插，这时候用deque就对了。用法和vector几乎一样，只是多了头插头删的功能。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list是双向链表，它的特点是任意位置插入删除都是O(1)，因为只要改指针就行，不用挪动元素。但是它有一个致命缺点：内存不连续，所以不支持随机访问，你不能写lt[2]来取第三个元素，直接编译报错。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list遍历只能用范围for或者迭代器。竞赛里list用得不多，因为大多数时候vector+insert也能应付，而且vector有缓存优势速度更快。大家了解一下list的特点就行，知道什么时候该用它：需要频繁在已知位置插入删除元素的时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set是关联式容器里非常常用的一个，它有三个超能力：自动去重、自动排序、快速查找。你往里面插元素，重复的自动忽略，而且所有元素自动从小到大排好。你不用自己写排序，也不用自己去重，直接用就行。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常用操作：insert插入，count(x)判断元素在不在，返回1就是存在，0就是不存在，size()大小。这些操作的时间复杂度都是O(log n)，非常快。比如你要统计一串数字里有多少个不同的数，直接全部insert进set，然后输出size就行，一行代码搞定。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大家跟着敲一遍：插3个重复的数，输出size，再用count判断一下2在不在，然后遍历输出看看是不是自动排好序了。跑一遍你就明白set有多爽了。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map是键值对容器，就像字典：一个key对应一个value。比如学生名字对应分数，单词对应释义。map&lt;string, int&gt;就是string类型的key对应int类型的value。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用法非常简单：m["张三"] = 95 就是插入或修改，cout &lt;&lt; m["张三"] 就是取值，和数组用法一模一样。判断key在不在用m.count("张三")，返回1就是存在，0就是不存在。map会自动按key排序。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这里有个大坑要注意：如果你直接写cout &lt;&lt; m["赵六"]，而赵六根本不存在，map会自动创建一个赵六，值是0，然后把0输出给你！这会导致你的map里多了一个莫名其妙的元素。所以判断key在不在，一定要用count()，不要直接访问。大家跟着敲一遍，试试count判断，再试试遍历看看p.first和p.second是什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unordered_set和unordered_map用法跟set、map一模一样，唯一的区别就是底层实现不同。set/map底层是红黑树，所以自动排序，操作是O(log n)。unordered系列底层是哈希表，平均O(1)，比set快很多，但是它不排序，元素是乱的。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怎么选？如果你只需要快速判断元素在不在，或者去重，不需要排序，那用unordered系列，更快。如果你需要元素排好序，或者需要按顺序遍历，那用set/map。语法完全一样，只要把头文件从set换成unordered_set，类名换一下就行，其他代码一行都不用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注意：unordered系列最坏情况会退化成O(n)，但是竞赛里一般不会卡这种极端数据，大多数时候unordered更快。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priority_queue叫优先队列，底层是堆。它和普通队列不一样，普通队列是先进先出，优先队列每次取出的都是最大的元素（默认大根堆）。你push进去一堆数，top()拿出来的永远是当前最大的。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常用操作：push插入，top取队头最大元素，pop弹出队头。所有操作都是O(log n)，非常快。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默认是大根堆，队头最大。如果要小根堆，队头最小，写法稍微复杂一点，要写三个模板参数：priority_queue&lt;int, vector&lt;int&gt;, greater&lt;int&gt;&gt;。这个大家记住模板就行，用的时候直接抄。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常见用途：Top K问题（找前K大的数），任务调度优先级，Dijkstra最短路径算法里也用它。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这张表大家可以截个图，或者抄到笔记上。刚开始学不用背，写题的时候忘了就翻一下，用多了自然就记住了。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给大家一个入门建议：90%的场景你先想vector，需要去重查找用unordered_set，需要键值对用unordered_map，需要排序就配合sort函数。priority_queue在Top K和最短路径里用得多。其他容器用得很少，遇到再查。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sort是算法库里最常用的函数，没有之一。之前我们自己写冒泡排序，写半天还容易错，现在sort一行代码搞定，而且底层是快速排序，O(n log n)，比冒泡的O(n²)快N倍。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用法很简单：对数组排序就是sort(a, a+n)，a是数组名，a+n是结束位置。对vector排序就是sort(v.begin(), v.end())。默认是升序，从小到大。如果要降序，第三个参数加greater&lt;int&gt;()。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有个新手容易错的点：第二个参数是结束位置的下一个位置，不是结束位置本身。比如数组有5个元素，下标是0到4，那结束位置就是a+5，不是a+4。这个一定要记住，不然就少排一个元素。大家跟着敲一遍，升序降序都试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sort不仅能排数字，还能排结构体。比如我们要给学生按分数排序，这时候就要自己写比较函数cmp。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比较函数的规则很简单：return a.score &gt; b.score，就是降序，分数高的排前面。返回true代表a应该排在b前面。如果是a.score &lt; b.score就是升序。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多条件排序也很简单：先比分数，分数相同再比姓名，return a.score != b.score ? a.score &gt; b.score : a.name &lt; b.name。就是说分数不一样就按分数排，分数一样就按姓名字典序排。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sort第三个参数传cmp函数名就行，不用加括号。这个在做成绩排名、排行榜之类的题目里天天用。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reverse很简单，就是把数组或vector反转过来，reverse(v.begin(), v.end())一行代码。比如12345反转成54321。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重点是unique去重。很多同学以为unique可以直接去重，其实不是。unique只会删除相邻的重复元素，所以你必须先sort排序，把重复元素排到相邻位置，unique才能删掉它们。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而且unique不会真的把元素从容器里删掉，它只是把不重复的元素移到前面，返回一个迭代器，指向去重后的结束位置。你还要用erase把后面的垃圾元素真正删掉。所以完整去重三步：sort排序 → unique去重 → erase删尾。这三步缺一不可。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除了sort、reverse、unique，算法库里还有这些高频函数，大家记住用法，不用自己写循环。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find查找元素，count统计出现次数，max_element找最大值，min_element找最小值，accumulate求和（注意这个在numeric头文件里），fill批量填充。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这些函数都是O(n)的，比你自己写循环简洁多了。比如求数组最大值，不用自己写循环比较，直接max_element一行代码。求和也不用写循环累加，accumulate一行搞定。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刚开始用可能不熟练，写多了就记住了，不用死记硬背，忘了查一下就行。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D1326">
                <a:alpha val="100000"/>
              </a:srgbClr>
            </a:gs>
            <a:gs pos="100000">
              <a:srgbClr val="1E3A5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C++容器库与算法库入门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STL 标准模板库 · 从入门到实战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44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4C8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string · vector · deque · list · set · map · priority_queue · sort · reverse · unique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本节课学什么？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390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778000"/>
            <a:ext cx="4826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83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1 入门篇</a:t>
            </a:r>
            <a:endParaRPr lang="en-US" sz="1100"/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STL是什么？为什么不用数组？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六大组件快速了解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</a:p>
          <a:p>
            <a:pPr marL="0" indent="0" algn="l">
              <a:lnSpc>
                <a:spcPct val="183000"/>
              </a:lnSpc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2 序列式容器（重点）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string：字符串处理神器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vector：动态数组，最常用！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deque：双端队列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list：双向链表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350000" y="1778000"/>
            <a:ext cx="4826000" cy="406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83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3 关联式容器（重点）</a:t>
            </a:r>
            <a:endParaRPr lang="en-US" sz="1100"/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set：自动去重排序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map：键值对字典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unordered系列：哈希表更快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priority_queue：自动取最值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</a:p>
          <a:p>
            <a:pPr marL="0" indent="0" algn="l">
              <a:lnSpc>
                <a:spcPct val="183000"/>
              </a:lnSpc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4 算法库 + 实战</a:t>
            </a:r>
            <a:endParaRPr lang="en-US" sz="16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sort / reverse / unique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83000"/>
              </a:lnSpc>
            </a:pPr>
            <a:r>
              <a:rPr lang="en-US" sz="16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综合案例 + 常见坑总结</a:t>
            </a:r>
            <a:endParaRPr lang="en-US" sz="16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· STL概述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为什么我们不能一直用数组？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4826000" cy="2794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304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原生数组的痛点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35560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大小固定，开小了不够用，开大了浪费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中间插入/删除元素，要挪动所有后续元素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没有现成的排序、查找函数，全得自己写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不能自动扩容，越界访问直接崩溃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350000" y="2794000"/>
            <a:ext cx="4826000" cy="2794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604000" y="304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STL容器解决了什么？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604000" y="3556000"/>
            <a:ext cx="431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动态扩容，用多少占多少，自动增长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提供push_back、insert、erase等现成操作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配套sort、find、count等算法函数直接调用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经过千万级测试，稳定高效，不用自己造轮子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STL = Standard Template Library，C++官方提供的标准模板库，竞赛和工程都在用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STL 六大组件全景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636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651000"/>
          <a:ext cx="10160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2540000"/>
                <a:gridCol w="5588000"/>
              </a:tblGrid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组件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我们今天学什么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作用说明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容器 Container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string / vector / set / map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各种数据结构：数组、链表、树、哈希表，用来存数据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算法 Algorithm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563EB">
                        <a:alpha val="1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sort / reverse / unique / find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现成的算法函数：排序、查找、去重、统计，直接调用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迭代器 Iterator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A3B8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简单了解即可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像指针一样遍历容器元素，连接容器和算法的桥梁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63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仿函数/适配器/空间配置器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4A3B8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暂不深入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64748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高级组件，后续课程深入，今天只需会用容器和算法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16000" y="5969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今天目标：重点掌握【容器】和【算法】两大件，其他组件用到再学！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string 字符串：告别char数组的痛苦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60500"/>
            <a:ext cx="6604000" cy="4953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651000"/>
            <a:ext cx="609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&lt;iostream&gt;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&lt;string&gt;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必须加！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1. 定义字符串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string s1;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空字符串 ""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string s2 =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"hello"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直接赋值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2. 拼接：直接用+号！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string s3 = s2 +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 world"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s3 &lt;&lt; endl;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hello world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3. 三个最常用操作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s3.size();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11，字符串长度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s3[0];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h，和数组一样取字符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(s2 ==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"hello"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"相等"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直接==比较！不用strcmp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4. 读一整行带空格的字符串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string line;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getline(cin, line);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读一整行，包括空格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0010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string 爽在哪？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2095500"/>
            <a:ext cx="317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char数组的痛苦：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拼接要写strcat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比较要写strcmp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算长度要strlen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容易越界崩溃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01000" y="4572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string的爽点：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+号直接拼接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==直接比较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size()直接拿长度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自动扩容，不用管大小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string 常用操作实战：substr / find / insert / erase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524000"/>
          <a:ext cx="10160000" cy="444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556000"/>
                <a:gridCol w="4318000"/>
              </a:tblGrid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操作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代码示例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作用说明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substr(pos, len)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s.substr(2, 3)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从下标pos开始，取len个字符，截取子串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find(str)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s.find("abc")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查找子串位置，找不到返回 string::npos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insert(pos, str)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s.insert(0, "pre")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在下标pos位置插入字符串str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erase(pos, len)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s.erase(1, 2)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从下标pos开始，删除len个字符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+ / +=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 += "abc"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字符串末尾追加拼接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size() / length()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s.size()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返回字符串长度，两个用法完全一样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16000" y="6096000"/>
            <a:ext cx="10160000" cy="5080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6197600"/>
            <a:ext cx="965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注意：find 找不到时返回 string::npos，判断用 if(s.find("xx") == string::npos)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 动态数组：最常用的容器，没有之一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60500"/>
            <a:ext cx="6604000" cy="4953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651000"/>
            <a:ext cx="609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&lt;iostream&gt;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&lt;vector&gt;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必须加这个头文件！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1. 定义一个装int的空vector，名字叫v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v;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&lt;int&gt;表示里面装的是整数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2. 往尾巴上加元素，自动扩容！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v.push_back(10);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v现在是 [10]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v.push_back(20);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v现在是 [10,20]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v.push_back(30);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v现在是 [10,20,30]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3. 三个最常用操作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v.size();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3，元素个数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v[0];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10，和数组一样用下标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v.back();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30，最后一个元素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4. 遍历：把每个元素都读出来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x : v)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x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 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输出 10 20 30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0010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为什么用vector？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2095500"/>
            <a:ext cx="3175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原生数组的痛点：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必须提前开大小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开小了不够用，开大了浪费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不能知道自己有多长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8001000" y="4572000"/>
            <a:ext cx="317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vector的优势：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不用提前开大小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push_back自动长大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size()随时知道个数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用法和数组几乎一样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 进阶：初始化 / 二维vector / 注意事项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4953000" cy="2540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444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// 初始化方式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vector&lt;int&gt; v1; </a:t>
            </a: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空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vector&lt;int&gt; v2(5); </a:t>
            </a: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5个0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vector&lt;int&gt; v3(5, 1); </a:t>
            </a: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5个1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vector&lt;int&gt; v4 = {1,2,3}; </a:t>
            </a: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列表初始化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// 二维vector</a:t>
            </a:r>
            <a:endParaRPr lang="en-US" sz="1300" b="0" i="0" u="none" strike="noStrike">
              <a:solidFill>
                <a:srgbClr val="93C5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vector&lt;vector&lt;int&gt;&gt; v(3, vector&lt;int&gt;(4, 0));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223000" y="1524000"/>
            <a:ext cx="4953000" cy="2540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6477000" y="17145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新手三大坑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477000" y="2222500"/>
            <a:ext cx="4445000" cy="171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v.size() 是无符号数，循环条件 i&lt;v.size() 没问题，但 i 写成 int 可能有警告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vector 中间 insert/erase 效率低，O(n)，不要频繁中间插删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用下标访问前确保元素已 push_back，否则越界崩溃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101600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270000" y="4508500"/>
            <a:ext cx="965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 vs 原生数组：什么时候用哪个？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270000" y="5016500"/>
            <a:ext cx="965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大小已知、追求极致速度 → 原生数组 int a[N]（竞赛常用）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大小不确定、需要动态扩容、需要丰富操作 → vector（工程和大多数题都推荐）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二维、多维、传递给函数处理 → vector 更安全方便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 新手三大坑：避坑指南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坑1：下标越界 —— 访问了没 push_back 的位置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10160000" cy="952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21336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1B1B"/>
                </a:solidFill>
                <a:latin typeface="Roboto Mono"/>
                <a:ea typeface="Roboto Mono"/>
                <a:cs typeface="Roboto Mono"/>
                <a:sym typeface="Roboto Mono"/>
              </a:rPr>
              <a:t>vector&lt;int&gt; v(3); // 只有 v[0],v[1],v[2] 合法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91B1B"/>
                </a:solidFill>
                <a:latin typeface="Roboto Mono"/>
                <a:ea typeface="Roboto Mono"/>
                <a:cs typeface="Roboto Mono"/>
                <a:sym typeface="Roboto Mono"/>
              </a:rPr>
              <a:t>v[5] = 100; // 编译不报错！运行时崩溃/垃圾值！</a:t>
            </a:r>
            <a:endParaRPr lang="en-US" sz="1300" b="0" i="0" u="none" strike="noStrike">
              <a:solidFill>
                <a:srgbClr val="991B1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66534"/>
                </a:solidFill>
                <a:latin typeface="Roboto Mono"/>
                <a:ea typeface="Roboto Mono"/>
                <a:cs typeface="Roboto Mono"/>
                <a:sym typeface="Roboto Mono"/>
              </a:rPr>
              <a:t>正确：先 v.push_back()，或者 v.resize(n) 提前开空间</a:t>
            </a:r>
            <a:endParaRPr lang="en-US" sz="1300" b="1" i="0" u="none" strike="noStrike">
              <a:solidFill>
                <a:srgbClr val="16653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32385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坑2：size() 是无符号数 —— 减到负数变超大正数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746500"/>
            <a:ext cx="10160000" cy="952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38481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1B1B"/>
                </a:solidFill>
                <a:latin typeface="Roboto Mono"/>
                <a:ea typeface="Roboto Mono"/>
                <a:cs typeface="Roboto Mono"/>
                <a:sym typeface="Roboto Mono"/>
              </a:rPr>
              <a:t>for(int i = 0; i &lt; v.size(); i++) // 一般没问题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991B1B"/>
                </a:solidFill>
                <a:latin typeface="Roboto Mono"/>
                <a:ea typeface="Roboto Mono"/>
                <a:cs typeface="Roboto Mono"/>
                <a:sym typeface="Roboto Mono"/>
              </a:rPr>
              <a:t>for(int i = v.size()-2; i &gt;= 0; i--) // size()-2若为负数会死循环！</a:t>
            </a:r>
            <a:endParaRPr lang="en-US" sz="1300" b="0" i="0" u="none" strike="noStrike">
              <a:solidFill>
                <a:srgbClr val="991B1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66534"/>
                </a:solidFill>
                <a:latin typeface="Roboto Mono"/>
                <a:ea typeface="Roboto Mono"/>
                <a:cs typeface="Roboto Mono"/>
                <a:sym typeface="Roboto Mono"/>
              </a:rPr>
              <a:t>正确：用 int n = v.size(); 存成int再循环，更安全</a:t>
            </a:r>
            <a:endParaRPr lang="en-US" sz="1300" b="1" i="0" u="none" strike="noStrike">
              <a:solidFill>
                <a:srgbClr val="16653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953000"/>
            <a:ext cx="1016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坑3：中间 insert/erase 很慢 —— O(n) 操作别频繁用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461000"/>
            <a:ext cx="10160000" cy="9525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70000" y="5562600"/>
            <a:ext cx="965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91B1B"/>
                </a:solidFill>
                <a:latin typeface="Roboto Mono"/>
                <a:ea typeface="Roboto Mono"/>
                <a:cs typeface="Roboto Mono"/>
                <a:sym typeface="Roboto Mono"/>
              </a:rPr>
              <a:t>v.insert(v.begin(), x); // 每次都把所有元素往后挪，n次插入O(n²)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166534"/>
                </a:solidFill>
                <a:latin typeface="Roboto Mono"/>
                <a:ea typeface="Roboto Mono"/>
                <a:cs typeface="Roboto Mono"/>
                <a:sym typeface="Roboto Mono"/>
              </a:rPr>
              <a:t>正确：频繁头部插删用 deque；频繁中间插删用 list</a:t>
            </a:r>
            <a:endParaRPr lang="en-US" sz="1300" b="1" i="0" u="none" strike="noStrike">
              <a:solidFill>
                <a:srgbClr val="16653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deque 双端队列：前后都能快速操作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6350000" cy="4826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5842000" cy="450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&lt;deque&gt;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deque&lt;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头尾都能插，都是O(1)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d.push_back(10);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尾插：[10]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d.push_front(20);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头插：[20,10]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d.push_back(30);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[20,10,30]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头尾都能删，都是O(1)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d.pop_front();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删头：[10,30]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d.pop_back();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删尾：[10]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d[0];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10，也支持下标访问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d.size();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遍历和vector一样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x : d) cout &lt;&lt; x;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7470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deque vs vector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747000" y="2159000"/>
            <a:ext cx="342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vector：只能尾部push/pop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deque：头尾都能push/pop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都是O(1)时间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什么时候用deque？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滑动窗口问题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BFS广度优先搜索队列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两边都要进出的场景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注意：</a:t>
            </a:r>
            <a:endParaRPr lang="en-US" sz="14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中间插入删除还是O(n)，慢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list 双向链表：任意位置 O(1) 插删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5080000" cy="3556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4572000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 &lt;list&gt;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 std;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list&lt;</a:t>
            </a: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lt = {1,2,3};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lt.push_back(4); </a:t>
            </a: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尾插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lt.push_front(0); </a:t>
            </a: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头插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遍历只能用迭代器/范围for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3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x : lt)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x &lt;&lt; </a:t>
            </a:r>
            <a:r>
              <a:rPr lang="en-US" sz="13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 "</a:t>
            </a: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不能写 lt[2]！！！</a:t>
            </a:r>
            <a:endParaRPr lang="en-US" sz="13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3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3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6604000" y="165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list 关键特性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604000" y="2159000"/>
            <a:ext cx="457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67000"/>
              </a:lnSpc>
              <a:defRPr/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双向链表，内存不连续</a:t>
            </a:r>
            <a:endParaRPr lang="en-US" sz="1100"/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已知位置时插入删除 O(1)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不支持随机访问：不能 lt[i]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只能用迭代器或范围for遍历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有额外指针开销，空间略大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6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竞赛用得少，了解即可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16000" y="5334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70000" y="55245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警告：list 不支持下标访问！写 lt[2] 直接编译报错。只有内存连续的容器（数组、vector、deque）才能用 []。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 集合：自动去重 + 自动排序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60500"/>
            <a:ext cx="6604000" cy="4953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651000"/>
            <a:ext cx="609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&lt;set&gt;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必须加！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set&lt;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s;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插入元素，重复的自动忽略！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s.insert(3);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s.insert(1);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s.insert(2);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s.insert(3);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重复，自动忽略！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现在s = {1,2,3}，自动升序排好！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s.size();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3，只有3个元素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count(x)：O(log n)判断x在不在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(s.count(2))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"2存在"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输出这个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遍历：从小到大自动排好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x : s)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x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 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 2 3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0010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set 三大超能力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2095500"/>
            <a:ext cx="3175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自动去重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重复元素自动忽略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统计不同元素个数一行搞定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自动排序</a:t>
            </a:r>
            <a:endParaRPr lang="en-US" sz="1400" b="1" i="0" u="none" strike="noStrike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插入后自动从小到大排好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遍历就是有序的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快速查找</a:t>
            </a:r>
            <a:endParaRPr lang="en-US" sz="1400" b="1" i="0" u="none" strike="noStrike">
              <a:solidFill>
                <a:srgbClr val="16A34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count(x)判断在不在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 n)，比循环查找快N倍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 键值对：像字典一样按键查值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60500"/>
            <a:ext cx="6604000" cy="4953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651000"/>
            <a:ext cx="609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&lt;map&gt;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必须加！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key=学生名, value=分数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map&lt;string, 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score;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插入：[]赋值，和数组一样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score[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"张三"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] = 95;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score[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"李四"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] = 87;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取值：直接[]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score[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"张三"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];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95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判断key存在：count()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(score.count(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"赵六"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"存在"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endParaRPr lang="en-US" sz="1100" b="0" i="0" u="none" strike="noStrike">
              <a:solidFill>
                <a:srgbClr val="93C5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"不存在"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输出这个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遍历：p.first是key, p.second是value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auto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&amp; p : score)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p.first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":"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&lt;&lt; p.second;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0010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map 核心要点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2095500"/>
            <a:ext cx="3175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key唯一，不能重复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自动按key从小到大排序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所有操作 O(log n)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p.first = key（键）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p.second = value（值）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大坑！</a:t>
            </a:r>
            <a:endParaRPr lang="en-US" sz="14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直接访问不存在的key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会自动插入默认值0！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先 count() 判断再用！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unordered_set / unordered_map：哈希表版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651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2794000"/>
                <a:gridCol w="2794000"/>
                <a:gridCol w="2794000"/>
              </a:tblGrid>
              <a:tr h="609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set / map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unordered_set / map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怎么选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底层结构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红黑树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哈希表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看需求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稳定 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2C55E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 O(1) 更快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要快选unordered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是否排序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自动升序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F4444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不排序，乱序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要排序选set/map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36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用法语法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insert/[]/count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完全一样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只改头文件和名字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1016000" y="5461000"/>
            <a:ext cx="10160000" cy="889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270000" y="5651500"/>
            <a:ext cx="965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选型口诀：只需要快速查找/去重，不关心顺序 → 用unordered系列，更快；需要按顺序遍历、要排序 → 用set/map。语法完全一样，换个头文件就行。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priority_queue 优先队列：自动排序的堆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6350000" cy="4826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5842000" cy="450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&lt;queue&gt;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默认大根堆：队头最大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priority_queue&lt;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pq;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pq.push(30);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pq.push(10);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pq.push(20);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堆里自动排好：30,20,10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pq.top();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30，最大的在队头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pq.pop();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弹出队头30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pq.top();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20，现在最大的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小根堆：队头最小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priority_queue&lt;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,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&gt;,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greater&lt;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&gt;&gt; pq2;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pq2.push(30); pq2.push(10);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cout &lt;&lt; pq2.top();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10，最小的在队头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747000" y="1651000"/>
            <a:ext cx="342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747000" y="2159000"/>
            <a:ext cx="3429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push(x) 插入元素 O(log n)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top() 取队头最大元素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pop() 弹出队头元素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empty() 是否为空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size() 元素个数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常见用途：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Top K 问题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任务调度优先级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Dijkstra最短路径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容器选型速查表：什么场景用什么容器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524000"/>
          <a:ext cx="10160000" cy="457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651000"/>
                <a:gridCol w="2032000"/>
                <a:gridCol w="2286000"/>
                <a:gridCol w="41910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容器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特点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适用场景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string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字符串，可拼接截取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访问O(1)，拼接O(n)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所有字符串处理，替代char数组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vector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动态数组，尾部高效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尾部插删O(1)，访问O(1)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最通用，不知道大小就用它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deque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双端队列，头尾高效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头尾插删O(1)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滑动窗口、BFS队列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set/map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自动排序，红黑树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插删查O(log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需要排序+去重+查找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unordered系列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哈希表，不排序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平均O(1) 更快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只要快速查找，不关心顺序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priority_queue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堆，自动取最值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插/取最值O(log 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Top K、任务调度、Dijkstra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sort 排序：一行代码搞定排序，告别冒泡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460500"/>
            <a:ext cx="6604000" cy="4953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651000"/>
            <a:ext cx="6096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&lt;algorithm&gt;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必须加！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using namespace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std;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1. 对原生数组排序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a[5] = {3,1,4,1,5};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sort(a, a+5);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升序：1 1 3 4 5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2. 对vector排序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v = {3,1,4,1,5};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sort(v.begin(), v.end());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3. 降序：加 greater&lt;int&gt;()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sort(v.begin(), v.end(), greater&lt;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&gt;());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结果：5 4 3 1 1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遍历输出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x : v) cout &lt;&lt; x &lt;&lt; 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 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001000" y="1587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sort 必记要点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001000" y="2095500"/>
            <a:ext cx="3175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数组：sort(a, a+n)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vector：sort(v.begin(), v.end())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默认升序（从小到大）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降序加 greater&lt;int&gt;()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时间复杂度 O(n log n)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新手易错：</a:t>
            </a:r>
            <a:endParaRPr lang="en-US" sz="14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第二个参数是结束位置的下一个！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5个元素就是 a+5，不是a+4！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sort 结构体排序：自定义比较规则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6985000" cy="4826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6477000" cy="450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struct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Student {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string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name;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score;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比较函数：分数降序，分数相同按姓名升序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bool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cmp(Student a, Student b)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(a.score != b.score)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a.score &gt; b.score;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分数高的在前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else</a:t>
            </a:r>
            <a:endParaRPr lang="en-US" sz="1100" b="0" i="0" u="none" strike="noStrike">
              <a:solidFill>
                <a:srgbClr val="93C5F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a.name &lt; b.name;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同名按字典序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main()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Student stu[3] = {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"张三"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, 90},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"李四"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, 95},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r>
              <a:rPr lang="en-US" sz="1100" b="0" i="0" u="none" strike="noStrike">
                <a:solidFill>
                  <a:srgbClr val="FACC15"/>
                </a:solidFill>
                <a:latin typeface="Roboto Mono"/>
                <a:ea typeface="Roboto Mono"/>
                <a:cs typeface="Roboto Mono"/>
                <a:sym typeface="Roboto Mono"/>
              </a:rPr>
              <a:t>"王五"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, 90}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sort(stu, stu+3, cmp); </a:t>
            </a: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传cmp函数名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结果：李四95, 王五90, 张三90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382000" y="165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cmp 规则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0" y="2159000"/>
            <a:ext cx="279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 a &gt; b → 降序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 a &lt; b → 升序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多条件排序：</a:t>
            </a:r>
            <a:endParaRPr lang="en-US" sz="1400" b="1" i="0" u="none" strike="noStrike">
              <a:solidFill>
                <a:srgbClr val="2563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先比第一个条件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相同再比第二个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记住：</a:t>
            </a:r>
            <a:endParaRPr lang="en-US" sz="14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return true 代表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 应该排在 b 前面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reverse 反转 &amp; unique 去重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1524000"/>
            <a:ext cx="6985000" cy="4826000"/>
          </a:xfrm>
          <a:prstGeom prst="roundRect">
            <a:avLst>
              <a:gd name="adj" fmla="val 0"/>
            </a:avLst>
          </a:prstGeom>
          <a:solidFill>
            <a:srgbClr val="0F172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70000" y="1714500"/>
            <a:ext cx="6477000" cy="450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#include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&lt;algorithm&gt;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===== reverse 反转 =====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v = {1,2,3,4,5};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reverse(v.begin(), v.end());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结果：5 4 3 2 1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===== unique 去重三步走 =====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vector&lt;</a:t>
            </a: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&gt; v = {1,1,2,3,3,4,4,5};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第1步：先排序（unique只删相邻重复）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sort(v.begin(), v.end());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第2步：去重，返回新尾迭代器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93C5FD"/>
                </a:solidFill>
                <a:latin typeface="Roboto Mono"/>
                <a:ea typeface="Roboto Mono"/>
                <a:cs typeface="Roboto Mono"/>
                <a:sym typeface="Roboto Mono"/>
              </a:rPr>
              <a:t>auto</a:t>
            </a: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 it = unique(v.begin(), v.end());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第3步：删掉后面的垃圾元素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DCE6FF"/>
                </a:solidFill>
                <a:latin typeface="Roboto Mono"/>
                <a:ea typeface="Roboto Mono"/>
                <a:cs typeface="Roboto Mono"/>
                <a:sym typeface="Roboto Mono"/>
              </a:rPr>
              <a:t>v.erase(it, v.end());</a:t>
            </a:r>
            <a:endParaRPr lang="en-US" sz="1100" b="0" i="0" u="none" strike="noStrike">
              <a:solidFill>
                <a:srgbClr val="DCE6F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788CB4"/>
                </a:solidFill>
                <a:latin typeface="Roboto Mono"/>
                <a:ea typeface="Roboto Mono"/>
                <a:cs typeface="Roboto Mono"/>
                <a:sym typeface="Roboto Mono"/>
              </a:rPr>
              <a:t>// 结果：1 2 3 4 5，size=5</a:t>
            </a:r>
            <a:endParaRPr lang="en-US" sz="1100" b="0" i="0" u="none" strike="noStrike">
              <a:solidFill>
                <a:srgbClr val="788CB4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382000" y="16510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去重必记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0" y="2159000"/>
            <a:ext cx="2794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unique 不会真删！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它只是把不重复的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移到前面，返回新尾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你必须手动erase！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必须先sort！</a:t>
            </a:r>
            <a:endParaRPr lang="en-US" sz="14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unique只删相邻重复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不排序去不干净！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三步：sort → unique → erase</a:t>
            </a:r>
            <a:endParaRPr lang="en-US" sz="14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508000"/>
            <a:ext cx="1016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其他高频算法函数速查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42969">
            <a:off x="1016040" y="1200150"/>
            <a:ext cx="101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16000" y="1524000"/>
          <a:ext cx="10160000" cy="44704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556000"/>
                <a:gridCol w="43180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函数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作用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find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find(v.begin(), v.end(), x)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查找元素x，找到返回位置，找不到返回end()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count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count(v.begin(), v.end(), x)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统计元素x出现了多少次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max_element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max_element(v.begin(), v.end())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返回最大值的迭代器，解引用拿值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min_element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min_element(v.begin(), v.end())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返回最小值的迭代器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accumulate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accumulate(v.begin(), v.end(), 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求和，头文件&lt;numeric&gt;，第三个参数是初始值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fill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0" i="0" u="none" strike="noStrike">
                          <a:solidFill>
                            <a:srgbClr val="1F2329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fill(v.begin(), v.end(), 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把容器全部填充成同一个值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7709</Words>
  <Application>WPS 演示</Application>
  <PresentationFormat/>
  <Paragraphs>685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Sans SC</vt:lpstr>
      <vt:lpstr>Roboto Mono</vt:lpstr>
      <vt:lpstr>ksdb</vt:lpstr>
      <vt:lpstr>微软雅黑</vt:lpstr>
      <vt:lpstr>Arial Unicode MS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এ᭄Galaxyഒᩚ࿐</cp:lastModifiedBy>
  <cp:revision>1</cp:revision>
  <dcterms:created xsi:type="dcterms:W3CDTF">2026-09-21T09:27:55Z</dcterms:created>
  <dcterms:modified xsi:type="dcterms:W3CDTF">2026-09-21T09:27:55Z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{"Label":"1","ContentProducer":"001191110102MACQD9K64010000","ProduceID":"7687916704328436936","ReservedCode1":"","ContentPropagator":"","PropagateID":"","ReservedCode2":""}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A73E31CDC3C5417FB3CAEE613A5B3169_12</vt:lpwstr>
  </property>
</Properties>
</file>