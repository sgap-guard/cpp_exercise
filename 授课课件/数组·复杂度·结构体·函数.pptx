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5.svg" ContentType="image/svg+xml"/>
  <Override PartName="/ppt/media/image57.svg" ContentType="image/svg+xml"/>
  <Override PartName="/ppt/media/image59.svg" ContentType="image/svg+xml"/>
  <Override PartName="/ppt/media/image6.svg" ContentType="image/svg+xml"/>
  <Override PartName="/ppt/media/image61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handoutMasterIdLst>
    <p:handoutMasterId r:id="rId20"/>
  </p:handoutMasterIdLst>
  <p:sldIdLst>
    <p:sldId id="256" r:id="rId4"/>
    <p:sldId id="257" r:id="rId6"/>
    <p:sldId id="258" r:id="rId7"/>
    <p:sldId id="259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70" r:id="rId17"/>
    <p:sldId id="271" r:id="rId18"/>
    <p:sldId id="272" r:id="rId1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3" Type="http://schemas.openxmlformats.org/officeDocument/2006/relationships/tableStyles" Target="tableStyles.xml"/><Relationship Id="rId22" Type="http://schemas.openxmlformats.org/officeDocument/2006/relationships/viewProps" Target="viewProps.xml"/><Relationship Id="rId21" Type="http://schemas.openxmlformats.org/officeDocument/2006/relationships/presProps" Target="presProps.xml"/><Relationship Id="rId20" Type="http://schemas.openxmlformats.org/officeDocument/2006/relationships/handoutMaster" Target="handoutMasters/handoutMaster1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同学们大家好，欢迎第三课。上一节课我们已经简单认识了一维数组，会做简单的求和、找最大值。但是真正写算法题，我们还会遇到二维表格数据、需要评估代码跑的快不快、需要把一堆不同类型的数据打包在一起，还要学会把重复代码封装成函数。本节课内容非常看重动手，几乎每一页讲完，我都会现场敲代码演示，之后留出时间大家必须亲手敲，看懂不等于写出来，千万不要只复制粘贴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本节课四个大块，数组是存储，复杂度用来评判算法好坏，结构体用来打包异构数据，函数用来封装重复代码。这四块是后面所有算法、搜索、排序、动态规划的地基。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很多同学上节课好像听懂数组，但是一写代码就踩下标越界、忘记初始化。我们这一页不往前跳，老老实实复盘一维数组基础。一定要现场演示未初始化数组的垃圾值！学生只有亲眼看见，才会记住这个坑，而不是死记文字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这里是一维数组的四个高频实战模板，都是OJ入门真题。求最大值时一定要注意初始值不要设为0，特别是当数组可能包含负数时。大家要掌握这些模板，它们是解决更复杂问题的基础。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二维数组可以看作是一个表格，有行和列。我们使用两层嵌套循环来遍历二维数组，外层循环控制行，内层循环控制列。注意，行和列的下标都从0开始，打印时要注意换行的位置。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矩阵转置是二维数组的一个常见应用，核心是将原矩阵的行和列互换。这里我们总结了数组的全部坑点，大家一定要牢记，特别是下标越界和未初始化的问题，这些是新手最容易犯的错误。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很多同学写代码只关心能不能算出正确答案，但在算法竞赛中，效率同样重要。复杂度就是用来评估算法效率的工具。通过猜数字的例子，我们可以直观感受到不同算法的效率差异。复杂度关注的是随着输入规模增大，操作次数的增长趋势，而不是具体的执行时间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大O表示法是描述复杂度的标准方式。我们主要关注五种常见的复杂度：O(1)、O(log n)、O(n)、O(n log n)和O(n²)。它们的效率依次降低。分析复杂度时，我们忽略常数，只看增长最快的项。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分析复杂度时，关键是看循环层数和每层循环的次数。这里有几个案例需要注意：循环一半的复杂度还是O(n)，内层循环次数固定的两层循环复杂度也是O(n)，而内层循环次数随外层变化的才是O(n²)。大家要避免常见的复杂度误区，特别是要结合题目数据范围来选择合适的算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除了时间复杂度，我们还要关注空间复杂度，即程序占用的内存。在很多情况下，我们需要在时间和空间之间做出权衡，比如用空间换时间。做题时一定要注意题目给出的数据范围，合理选择算法和数据结构。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结构体是一种强大的数据组织工具，它允许我们将不同类型的数据组合在一起。我们使用struct关键字定义结构体，注意结构体定义结束后必须加分号。访问结构体成员需要使用点运算符。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结构体可以在定义时直接初始化，C++11还支持更清晰的乱序初始化。结构体数组可以存储多个结构体对象，这在处理批量数据时非常有用。访问结构体数组元素的成员时，要注意点运算符的位置。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函数是C++编程的核心，它可以将重复的代码封装起来，提高代码的复用性和可维护性。函数由声明、定义和调用三部分组成。注意，函数必须定义在main函数外面，不能嵌套定义。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当函数定义在main函数之后时，我们需要先声明函数原型。void函数没有返回值，适用于只执行操作而不需要返回结果的场景。注意函数声明和定义的语法区别，声明需要加分号，而定义不需要。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参数传递是函数的重点和难点。值传递会拷贝副本，函数内部的修改不会影响外部变量。而引用传递是直接操作原始变量，没有拷贝开销，适用于需要修改外部变量或传递大型数据的场景。一定要区分scanf的取地址符&amp;和函数引用的&amp;，它们的含义完全不同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8.svg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0" Type="http://schemas.openxmlformats.org/officeDocument/2006/relationships/notesSlide" Target="../notesSlides/notesSlide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6.svg"/><Relationship Id="rId7" Type="http://schemas.openxmlformats.org/officeDocument/2006/relationships/image" Target="../media/image15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Relationship Id="rId3" Type="http://schemas.openxmlformats.org/officeDocument/2006/relationships/image" Target="../media/image11.png"/><Relationship Id="rId2" Type="http://schemas.openxmlformats.org/officeDocument/2006/relationships/image" Target="../media/image10.svg"/><Relationship Id="rId10" Type="http://schemas.openxmlformats.org/officeDocument/2006/relationships/notesSlide" Target="../notesSlides/notesSlide2.xml"/><Relationship Id="rId1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8" Type="http://schemas.openxmlformats.org/officeDocument/2006/relationships/notesSlide" Target="../notesSlides/notesSlide4.xml"/><Relationship Id="rId17" Type="http://schemas.openxmlformats.org/officeDocument/2006/relationships/slideLayout" Target="../slideLayouts/slideLayout12.xml"/><Relationship Id="rId16" Type="http://schemas.openxmlformats.org/officeDocument/2006/relationships/tags" Target="../tags/tag16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0.svg"/><Relationship Id="rId8" Type="http://schemas.openxmlformats.org/officeDocument/2006/relationships/image" Target="../media/image19.png"/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image" Target="../media/image18.svg"/><Relationship Id="rId32" Type="http://schemas.openxmlformats.org/officeDocument/2006/relationships/notesSlide" Target="../notesSlides/notesSlide6.xml"/><Relationship Id="rId31" Type="http://schemas.openxmlformats.org/officeDocument/2006/relationships/slideLayout" Target="../slideLayouts/slideLayout12.xml"/><Relationship Id="rId30" Type="http://schemas.openxmlformats.org/officeDocument/2006/relationships/tags" Target="../tags/tag34.xml"/><Relationship Id="rId3" Type="http://schemas.openxmlformats.org/officeDocument/2006/relationships/image" Target="../media/image17.png"/><Relationship Id="rId29" Type="http://schemas.openxmlformats.org/officeDocument/2006/relationships/image" Target="../media/image28.svg"/><Relationship Id="rId28" Type="http://schemas.openxmlformats.org/officeDocument/2006/relationships/image" Target="../media/image27.png"/><Relationship Id="rId27" Type="http://schemas.openxmlformats.org/officeDocument/2006/relationships/tags" Target="../tags/tag33.xml"/><Relationship Id="rId26" Type="http://schemas.openxmlformats.org/officeDocument/2006/relationships/tags" Target="../tags/tag32.xml"/><Relationship Id="rId25" Type="http://schemas.openxmlformats.org/officeDocument/2006/relationships/tags" Target="../tags/tag31.xml"/><Relationship Id="rId24" Type="http://schemas.openxmlformats.org/officeDocument/2006/relationships/image" Target="../media/image26.svg"/><Relationship Id="rId23" Type="http://schemas.openxmlformats.org/officeDocument/2006/relationships/image" Target="../media/image25.png"/><Relationship Id="rId22" Type="http://schemas.openxmlformats.org/officeDocument/2006/relationships/tags" Target="../tags/tag30.xml"/><Relationship Id="rId21" Type="http://schemas.openxmlformats.org/officeDocument/2006/relationships/tags" Target="../tags/tag29.xml"/><Relationship Id="rId20" Type="http://schemas.openxmlformats.org/officeDocument/2006/relationships/tags" Target="../tags/tag28.xml"/><Relationship Id="rId2" Type="http://schemas.openxmlformats.org/officeDocument/2006/relationships/tags" Target="../tags/tag18.xml"/><Relationship Id="rId19" Type="http://schemas.openxmlformats.org/officeDocument/2006/relationships/image" Target="../media/image24.svg"/><Relationship Id="rId18" Type="http://schemas.openxmlformats.org/officeDocument/2006/relationships/image" Target="../media/image23.png"/><Relationship Id="rId17" Type="http://schemas.openxmlformats.org/officeDocument/2006/relationships/tags" Target="../tags/tag27.xml"/><Relationship Id="rId16" Type="http://schemas.openxmlformats.org/officeDocument/2006/relationships/tags" Target="../tags/tag26.xml"/><Relationship Id="rId15" Type="http://schemas.openxmlformats.org/officeDocument/2006/relationships/tags" Target="../tags/tag25.xml"/><Relationship Id="rId14" Type="http://schemas.openxmlformats.org/officeDocument/2006/relationships/image" Target="../media/image22.svg"/><Relationship Id="rId13" Type="http://schemas.openxmlformats.org/officeDocument/2006/relationships/image" Target="../media/image21.png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tags" Target="../tags/tag17.xml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32.svg"/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" Type="http://schemas.openxmlformats.org/officeDocument/2006/relationships/image" Target="../media/image2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png"/><Relationship Id="rId8" Type="http://schemas.openxmlformats.org/officeDocument/2006/relationships/image" Target="../media/image40.svg"/><Relationship Id="rId7" Type="http://schemas.openxmlformats.org/officeDocument/2006/relationships/image" Target="../media/image39.png"/><Relationship Id="rId6" Type="http://schemas.openxmlformats.org/officeDocument/2006/relationships/image" Target="../media/image38.svg"/><Relationship Id="rId5" Type="http://schemas.openxmlformats.org/officeDocument/2006/relationships/image" Target="../media/image37.png"/><Relationship Id="rId4" Type="http://schemas.openxmlformats.org/officeDocument/2006/relationships/image" Target="../media/image36.svg"/><Relationship Id="rId3" Type="http://schemas.openxmlformats.org/officeDocument/2006/relationships/image" Target="../media/image35.png"/><Relationship Id="rId2" Type="http://schemas.openxmlformats.org/officeDocument/2006/relationships/image" Target="../media/image34.svg"/><Relationship Id="rId14" Type="http://schemas.openxmlformats.org/officeDocument/2006/relationships/notesSlide" Target="../notesSlides/notesSlide9.xml"/><Relationship Id="rId13" Type="http://schemas.openxmlformats.org/officeDocument/2006/relationships/slideLayout" Target="../slideLayouts/slideLayout12.xml"/><Relationship Id="rId12" Type="http://schemas.openxmlformats.org/officeDocument/2006/relationships/image" Target="../media/image42.svg"/><Relationship Id="rId11" Type="http://schemas.openxmlformats.org/officeDocument/2006/relationships/image" Target="../media/image41.png"/><Relationship Id="rId10" Type="http://schemas.openxmlformats.org/officeDocument/2006/relationships/image" Target="../media/image22.svg"/><Relationship Id="rId1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1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48.svg"/><Relationship Id="rId5" Type="http://schemas.openxmlformats.org/officeDocument/2006/relationships/image" Target="../media/image47.png"/><Relationship Id="rId4" Type="http://schemas.openxmlformats.org/officeDocument/2006/relationships/image" Target="../media/image46.svg"/><Relationship Id="rId3" Type="http://schemas.openxmlformats.org/officeDocument/2006/relationships/image" Target="../media/image45.png"/><Relationship Id="rId2" Type="http://schemas.openxmlformats.org/officeDocument/2006/relationships/image" Target="../media/image44.svg"/><Relationship Id="rId1" Type="http://schemas.openxmlformats.org/officeDocument/2006/relationships/image" Target="../media/image43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2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8.svg"/><Relationship Id="rId5" Type="http://schemas.openxmlformats.org/officeDocument/2006/relationships/image" Target="../media/image53.png"/><Relationship Id="rId4" Type="http://schemas.openxmlformats.org/officeDocument/2006/relationships/image" Target="../media/image52.svg"/><Relationship Id="rId3" Type="http://schemas.openxmlformats.org/officeDocument/2006/relationships/image" Target="../media/image51.png"/><Relationship Id="rId2" Type="http://schemas.openxmlformats.org/officeDocument/2006/relationships/image" Target="../media/image50.svg"/><Relationship Id="rId1" Type="http://schemas.openxmlformats.org/officeDocument/2006/relationships/image" Target="../media/image49.pn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61.svg"/><Relationship Id="rId7" Type="http://schemas.openxmlformats.org/officeDocument/2006/relationships/image" Target="../media/image60.png"/><Relationship Id="rId6" Type="http://schemas.openxmlformats.org/officeDocument/2006/relationships/image" Target="../media/image59.svg"/><Relationship Id="rId5" Type="http://schemas.openxmlformats.org/officeDocument/2006/relationships/image" Target="../media/image58.png"/><Relationship Id="rId4" Type="http://schemas.openxmlformats.org/officeDocument/2006/relationships/image" Target="../media/image57.svg"/><Relationship Id="rId3" Type="http://schemas.openxmlformats.org/officeDocument/2006/relationships/image" Target="../media/image56.png"/><Relationship Id="rId2" Type="http://schemas.openxmlformats.org/officeDocument/2006/relationships/image" Target="../media/image55.svg"/><Relationship Id="rId10" Type="http://schemas.openxmlformats.org/officeDocument/2006/relationships/notesSlide" Target="../notesSlides/notesSlide13.xml"/><Relationship Id="rId1" Type="http://schemas.openxmlformats.org/officeDocument/2006/relationships/image" Target="../media/image54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6F42C1">
                <a:alpha val="100000"/>
              </a:srgbClr>
            </a:gs>
            <a:gs pos="100000">
              <a:srgbClr val="D946EF">
                <a:alpha val="100000"/>
              </a:srgbClr>
            </a:gs>
          </a:gsLst>
          <a:lin ang="27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016000" y="-1016000"/>
            <a:ext cx="3810000" cy="3810000"/>
          </a:xfrm>
          <a:prstGeom prst="ellipse">
            <a:avLst/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9144000" y="4064000"/>
            <a:ext cx="5080000" cy="5080000"/>
          </a:xfrm>
          <a:prstGeom prst="ellipse">
            <a:avLst/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0" y="1016000"/>
            <a:ext cx="1219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C++进阶基础：数组 · 复杂度 · 结构体 · 函数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2540000"/>
            <a:ext cx="1219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零基础算法入门第三课 ｜ 大量代码实操训练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571500" y="3556000"/>
            <a:ext cx="26035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12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62000" y="37465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270000" y="3746500"/>
            <a:ext cx="1841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多维数组进阶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深入二维矩阵存储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掌握多维数据遍历技巧</a:t>
            </a:r>
            <a:endParaRPr lang="en-US" sz="13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3365500" y="3556000"/>
            <a:ext cx="26035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12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56000" y="3746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064000" y="3746500"/>
            <a:ext cx="1841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算法复杂度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时间/空间效率评估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理解代码性能优化本质</a:t>
            </a:r>
            <a:endParaRPr lang="en-US" sz="13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6159500" y="3556000"/>
            <a:ext cx="26035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12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50000" y="37465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858000" y="3746500"/>
            <a:ext cx="1841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结构体封装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自定义复合数据类型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高效组织复杂业务数据</a:t>
            </a:r>
            <a:endParaRPr lang="en-US" sz="13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953500" y="3556000"/>
            <a:ext cx="2603500" cy="1651000"/>
          </a:xfrm>
          <a:prstGeom prst="roundRect">
            <a:avLst>
              <a:gd name="adj" fmla="val 0"/>
            </a:avLst>
          </a:prstGeom>
          <a:solidFill>
            <a:srgbClr val="FFFFFF">
              <a:alpha val="12000"/>
            </a:srgbClr>
          </a:solidFill>
          <a:ln w="12700" cap="flat" cmpd="sng">
            <a:solidFill>
              <a:srgbClr val="FFFFF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144000" y="37465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9652000" y="3746500"/>
            <a:ext cx="1841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函数模块化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实现代码复用与解耦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培养工程化编程思维</a:t>
            </a:r>
            <a:endParaRPr lang="en-US" sz="13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8" name="Connector 18"/>
          <p:cNvCxnSpPr/>
          <p:nvPr/>
        </p:nvCxnSpPr>
        <p:spPr>
          <a:xfrm rot="-3951">
            <a:off x="571504" y="5581650"/>
            <a:ext cx="1104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2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本节课全部内容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07000" cy="2222500"/>
          </a:xfrm>
          <a:prstGeom prst="roundRect">
            <a:avLst>
              <a:gd name="adj" fmla="val 0"/>
            </a:avLst>
          </a:prstGeom>
          <a:solidFill>
            <a:srgbClr val="6F42C1">
              <a:alpha val="6000"/>
            </a:srgbClr>
          </a:solidFill>
          <a:ln cap="flat" cmpd="sng">
            <a:solidFill>
              <a:srgbClr val="5629A8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207000" cy="50800"/>
          </a:xfrm>
          <a:prstGeom prst="roundRect">
            <a:avLst>
              <a:gd name="adj" fmla="val 0"/>
            </a:avLst>
          </a:prstGeom>
          <a:solidFill>
            <a:srgbClr val="6F42C1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778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18034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F42C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01 数组系统讲解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349500"/>
            <a:ext cx="4699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从零复盘一维数组核心逻辑，掌握矩阵遍历与求和的实战技巧，深入解析高频坑点并提供可复用代码模板，筑牢数据存储与处理的编程基础。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1524000"/>
            <a:ext cx="5207000" cy="2222500"/>
          </a:xfrm>
          <a:prstGeom prst="roundRect">
            <a:avLst>
              <a:gd name="adj" fmla="val 0"/>
            </a:avLst>
          </a:prstGeom>
          <a:solidFill>
            <a:srgbClr val="D946EF">
              <a:alpha val="6000"/>
            </a:srgbClr>
          </a:solidFill>
          <a:ln cap="flat" cmpd="sng">
            <a:solidFill>
              <a:srgbClr val="BF29D5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223000" y="1524000"/>
            <a:ext cx="5207000" cy="50800"/>
          </a:xfrm>
          <a:prstGeom prst="roundRect">
            <a:avLst>
              <a:gd name="adj" fmla="val 0"/>
            </a:avLst>
          </a:prstGeom>
          <a:solidFill>
            <a:srgbClr val="D946E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1778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985000" y="18034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946E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02 算法复杂度解析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77000" y="2349500"/>
            <a:ext cx="4699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从生活案例切入理解复杂度本质，掌握大O表示法与常见复杂度等级，深入分析时间与空间的权衡艺术，通过课堂实操强化算法评估能力。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4000500"/>
            <a:ext cx="5207000" cy="2222500"/>
          </a:xfrm>
          <a:prstGeom prst="roundRect">
            <a:avLst>
              <a:gd name="adj" fmla="val 0"/>
            </a:avLst>
          </a:prstGeom>
          <a:solidFill>
            <a:srgbClr val="0D6EFD">
              <a:alpha val="6000"/>
            </a:srgbClr>
          </a:solidFill>
          <a:ln cap="flat" cmpd="sng">
            <a:solidFill>
              <a:srgbClr val="005CE4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762000" y="4000500"/>
            <a:ext cx="5207000" cy="50800"/>
          </a:xfrm>
          <a:prstGeom prst="roundRect">
            <a:avLst>
              <a:gd name="adj" fmla="val 0"/>
            </a:avLst>
          </a:prstGeom>
          <a:solidFill>
            <a:srgbClr val="0D6EF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42545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524000" y="42799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D6E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03 结构体 struct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1016000" y="4826000"/>
            <a:ext cx="4699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理解结构体封装异构数据的核心价值，掌握定义、初始化与成员访问的全流程，结合数组与函数应用，完成真实场景下的数据建模实战。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223000" y="4000500"/>
            <a:ext cx="5207000" cy="2222500"/>
          </a:xfrm>
          <a:prstGeom prst="roundRect">
            <a:avLst>
              <a:gd name="adj" fmla="val 0"/>
            </a:avLst>
          </a:prstGeom>
          <a:solidFill>
            <a:srgbClr val="198754">
              <a:alpha val="6000"/>
            </a:srgbClr>
          </a:solidFill>
          <a:ln cap="flat" cmpd="sng">
            <a:solidFill>
              <a:srgbClr val="096E3F">
                <a:alpha val="6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6223000" y="4000500"/>
            <a:ext cx="5207000" cy="50800"/>
          </a:xfrm>
          <a:prstGeom prst="roundRect">
            <a:avLst>
              <a:gd name="adj" fmla="val 0"/>
            </a:avLst>
          </a:prstGeom>
          <a:solidFill>
            <a:srgbClr val="198754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477000" y="42545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6985000" y="42799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987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04 函数与递归入门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6477000" y="4826000"/>
            <a:ext cx="4699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深度解析函数定义、调用与参数传递机制，对比值传递与引用传递的差异，初探递归的核心逻辑与应用场景，通过综合练习实现代码复用与优化。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0" y="-1270000"/>
            <a:ext cx="3810000" cy="3810000"/>
          </a:xfrm>
          <a:prstGeom prst="ellipse">
            <a:avLst/>
          </a:prstGeom>
          <a:solidFill>
            <a:srgbClr val="6F42C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270000" y="5080000"/>
            <a:ext cx="2540000" cy="2540000"/>
          </a:xfrm>
          <a:prstGeom prst="ellipse">
            <a:avLst/>
          </a:prstGeom>
          <a:solidFill>
            <a:srgbClr val="6F42C1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PART01‑1：一维数组【从零复盘】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6F42C1">
              <a:alpha val="8000"/>
            </a:srgbClr>
          </a:solidFill>
          <a:ln w="12700" cap="flat" cmpd="sng">
            <a:solidFill>
              <a:srgbClr val="6F42C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524000"/>
            <a:ext cx="1028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核心概念：数组是内存中</a:t>
            </a:r>
            <a:r>
              <a:rPr lang="en-US" sz="14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连续的、同类型</a:t>
            </a: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的存储单元集合，如同带编号的储物柜。</a:t>
            </a:r>
            <a:r>
              <a:rPr lang="en-US" sz="14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关键规则：下标（索引）永远从 0 开始！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413000"/>
            <a:ext cx="3429000" cy="2286000"/>
          </a:xfrm>
          <a:prstGeom prst="roundRect">
            <a:avLst>
              <a:gd name="adj" fmla="val 0"/>
            </a:avLst>
          </a:prstGeom>
          <a:solidFill>
            <a:srgbClr val="6F42C1">
              <a:alpha val="5000"/>
            </a:srgbClr>
          </a:solidFill>
          <a:ln w="12700" cap="flat" cmpd="sng">
            <a:solidFill>
              <a:srgbClr val="6F42C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952500" y="2603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F42C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核心铁律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952500" y="3048000"/>
            <a:ext cx="3048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① 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类型统一：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所有元素必须是同一数据类型（如全int），严禁混搭。</a:t>
            </a:r>
            <a:b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② 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下标从0：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arr[6]的合法下标是 0~5，arr[6]属于越界！</a:t>
            </a:r>
            <a:b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③ 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连续存储：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内存地址连续，支持快速随机访问。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81500" y="2413000"/>
            <a:ext cx="3429000" cy="2286000"/>
          </a:xfrm>
          <a:prstGeom prst="roundRect">
            <a:avLst>
              <a:gd name="adj" fmla="val 0"/>
            </a:avLst>
          </a:prstGeom>
          <a:solidFill>
            <a:srgbClr val="6F42C1">
              <a:alpha val="5000"/>
            </a:srgbClr>
          </a:solidFill>
          <a:ln w="12700" cap="flat" cmpd="sng">
            <a:solidFill>
              <a:srgbClr val="6F42C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572000" y="2603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F42C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三种定义方式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72000" y="3048000"/>
            <a:ext cx="3048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全初始化：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int arr[6] = {1,2,3,4,5,6};</a:t>
            </a:r>
            <a:b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部分初始化：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未赋值位自动补0</a:t>
            </a:r>
            <a:b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int arr[6] = {1,2}; // 其余为0</a:t>
            </a:r>
            <a:b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仅开空间：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局部数组含随机垃圾值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001000" y="2413000"/>
            <a:ext cx="3429000" cy="2286000"/>
          </a:xfrm>
          <a:prstGeom prst="roundRect">
            <a:avLst>
              <a:gd name="adj" fmla="val 0"/>
            </a:avLst>
          </a:prstGeom>
          <a:solidFill>
            <a:srgbClr val="6F42C1">
              <a:alpha val="5000"/>
            </a:srgbClr>
          </a:solidFill>
          <a:ln w="12700" cap="flat" cmpd="sng">
            <a:solidFill>
              <a:srgbClr val="6F42C1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8191500" y="2603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6F42C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标准遍历（For循环）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191500" y="3048000"/>
            <a:ext cx="3048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核心逻辑：利用下标从0到n-1循环</a:t>
            </a:r>
            <a:b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代码模板：</a:t>
            </a:r>
            <a:b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for(int i=0; i&lt;6; i++) {</a:t>
            </a:r>
            <a:b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cout &lt;&lt; arr[i] &lt;&lt; " ";</a:t>
            </a:r>
            <a:b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}</a:t>
            </a:r>
            <a:b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⚠️ 条件必须是 </a:t>
            </a:r>
            <a:r>
              <a:rPr lang="en-US" sz="13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 &lt; 数组长度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5016500"/>
            <a:ext cx="3429000" cy="1397000"/>
          </a:xfrm>
          <a:prstGeom prst="roundRect">
            <a:avLst>
              <a:gd name="adj" fmla="val 0"/>
            </a:avLst>
          </a:prstGeom>
          <a:solidFill>
            <a:srgbClr val="FEF2F2">
              <a:alpha val="100000"/>
            </a:srgbClr>
          </a:solidFill>
          <a:ln w="12700" cap="flat" cmpd="sng">
            <a:solidFill>
              <a:srgbClr val="EF444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952500" y="51435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B91C1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❌ 下标越界 (最致命)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52500" y="55245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7F1D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访问arr[6]或更大下标，会非法篡改内存，导致程序崩溃或数据错乱，这类Bug极难排查！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381500" y="5016500"/>
            <a:ext cx="3429000" cy="1397000"/>
          </a:xfrm>
          <a:prstGeom prst="roundRect">
            <a:avLst>
              <a:gd name="adj" fmla="val 0"/>
            </a:avLst>
          </a:prstGeom>
          <a:solidFill>
            <a:srgbClr val="FEF2F2">
              <a:alpha val="100000"/>
            </a:srgbClr>
          </a:solidFill>
          <a:ln w="12700" cap="flat" cmpd="sng">
            <a:solidFill>
              <a:srgbClr val="EF444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4572000" y="51435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B91C1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❌ 未初始化就读取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4572000" y="55245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7F1D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局部数组默认是随机垃圾值，直接使用会出现莫名其妙的数字，必须先赋值再使用。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8001000" y="5016500"/>
            <a:ext cx="3429000" cy="1397000"/>
          </a:xfrm>
          <a:prstGeom prst="roundRect">
            <a:avLst>
              <a:gd name="adj" fmla="val 0"/>
            </a:avLst>
          </a:prstGeom>
          <a:solidFill>
            <a:srgbClr val="FEF2F2">
              <a:alpha val="100000"/>
            </a:srgbClr>
          </a:solidFill>
          <a:ln w="12700" cap="flat" cmpd="sng">
            <a:solidFill>
              <a:srgbClr val="EF444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8191500" y="5143500"/>
            <a:ext cx="304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B91C1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❌ 循环条件写错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8191500" y="5524500"/>
            <a:ext cx="304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7F1D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误写 i &lt;= 6 会多循环一次，触发越界RE！记住：数组长度为n时，循环条件永远是 i &lt; n。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414000" y="-762000"/>
            <a:ext cx="2540000" cy="2540000"/>
          </a:xfrm>
          <a:prstGeom prst="ellipse">
            <a:avLst/>
          </a:prstGeom>
          <a:solidFill>
            <a:srgbClr val="6F42C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508000" y="5334000"/>
            <a:ext cx="1905000" cy="1905000"/>
          </a:xfrm>
          <a:prstGeom prst="ellipse">
            <a:avLst/>
          </a:prstGeom>
          <a:solidFill>
            <a:srgbClr val="6F42C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PART01‑2：一维数组高频实战模板（完整可运行代码）</a:t>
            </a:r>
            <a:endParaRPr lang="en-US" sz="1100"/>
          </a:p>
        </p:txBody>
      </p:sp>
      <p:sp>
        <p:nvSpPr>
          <p:cNvPr id="5" name="AutoShape 5"/>
          <p:cNvSpPr/>
          <p:nvPr>
            <p:custDataLst>
              <p:tags r:id="rId1"/>
            </p:custDataLst>
          </p:nvPr>
        </p:nvSpPr>
        <p:spPr>
          <a:xfrm>
            <a:off x="762000" y="13970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6F42C1">
              <a:alpha val="6000"/>
            </a:srgbClr>
          </a:solidFill>
          <a:ln w="12700" cap="flat" cmpd="sng">
            <a:solidFill>
              <a:srgbClr val="6F42C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889000" y="1524000"/>
            <a:ext cx="5016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F42C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模板：数组求和（遍历累加）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889000" y="1968500"/>
            <a:ext cx="5016500" cy="1143000"/>
          </a:xfrm>
          <a:prstGeom prst="roundRect">
            <a:avLst>
              <a:gd name="adj" fmla="val 0"/>
            </a:avLst>
          </a:prstGeom>
          <a:solidFill>
            <a:srgbClr val="2D2D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>
            <p:custDataLst>
              <p:tags r:id="rId4"/>
            </p:custDataLst>
          </p:nvPr>
        </p:nvSpPr>
        <p:spPr>
          <a:xfrm>
            <a:off x="952500" y="2032000"/>
            <a:ext cx="488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DCDCDC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" panose="02000000000000000000" charset="0"/>
              </a:rPr>
              <a:t>int sum = 0; int arr[6] = {12,45,7,88,23,56};</a:t>
            </a:r>
            <a:br>
              <a:rPr lang="en-US" sz="1200" b="1" i="0" u="none" strike="noStrike">
                <a:solidFill>
                  <a:srgbClr val="DCDCDC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" panose="02000000000000000000" charset="0"/>
              </a:rPr>
            </a:br>
            <a:r>
              <a:rPr lang="en-US" sz="1200" b="1" i="0" u="none" strike="noStrike">
                <a:solidFill>
                  <a:srgbClr val="DCDCDC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" panose="02000000000000000000" charset="0"/>
              </a:rPr>
              <a:t>for(int i = 0; i &lt; 6; i++) { sum += arr[i]; }</a:t>
            </a:r>
            <a:br>
              <a:rPr lang="en-US" sz="1200" b="1" i="0" u="none" strike="noStrike">
                <a:solidFill>
                  <a:srgbClr val="DCDCDC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" panose="02000000000000000000" charset="0"/>
              </a:rPr>
            </a:br>
            <a:r>
              <a:rPr lang="en-US" sz="1200" b="1" i="0" u="none" strike="noStrike">
                <a:solidFill>
                  <a:srgbClr val="DCDCDC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" panose="02000000000000000000" charset="0"/>
              </a:rPr>
              <a:t>cout &lt;&lt; "数组总和 = " &lt;&lt; sum;</a:t>
            </a:r>
            <a:endParaRPr lang="en-US" sz="1100" b="1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9" name="AutoShape 9"/>
          <p:cNvSpPr/>
          <p:nvPr>
            <p:custDataLst>
              <p:tags r:id="rId5"/>
            </p:custDataLst>
          </p:nvPr>
        </p:nvSpPr>
        <p:spPr>
          <a:xfrm>
            <a:off x="6286500" y="13970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6F42C1">
              <a:alpha val="6000"/>
            </a:srgbClr>
          </a:solidFill>
          <a:ln w="12700" cap="flat" cmpd="sng">
            <a:solidFill>
              <a:srgbClr val="6F42C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>
            <p:custDataLst>
              <p:tags r:id="rId6"/>
            </p:custDataLst>
          </p:nvPr>
        </p:nvSpPr>
        <p:spPr>
          <a:xfrm>
            <a:off x="6413500" y="1524000"/>
            <a:ext cx="5016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F42C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模板：最值查找（⚠️避坑：初始值≠0）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7"/>
            </p:custDataLst>
          </p:nvPr>
        </p:nvSpPr>
        <p:spPr>
          <a:xfrm>
            <a:off x="6413500" y="1968500"/>
            <a:ext cx="5016500" cy="1143000"/>
          </a:xfrm>
          <a:prstGeom prst="roundRect">
            <a:avLst>
              <a:gd name="adj" fmla="val 0"/>
            </a:avLst>
          </a:prstGeom>
          <a:solidFill>
            <a:srgbClr val="2D2D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>
            <p:custDataLst>
              <p:tags r:id="rId8"/>
            </p:custDataLst>
          </p:nvPr>
        </p:nvSpPr>
        <p:spPr>
          <a:xfrm>
            <a:off x="6477000" y="2032000"/>
            <a:ext cx="488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DCDCDC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" panose="02000000000000000000" charset="0"/>
              </a:rPr>
              <a:t>int max_v = arr[0], min_v = arr[0];</a:t>
            </a:r>
            <a:br>
              <a:rPr lang="en-US" sz="1200" b="1" i="0" u="none" strike="noStrike">
                <a:solidFill>
                  <a:srgbClr val="DCDCDC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" panose="02000000000000000000" charset="0"/>
              </a:rPr>
            </a:br>
            <a:r>
              <a:rPr lang="en-US" sz="1200" b="1" i="0" u="none" strike="noStrike">
                <a:solidFill>
                  <a:srgbClr val="DCDCDC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" panose="02000000000000000000" charset="0"/>
              </a:rPr>
              <a:t>for(int i = 1; i &lt; 6; i++) {</a:t>
            </a:r>
            <a:br>
              <a:rPr lang="en-US" sz="1200" b="1" i="0" u="none" strike="noStrike">
                <a:solidFill>
                  <a:srgbClr val="DCDCDC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" panose="02000000000000000000" charset="0"/>
              </a:rPr>
            </a:br>
            <a:r>
              <a:rPr lang="en-US" sz="1200" b="1" i="0" u="none" strike="noStrike">
                <a:solidFill>
                  <a:srgbClr val="DCDCDC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" panose="02000000000000000000" charset="0"/>
              </a:rPr>
              <a:t>if(arr[i] &gt; max_v) max_v = arr[i]; // 初始值必须用数组首元素</a:t>
            </a:r>
            <a:endParaRPr lang="en-US" sz="1100" b="1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9"/>
            </p:custDataLst>
          </p:nvPr>
        </p:nvSpPr>
        <p:spPr>
          <a:xfrm>
            <a:off x="762000" y="34290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6F42C1">
              <a:alpha val="6000"/>
            </a:srgbClr>
          </a:solidFill>
          <a:ln w="12700" cap="flat" cmpd="sng">
            <a:solidFill>
              <a:srgbClr val="6F42C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>
            <p:custDataLst>
              <p:tags r:id="rId10"/>
            </p:custDataLst>
          </p:nvPr>
        </p:nvSpPr>
        <p:spPr>
          <a:xfrm>
            <a:off x="889000" y="3556000"/>
            <a:ext cx="5016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F42C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模板：逆序遍历（倒序输出）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11"/>
            </p:custDataLst>
          </p:nvPr>
        </p:nvSpPr>
        <p:spPr>
          <a:xfrm>
            <a:off x="889000" y="4000500"/>
            <a:ext cx="5016500" cy="1143000"/>
          </a:xfrm>
          <a:prstGeom prst="roundRect">
            <a:avLst>
              <a:gd name="adj" fmla="val 0"/>
            </a:avLst>
          </a:prstGeom>
          <a:solidFill>
            <a:srgbClr val="2D2D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>
            <p:custDataLst>
              <p:tags r:id="rId12"/>
            </p:custDataLst>
          </p:nvPr>
        </p:nvSpPr>
        <p:spPr>
          <a:xfrm>
            <a:off x="952500" y="4064000"/>
            <a:ext cx="488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DCDCDC"/>
                </a:solidFill>
                <a:latin typeface="Roboto" panose="02000000000000000000" charset="0"/>
                <a:ea typeface="Roboto" panose="02000000000000000000" charset="0"/>
                <a:cs typeface="Roboto" panose="02000000000000000000" charset="0"/>
                <a:sym typeface="Roboto" panose="02000000000000000000" charset="0"/>
              </a:rPr>
              <a:t>//</a:t>
            </a:r>
            <a:r>
              <a:rPr lang="en-US" sz="1200" b="1" i="0" u="none" strike="noStrike">
                <a:solidFill>
                  <a:srgbClr val="DCDCDC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" panose="02000000000000000000" charset="0"/>
              </a:rPr>
              <a:t> 从最后一个下标开始，递减至0</a:t>
            </a:r>
            <a:br>
              <a:rPr lang="en-US" sz="1200" b="1" i="0" u="none" strike="noStrike">
                <a:solidFill>
                  <a:srgbClr val="DCDCDC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" panose="02000000000000000000" charset="0"/>
              </a:rPr>
            </a:br>
            <a:r>
              <a:rPr lang="en-US" sz="1200" b="1" i="0" u="none" strike="noStrike">
                <a:solidFill>
                  <a:srgbClr val="DCDCDC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" panose="02000000000000000000" charset="0"/>
              </a:rPr>
              <a:t>for(int i = 5; i &gt;= 0; i--) {</a:t>
            </a:r>
            <a:br>
              <a:rPr lang="en-US" sz="1200" b="1" i="0" u="none" strike="noStrike">
                <a:solidFill>
                  <a:srgbClr val="DCDCDC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" panose="02000000000000000000" charset="0"/>
              </a:rPr>
            </a:br>
            <a:r>
              <a:rPr lang="en-US" sz="1200" b="1" i="0" u="none" strike="noStrike">
                <a:solidFill>
                  <a:srgbClr val="DCDCDC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" panose="02000000000000000000" charset="0"/>
              </a:rPr>
              <a:t>cout &lt;&lt; arr[i] &lt;&lt; " "; // 输出顺序：56 23 88 7 45 12</a:t>
            </a:r>
            <a:endParaRPr lang="en-US" sz="1100" b="1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17" name="AutoShape 17"/>
          <p:cNvSpPr/>
          <p:nvPr>
            <p:custDataLst>
              <p:tags r:id="rId13"/>
            </p:custDataLst>
          </p:nvPr>
        </p:nvSpPr>
        <p:spPr>
          <a:xfrm>
            <a:off x="6286500" y="3429000"/>
            <a:ext cx="5270500" cy="1841500"/>
          </a:xfrm>
          <a:prstGeom prst="roundRect">
            <a:avLst>
              <a:gd name="adj" fmla="val 0"/>
            </a:avLst>
          </a:prstGeom>
          <a:solidFill>
            <a:srgbClr val="6F42C1">
              <a:alpha val="6000"/>
            </a:srgbClr>
          </a:solidFill>
          <a:ln w="12700" cap="flat" cmpd="sng">
            <a:solidFill>
              <a:srgbClr val="6F42C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>
            <p:custDataLst>
              <p:tags r:id="rId14"/>
            </p:custDataLst>
          </p:nvPr>
        </p:nvSpPr>
        <p:spPr>
          <a:xfrm>
            <a:off x="6413500" y="3556000"/>
            <a:ext cx="5016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F42C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模板：条件统计（偶数计数）</a:t>
            </a:r>
            <a:endParaRPr lang="en-US" sz="1100"/>
          </a:p>
        </p:txBody>
      </p:sp>
      <p:sp>
        <p:nvSpPr>
          <p:cNvPr id="19" name="AutoShape 19"/>
          <p:cNvSpPr/>
          <p:nvPr>
            <p:custDataLst>
              <p:tags r:id="rId15"/>
            </p:custDataLst>
          </p:nvPr>
        </p:nvSpPr>
        <p:spPr>
          <a:xfrm>
            <a:off x="6413500" y="4000500"/>
            <a:ext cx="5016500" cy="1143000"/>
          </a:xfrm>
          <a:prstGeom prst="roundRect">
            <a:avLst>
              <a:gd name="adj" fmla="val 0"/>
            </a:avLst>
          </a:prstGeom>
          <a:solidFill>
            <a:srgbClr val="2D2D2D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>
            <p:custDataLst>
              <p:tags r:id="rId16"/>
            </p:custDataLst>
          </p:nvPr>
        </p:nvSpPr>
        <p:spPr>
          <a:xfrm>
            <a:off x="6477000" y="4064000"/>
            <a:ext cx="4889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1" i="0" u="none" strike="noStrike">
                <a:solidFill>
                  <a:srgbClr val="DCDCDC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" panose="02000000000000000000" charset="0"/>
              </a:rPr>
              <a:t>int cnt = 0; // 初始化计数器</a:t>
            </a:r>
            <a:br>
              <a:rPr lang="en-US" sz="1200" b="1" i="0" u="none" strike="noStrike">
                <a:solidFill>
                  <a:srgbClr val="DCDCDC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" panose="02000000000000000000" charset="0"/>
              </a:rPr>
            </a:br>
            <a:r>
              <a:rPr lang="en-US" sz="1200" b="1" i="0" u="none" strike="noStrike">
                <a:solidFill>
                  <a:srgbClr val="DCDCDC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" panose="02000000000000000000" charset="0"/>
              </a:rPr>
              <a:t>for(int i = 0; i &lt; 6; i++) {</a:t>
            </a:r>
            <a:br>
              <a:rPr lang="en-US" sz="1200" b="1" i="0" u="none" strike="noStrike">
                <a:solidFill>
                  <a:srgbClr val="DCDCDC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" panose="02000000000000000000" charset="0"/>
              </a:rPr>
            </a:br>
            <a:r>
              <a:rPr lang="en-US" sz="1200" b="1" i="0" u="none" strike="noStrike">
                <a:solidFill>
                  <a:srgbClr val="DCDCDC"/>
                </a:solidFill>
                <a:latin typeface="微软雅黑 Light" panose="020B0502040204020203" charset="-122"/>
                <a:ea typeface="微软雅黑 Light" panose="020B0502040204020203" charset="-122"/>
                <a:cs typeface="微软雅黑 Light" panose="020B0502040204020203" charset="-122"/>
                <a:sym typeface="Roboto" panose="02000000000000000000" charset="0"/>
              </a:rPr>
              <a:t>if(arr[i] % 2 == 0) cnt++; // 满足条件则计数+1</a:t>
            </a:r>
            <a:endParaRPr lang="en-US" sz="1100" b="1">
              <a:latin typeface="微软雅黑 Light" panose="020B0502040204020203" charset="-122"/>
              <a:ea typeface="微软雅黑 Light" panose="020B0502040204020203" charset="-122"/>
              <a:cs typeface="微软雅黑 Light" panose="020B0502040204020203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762000" y="5461000"/>
            <a:ext cx="10795000" cy="1143000"/>
          </a:xfrm>
          <a:prstGeom prst="roundRect">
            <a:avLst>
              <a:gd name="adj" fmla="val 0"/>
            </a:avLst>
          </a:prstGeom>
          <a:solidFill>
            <a:srgbClr val="DC2626">
              <a:alpha val="5000"/>
            </a:srgbClr>
          </a:solidFill>
          <a:ln w="12700" cap="flat" cmpd="sng">
            <a:solidFill>
              <a:srgbClr val="DC2626">
                <a:alpha val="6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952500" y="5651500"/>
            <a:ext cx="1524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通用</a:t>
            </a:r>
            <a:br>
              <a:rPr lang="en-US" sz="16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解题四步</a:t>
            </a:r>
            <a:endParaRPr lang="en-US" sz="1100"/>
          </a:p>
        </p:txBody>
      </p:sp>
      <p:cxnSp>
        <p:nvCxnSpPr>
          <p:cNvPr id="23" name="Connector 23"/>
          <p:cNvCxnSpPr/>
          <p:nvPr/>
        </p:nvCxnSpPr>
        <p:spPr>
          <a:xfrm rot="5342709">
            <a:off x="2032000" y="6026203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2626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4" name="AutoShape 24"/>
          <p:cNvSpPr/>
          <p:nvPr/>
        </p:nvSpPr>
        <p:spPr>
          <a:xfrm>
            <a:off x="2603500" y="5651500"/>
            <a:ext cx="203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初始化数组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定义数组，通过赋值或循环cin读入数据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/>
        </p:nvSpPr>
        <p:spPr>
          <a:xfrm>
            <a:off x="4762500" y="5651500"/>
            <a:ext cx="203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设置目标变量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初始化sum、cnt、max_val等变量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6921500" y="5651500"/>
            <a:ext cx="203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遍历数组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使用for循环逐个访问元素 (i &lt; n)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7" name="AutoShape 27"/>
          <p:cNvSpPr/>
          <p:nvPr/>
        </p:nvSpPr>
        <p:spPr>
          <a:xfrm>
            <a:off x="9080500" y="5651500"/>
            <a:ext cx="203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逻辑处理与输出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循环内处理业务逻辑，结束后输出结果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414000" y="-762000"/>
            <a:ext cx="2540000" cy="2540000"/>
          </a:xfrm>
          <a:prstGeom prst="ellipse">
            <a:avLst/>
          </a:prstGeom>
          <a:solidFill>
            <a:srgbClr val="6F42C1">
              <a:alpha val="8000"/>
            </a:srgbClr>
          </a:solidFill>
          <a:ln cap="flat" cmpd="sng">
            <a:solidFill>
              <a:srgbClr val="5629A8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508000" y="5715000"/>
            <a:ext cx="1905000" cy="1905000"/>
          </a:xfrm>
          <a:prstGeom prst="ellipse">
            <a:avLst/>
          </a:prstGeom>
          <a:solidFill>
            <a:srgbClr val="6F42C1">
              <a:alpha val="8000"/>
            </a:srgbClr>
          </a:solidFill>
          <a:ln cap="flat" cmpd="sng">
            <a:solidFill>
              <a:srgbClr val="5629A8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PART01‑3：二维数组（矩阵）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10668000" cy="952500"/>
          </a:xfrm>
          <a:prstGeom prst="roundRect">
            <a:avLst>
              <a:gd name="adj" fmla="val 0"/>
            </a:avLst>
          </a:prstGeom>
          <a:solidFill>
            <a:srgbClr val="6F42C1">
              <a:alpha val="8000"/>
            </a:srgbClr>
          </a:solidFill>
          <a:ln cap="flat" cmpd="sng">
            <a:solidFill>
              <a:srgbClr val="5629A8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524000"/>
            <a:ext cx="10287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核心理解：二维数组是结构化的“表格型”存储，由行和列构成。可以类比为生活中的</a:t>
            </a:r>
            <a:r>
              <a:rPr lang="en-US" sz="14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储物柜矩阵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——一维数组是单行储物柜，而二维数组是带多行多列的储物柜组合，能高效存储表格、矩阵类数据。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540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6F42C1">
              <a:alpha val="5000"/>
            </a:srgbClr>
          </a:solidFill>
          <a:ln w="12700" cap="flat" cmpd="sng">
            <a:solidFill>
              <a:srgbClr val="6F42C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89000" y="26670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F42C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定义与元素访问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89000" y="3111500"/>
            <a:ext cx="3175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语法：</a:t>
            </a:r>
            <a:r>
              <a:rPr lang="en-US" sz="1300" b="1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int arr[行][列]</a:t>
            </a:r>
            <a:r>
              <a:rPr lang="en-US" sz="13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，初始化需按行分组赋值。</a:t>
            </a:r>
            <a:br>
              <a:rPr lang="en-US" sz="13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示例：</a:t>
            </a:r>
            <a:r>
              <a:rPr lang="en-US" sz="1300" b="0" i="0" u="none" strike="noStrike">
                <a:solidFill>
                  <a:srgbClr val="6F42C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int arr[3][4] = { {1,2}, {5,6}, {9,10} };</a:t>
            </a:r>
            <a:br>
              <a:rPr lang="en-US" sz="13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访问：</a:t>
            </a:r>
            <a:r>
              <a:rPr lang="en-US" sz="1300" b="1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arr[i][j]</a:t>
            </a:r>
            <a:r>
              <a:rPr lang="en-US" sz="13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（i为行号，j为列号），切记下标</a:t>
            </a:r>
            <a:r>
              <a:rPr lang="en-US" sz="1300" b="1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从0开始</a:t>
            </a:r>
            <a:r>
              <a:rPr lang="en-US" sz="13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！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81500" y="2540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6F42C1">
              <a:alpha val="5000"/>
            </a:srgbClr>
          </a:solidFill>
          <a:ln w="12700" cap="flat" cmpd="sng">
            <a:solidFill>
              <a:srgbClr val="6F42C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508500" y="26670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F42C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双层循环遍历逻辑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08500" y="3111500"/>
            <a:ext cx="3175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en-US" sz="1300" b="1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外层循环(i)</a:t>
            </a:r>
            <a:r>
              <a:rPr lang="en-US" sz="13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：控制行数，遍历每一行</a:t>
            </a:r>
            <a:br>
              <a:rPr lang="en-US" sz="13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en-US" sz="1300" b="1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内层循环(j)</a:t>
            </a:r>
            <a:r>
              <a:rPr lang="en-US" sz="13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：控制列数，遍历该行所有列</a:t>
            </a:r>
            <a:br>
              <a:rPr lang="en-US" sz="13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• </a:t>
            </a:r>
            <a:r>
              <a:rPr lang="en-US" sz="1300" b="1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关键操作</a:t>
            </a:r>
            <a:r>
              <a:rPr lang="en-US" sz="13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：每行遍历结束后执行 </a:t>
            </a:r>
            <a:r>
              <a:rPr lang="en-US" sz="1300" b="0" i="0" u="none" strike="noStrike">
                <a:solidFill>
                  <a:srgbClr val="6F42C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cout &lt;&lt; endl;</a:t>
            </a:r>
            <a:r>
              <a:rPr lang="en-US" sz="13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实现换行，保证矩阵格式。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001000" y="2540000"/>
            <a:ext cx="3429000" cy="2095500"/>
          </a:xfrm>
          <a:prstGeom prst="roundRect">
            <a:avLst>
              <a:gd name="adj" fmla="val 0"/>
            </a:avLst>
          </a:prstGeom>
          <a:solidFill>
            <a:srgbClr val="6F42C1">
              <a:alpha val="5000"/>
            </a:srgbClr>
          </a:solidFill>
          <a:ln w="12700" cap="flat" cmpd="sng">
            <a:solidFill>
              <a:srgbClr val="6F42C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8128000" y="2667000"/>
            <a:ext cx="317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6F42C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动态输入矩阵数据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128000" y="3111500"/>
            <a:ext cx="3175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步骤：</a:t>
            </a:r>
            <a:br>
              <a:rPr lang="en-US" sz="13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先读取矩阵的行数r和列数c</a:t>
            </a:r>
            <a:br>
              <a:rPr lang="en-US" sz="13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通过双层嵌套循环，逐个读取数据存入arr[i][j]</a:t>
            </a:r>
            <a:br>
              <a:rPr lang="en-US" sz="13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技巧：定义常量 </a:t>
            </a:r>
            <a:r>
              <a:rPr lang="en-US" sz="1300" b="0" i="0" u="none" strike="noStrike">
                <a:solidFill>
                  <a:srgbClr val="6F42C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const int R=105;</a:t>
            </a:r>
            <a:r>
              <a:rPr lang="en-US" sz="1300" b="0" i="0" u="none" strike="noStrike">
                <a:solidFill>
                  <a:srgbClr val="3C3C3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来预留足够的数组空间。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953000"/>
            <a:ext cx="10668000" cy="1397000"/>
          </a:xfrm>
          <a:prstGeom prst="roundRect">
            <a:avLst>
              <a:gd name="adj" fmla="val 0"/>
            </a:avLst>
          </a:prstGeom>
          <a:solidFill>
            <a:srgbClr val="DC3545">
              <a:alpha val="8000"/>
            </a:srgbClr>
          </a:solidFill>
          <a:ln w="12700" cap="flat" cmpd="sng">
            <a:solidFill>
              <a:srgbClr val="DC3545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952500" y="50800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B91C1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🚨 高频易错点警示（一定要避开！）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52500" y="5486400"/>
            <a:ext cx="3302000" cy="762000"/>
          </a:xfrm>
          <a:prstGeom prst="roundRect">
            <a:avLst>
              <a:gd name="adj" fmla="val 0"/>
            </a:avLst>
          </a:prstGeom>
          <a:solidFill>
            <a:srgbClr val="DC3545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1016000" y="5549900"/>
            <a:ext cx="3175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7F1D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下标越界：</a:t>
            </a:r>
            <a:r>
              <a:rPr lang="en-US" sz="1300" b="0" i="0" u="none" strike="noStrike">
                <a:solidFill>
                  <a:srgbClr val="7F1D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3行4列的数组，行号最大为2，列号最大为3，访问arr[3][4]会直接程序崩溃。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4445000" y="5486400"/>
            <a:ext cx="3302000" cy="762000"/>
          </a:xfrm>
          <a:prstGeom prst="roundRect">
            <a:avLst>
              <a:gd name="adj" fmla="val 0"/>
            </a:avLst>
          </a:prstGeom>
          <a:solidFill>
            <a:srgbClr val="DC3545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4508500" y="5549900"/>
            <a:ext cx="3175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7F1D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换行错误：</a:t>
            </a:r>
            <a:r>
              <a:rPr lang="en-US" sz="1300" b="0" i="0" u="none" strike="noStrike">
                <a:solidFill>
                  <a:srgbClr val="7F1D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endl必须写在外层循环内，若写在内层，矩阵会变成一列，完全打乱输出格式。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937500" y="5486400"/>
            <a:ext cx="3302000" cy="762000"/>
          </a:xfrm>
          <a:prstGeom prst="roundRect">
            <a:avLst>
              <a:gd name="adj" fmla="val 0"/>
            </a:avLst>
          </a:prstGeom>
          <a:solidFill>
            <a:srgbClr val="DC3545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8001000" y="5549900"/>
            <a:ext cx="3175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7F1D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行列混淆：</a:t>
            </a:r>
            <a:r>
              <a:rPr lang="en-US" sz="1300" b="0" i="0" u="none" strike="noStrike">
                <a:solidFill>
                  <a:srgbClr val="7F1D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arr[i][j]中i是行、j是列，写反会导致数据读取错位，逻辑全部混乱。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0" y="-635000"/>
            <a:ext cx="2540000" cy="2540000"/>
          </a:xfrm>
          <a:prstGeom prst="ellipse">
            <a:avLst/>
          </a:prstGeom>
          <a:solidFill>
            <a:srgbClr val="6F42C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635000" y="5715000"/>
            <a:ext cx="1905000" cy="1905000"/>
          </a:xfrm>
          <a:prstGeom prst="ellipse">
            <a:avLst/>
          </a:prstGeom>
          <a:solidFill>
            <a:srgbClr val="6F42C1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PART01‑5：二维数组实战 + 数组整体坑点总结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6F42C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实战：矩阵转置原理演示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032000"/>
            <a:ext cx="2476500" cy="1397000"/>
          </a:xfrm>
          <a:prstGeom prst="roundRect">
            <a:avLst>
              <a:gd name="adj" fmla="val 0"/>
            </a:avLst>
          </a:prstGeom>
          <a:solidFill>
            <a:srgbClr val="6F42C1">
              <a:alpha val="6000"/>
            </a:srgbClr>
          </a:solidFill>
          <a:ln w="12700" cap="flat" cmpd="sng">
            <a:solidFill>
              <a:srgbClr val="6F42C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63600" y="2159000"/>
            <a:ext cx="228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6F42C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原始矩阵 (2×3)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1 2 3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4 5 6</a:t>
            </a:r>
            <a:endParaRPr lang="en-US" sz="16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3492500" y="2032000"/>
            <a:ext cx="2476500" cy="1397000"/>
          </a:xfrm>
          <a:prstGeom prst="roundRect">
            <a:avLst>
              <a:gd name="adj" fmla="val 0"/>
            </a:avLst>
          </a:prstGeom>
          <a:solidFill>
            <a:srgbClr val="6F42C1">
              <a:alpha val="6000"/>
            </a:srgbClr>
          </a:solidFill>
          <a:ln w="12700" cap="flat" cmpd="sng">
            <a:solidFill>
              <a:srgbClr val="6F42C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3594100" y="2159000"/>
            <a:ext cx="228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6F42C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转置矩阵 (3×2)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1 4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2 5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3 6</a:t>
            </a:r>
            <a:endParaRPr lang="en-US" sz="1600" b="0" i="0" u="none" strike="noStrike">
              <a:solidFill>
                <a:srgbClr val="33333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3683000"/>
            <a:ext cx="5207000" cy="2413000"/>
          </a:xfrm>
          <a:prstGeom prst="roundRect">
            <a:avLst>
              <a:gd name="adj" fmla="val 0"/>
            </a:avLst>
          </a:prstGeom>
          <a:solidFill>
            <a:srgbClr val="2B2B2B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889000" y="3810000"/>
            <a:ext cx="4953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6A9955"/>
                </a:solidFill>
                <a:latin typeface="Roboto" panose="02000000000000000000" charset="0"/>
                <a:ea typeface="Roboto" panose="02000000000000000000" charset="0"/>
                <a:cs typeface="Roboto" panose="02000000000000000000" charset="0"/>
                <a:sym typeface="Roboto" panose="02000000000000000000" charset="0"/>
              </a:rPr>
              <a:t>// 核心逻辑：行列互换</a:t>
            </a:r>
            <a:br>
              <a:rPr lang="en-US" sz="1300" b="0" i="0" u="none" strike="noStrike">
                <a:solidFill>
                  <a:srgbClr val="1F2329"/>
                </a:solidFill>
                <a:latin typeface="Roboto" panose="02000000000000000000" charset="0"/>
                <a:ea typeface="Roboto" panose="02000000000000000000" charset="0"/>
                <a:cs typeface="Roboto" panose="02000000000000000000" charset="0"/>
                <a:sym typeface="Roboto" panose="02000000000000000000" charset="0"/>
              </a:rPr>
            </a:br>
            <a:r>
              <a:rPr lang="en-US" sz="1300" b="0" i="0" u="none" strike="noStrike">
                <a:solidFill>
                  <a:srgbClr val="CCCCCC"/>
                </a:solidFill>
                <a:latin typeface="Roboto" panose="02000000000000000000" charset="0"/>
                <a:ea typeface="Roboto" panose="02000000000000000000" charset="0"/>
                <a:cs typeface="Roboto" panose="02000000000000000000" charset="0"/>
                <a:sym typeface="Roboto" panose="02000000000000000000" charset="0"/>
              </a:rPr>
              <a:t>for(int i = 0; i &lt; 2; i++) {</a:t>
            </a:r>
            <a:br>
              <a:rPr lang="en-US" sz="1300" b="0" i="0" u="none" strike="noStrike">
                <a:solidFill>
                  <a:srgbClr val="1F2329"/>
                </a:solidFill>
                <a:latin typeface="Roboto" panose="02000000000000000000" charset="0"/>
                <a:ea typeface="Roboto" panose="02000000000000000000" charset="0"/>
                <a:cs typeface="Roboto" panose="02000000000000000000" charset="0"/>
                <a:sym typeface="Roboto" panose="02000000000000000000" charset="0"/>
              </a:rPr>
            </a:br>
            <a:r>
              <a:rPr lang="en-US" sz="1300" b="0" i="0" u="none" strike="noStrike">
                <a:solidFill>
                  <a:srgbClr val="CCCCCC"/>
                </a:solidFill>
                <a:latin typeface="Roboto" panose="02000000000000000000" charset="0"/>
                <a:ea typeface="Roboto" panose="02000000000000000000" charset="0"/>
                <a:cs typeface="Roboto" panose="02000000000000000000" charset="0"/>
                <a:sym typeface="Roboto" panose="02000000000000000000" charset="0"/>
              </a:rPr>
              <a:t>  for(int j = 0; j &lt; 3; j++) {</a:t>
            </a:r>
            <a:br>
              <a:rPr lang="en-US" sz="1300" b="0" i="0" u="none" strike="noStrike">
                <a:solidFill>
                  <a:srgbClr val="1F2329"/>
                </a:solidFill>
                <a:latin typeface="Roboto" panose="02000000000000000000" charset="0"/>
                <a:ea typeface="Roboto" panose="02000000000000000000" charset="0"/>
                <a:cs typeface="Roboto" panose="02000000000000000000" charset="0"/>
                <a:sym typeface="Roboto" panose="02000000000000000000" charset="0"/>
              </a:rPr>
            </a:br>
            <a:r>
              <a:rPr lang="en-US" sz="1300" b="0" i="0" u="none" strike="noStrike">
                <a:solidFill>
                  <a:srgbClr val="DCDCAA"/>
                </a:solidFill>
                <a:latin typeface="Roboto" panose="02000000000000000000" charset="0"/>
                <a:ea typeface="Roboto" panose="02000000000000000000" charset="0"/>
                <a:cs typeface="Roboto" panose="02000000000000000000" charset="0"/>
                <a:sym typeface="Roboto" panose="02000000000000000000" charset="0"/>
              </a:rPr>
              <a:t>    b[j][i] = a[i][j];</a:t>
            </a:r>
            <a:r>
              <a:rPr lang="en-US" sz="1300" b="0" i="0" u="none" strike="noStrike">
                <a:solidFill>
                  <a:srgbClr val="9CDCFE"/>
                </a:solidFill>
                <a:latin typeface="Roboto" panose="02000000000000000000" charset="0"/>
                <a:ea typeface="Roboto" panose="02000000000000000000" charset="0"/>
                <a:cs typeface="Roboto" panose="02000000000000000000" charset="0"/>
                <a:sym typeface="Roboto" panose="02000000000000000000" charset="0"/>
              </a:rPr>
              <a:t> // 关键：行变列，列变行</a:t>
            </a:r>
            <a:br>
              <a:rPr lang="en-US" sz="1300" b="0" i="0" u="none" strike="noStrike">
                <a:solidFill>
                  <a:srgbClr val="1F2329"/>
                </a:solidFill>
                <a:latin typeface="Roboto" panose="02000000000000000000" charset="0"/>
                <a:ea typeface="Roboto" panose="02000000000000000000" charset="0"/>
                <a:cs typeface="Roboto" panose="02000000000000000000" charset="0"/>
                <a:sym typeface="Roboto" panose="02000000000000000000" charset="0"/>
              </a:rPr>
            </a:br>
            <a:r>
              <a:rPr lang="en-US" sz="1300" b="0" i="0" u="none" strike="noStrike">
                <a:solidFill>
                  <a:srgbClr val="CCCCCC"/>
                </a:solidFill>
                <a:latin typeface="Roboto" panose="02000000000000000000" charset="0"/>
                <a:ea typeface="Roboto" panose="02000000000000000000" charset="0"/>
                <a:cs typeface="Roboto" panose="02000000000000000000" charset="0"/>
                <a:sym typeface="Roboto" panose="02000000000000000000" charset="0"/>
              </a:rPr>
              <a:t>  }</a:t>
            </a:r>
            <a:br>
              <a:rPr lang="en-US" sz="1300" b="0" i="0" u="none" strike="noStrike">
                <a:solidFill>
                  <a:srgbClr val="1F2329"/>
                </a:solidFill>
                <a:latin typeface="Roboto" panose="02000000000000000000" charset="0"/>
                <a:ea typeface="Roboto" panose="02000000000000000000" charset="0"/>
                <a:cs typeface="Roboto" panose="02000000000000000000" charset="0"/>
                <a:sym typeface="Roboto" panose="02000000000000000000" charset="0"/>
              </a:rPr>
            </a:br>
            <a:r>
              <a:rPr lang="en-US" sz="1300" b="0" i="0" u="none" strike="noStrike">
                <a:solidFill>
                  <a:srgbClr val="CCCCCC"/>
                </a:solidFill>
                <a:latin typeface="Roboto" panose="02000000000000000000" charset="0"/>
                <a:ea typeface="Roboto" panose="02000000000000000000" charset="0"/>
                <a:cs typeface="Roboto" panose="02000000000000000000" charset="0"/>
                <a:sym typeface="Roboto" panose="02000000000000000000" charset="0"/>
              </a:rPr>
              <a:t>}</a:t>
            </a:r>
            <a:br>
              <a:rPr lang="en-US" sz="1300" b="0" i="0" u="none" strike="noStrike">
                <a:solidFill>
                  <a:srgbClr val="1F2329"/>
                </a:solidFill>
                <a:latin typeface="Roboto" panose="02000000000000000000" charset="0"/>
                <a:ea typeface="Roboto" panose="02000000000000000000" charset="0"/>
                <a:cs typeface="Roboto" panose="02000000000000000000" charset="0"/>
                <a:sym typeface="Roboto" panose="02000000000000000000" charset="0"/>
              </a:rPr>
            </a:br>
            <a:r>
              <a:rPr lang="en-US" sz="1300" b="0" i="0" u="none" strike="noStrike">
                <a:solidFill>
                  <a:srgbClr val="6A9955"/>
                </a:solidFill>
                <a:latin typeface="Roboto" panose="02000000000000000000" charset="0"/>
                <a:ea typeface="Roboto" panose="02000000000000000000" charset="0"/>
                <a:cs typeface="Roboto" panose="02000000000000000000" charset="0"/>
                <a:sym typeface="Roboto" panose="02000000000000000000" charset="0"/>
              </a:rPr>
              <a:t>// 外层循环控制行，内层控制列，换行在外层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223000" y="1397000"/>
            <a:ext cx="546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6F42C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避坑指南：数组核心易错点汇总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1"/>
            </p:custDataLst>
          </p:nvPr>
        </p:nvSpPr>
        <p:spPr>
          <a:xfrm>
            <a:off x="6223000" y="2032000"/>
            <a:ext cx="2667000" cy="1206500"/>
          </a:xfrm>
          <a:prstGeom prst="roundRect">
            <a:avLst>
              <a:gd name="adj" fmla="val 0"/>
            </a:avLst>
          </a:prstGeom>
          <a:solidFill>
            <a:srgbClr val="EF4444">
              <a:alpha val="5000"/>
            </a:srgbClr>
          </a:solidFill>
          <a:ln w="12700" cap="flat" cmpd="sng">
            <a:solidFill>
              <a:srgbClr val="EF444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375400" y="2184400"/>
            <a:ext cx="304800" cy="304800"/>
          </a:xfrm>
          <a:prstGeom prst="rect">
            <a:avLst/>
          </a:prstGeom>
        </p:spPr>
      </p:pic>
      <p:sp>
        <p:nvSpPr>
          <p:cNvPr id="15" name="AutoShape 15"/>
          <p:cNvSpPr/>
          <p:nvPr>
            <p:custDataLst>
              <p:tags r:id="rId5"/>
            </p:custDataLst>
          </p:nvPr>
        </p:nvSpPr>
        <p:spPr>
          <a:xfrm>
            <a:off x="6731000" y="2159000"/>
            <a:ext cx="215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下标越界陷阱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合法范围0~n-1，越界不报错但会引发随机崩溃，是最难排查的BUG之一。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>
            <p:custDataLst>
              <p:tags r:id="rId6"/>
            </p:custDataLst>
          </p:nvPr>
        </p:nvSpPr>
        <p:spPr>
          <a:xfrm>
            <a:off x="9017000" y="2032000"/>
            <a:ext cx="2667000" cy="1206500"/>
          </a:xfrm>
          <a:prstGeom prst="roundRect">
            <a:avLst>
              <a:gd name="adj" fmla="val 0"/>
            </a:avLst>
          </a:prstGeom>
          <a:solidFill>
            <a:srgbClr val="F59E0B">
              <a:alpha val="5000"/>
            </a:srgbClr>
          </a:solidFill>
          <a:ln w="12700" cap="flat" cmpd="sng">
            <a:solidFill>
              <a:srgbClr val="F59E0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>
            <p:custDataLst>
              <p:tags r:id="rId7"/>
            </p:custDataLst>
          </p:nvPr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169400" y="21844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>
            <p:custDataLst>
              <p:tags r:id="rId10"/>
            </p:custDataLst>
          </p:nvPr>
        </p:nvSpPr>
        <p:spPr>
          <a:xfrm>
            <a:off x="9525000" y="2159000"/>
            <a:ext cx="215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未初始化隐患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局部数组默认是随机垃圾值，务必手动初始化清零（如int arr[N]={0}）。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>
            <p:custDataLst>
              <p:tags r:id="rId11"/>
            </p:custDataLst>
          </p:nvPr>
        </p:nvSpPr>
        <p:spPr>
          <a:xfrm>
            <a:off x="6223000" y="3365500"/>
            <a:ext cx="2667000" cy="1206500"/>
          </a:xfrm>
          <a:prstGeom prst="roundRect">
            <a:avLst>
              <a:gd name="adj" fmla="val 0"/>
            </a:avLst>
          </a:prstGeom>
          <a:solidFill>
            <a:srgbClr val="EF4444">
              <a:alpha val="5000"/>
            </a:srgbClr>
          </a:solidFill>
          <a:ln w="12700" cap="flat" cmpd="sng">
            <a:solidFill>
              <a:srgbClr val="EF444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>
            <p:custDataLst>
              <p:tags r:id="rId12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6375400" y="35179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>
            <p:custDataLst>
              <p:tags r:id="rId15"/>
            </p:custDataLst>
          </p:nvPr>
        </p:nvSpPr>
        <p:spPr>
          <a:xfrm>
            <a:off x="6731000" y="3492500"/>
            <a:ext cx="215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禁用变长数组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标准C++不支持int arr[n]，OJ会编译错误，必须用const定义常量大小。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2" name="AutoShape 22"/>
          <p:cNvSpPr/>
          <p:nvPr>
            <p:custDataLst>
              <p:tags r:id="rId16"/>
            </p:custDataLst>
          </p:nvPr>
        </p:nvSpPr>
        <p:spPr>
          <a:xfrm>
            <a:off x="9017000" y="3365500"/>
            <a:ext cx="2667000" cy="1206500"/>
          </a:xfrm>
          <a:prstGeom prst="roundRect">
            <a:avLst>
              <a:gd name="adj" fmla="val 0"/>
            </a:avLst>
          </a:prstGeom>
          <a:solidFill>
            <a:srgbClr val="6F42C1">
              <a:alpha val="5000"/>
            </a:srgbClr>
          </a:solidFill>
          <a:ln w="12700" cap="flat" cmpd="sng">
            <a:solidFill>
              <a:srgbClr val="6F42C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9169400" y="351790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>
            <p:custDataLst>
              <p:tags r:id="rId20"/>
            </p:custDataLst>
          </p:nvPr>
        </p:nvSpPr>
        <p:spPr>
          <a:xfrm>
            <a:off x="9525000" y="3492500"/>
            <a:ext cx="215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行列索引混淆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二维数组i代表行、j代表列，矩阵打印时换行操作务必写在外层循环。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5" name="AutoShape 25"/>
          <p:cNvSpPr/>
          <p:nvPr>
            <p:custDataLst>
              <p:tags r:id="rId21"/>
            </p:custDataLst>
          </p:nvPr>
        </p:nvSpPr>
        <p:spPr>
          <a:xfrm>
            <a:off x="6223000" y="4699000"/>
            <a:ext cx="2667000" cy="1206500"/>
          </a:xfrm>
          <a:prstGeom prst="roundRect">
            <a:avLst>
              <a:gd name="adj" fmla="val 0"/>
            </a:avLst>
          </a:prstGeom>
          <a:solidFill>
            <a:srgbClr val="3B82F6">
              <a:alpha val="5000"/>
            </a:srgbClr>
          </a:solidFill>
          <a:ln w="12700" cap="flat" cmpd="sng">
            <a:solidFill>
              <a:srgbClr val="3B82F6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6" name="Picture 26"/>
          <p:cNvPicPr>
            <a:picLocks noChangeAspect="1"/>
          </p:cNvPicPr>
          <p:nvPr>
            <p:custDataLst>
              <p:tags r:id="rId22"/>
            </p:custDataLst>
          </p:nvPr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6375400" y="4851400"/>
            <a:ext cx="304800" cy="304800"/>
          </a:xfrm>
          <a:prstGeom prst="rect">
            <a:avLst/>
          </a:prstGeom>
        </p:spPr>
      </p:pic>
      <p:sp>
        <p:nvSpPr>
          <p:cNvPr id="27" name="AutoShape 27"/>
          <p:cNvSpPr/>
          <p:nvPr>
            <p:custDataLst>
              <p:tags r:id="rId25"/>
            </p:custDataLst>
          </p:nvPr>
        </p:nvSpPr>
        <p:spPr>
          <a:xfrm>
            <a:off x="6731000" y="4826000"/>
            <a:ext cx="215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类型严格匹配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数组是同类型元素的集合，int数组不可存储字符串或其他不兼容类型。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8" name="AutoShape 28"/>
          <p:cNvSpPr/>
          <p:nvPr>
            <p:custDataLst>
              <p:tags r:id="rId26"/>
            </p:custDataLst>
          </p:nvPr>
        </p:nvSpPr>
        <p:spPr>
          <a:xfrm>
            <a:off x="9017000" y="4699000"/>
            <a:ext cx="2667000" cy="1206500"/>
          </a:xfrm>
          <a:prstGeom prst="roundRect">
            <a:avLst>
              <a:gd name="adj" fmla="val 0"/>
            </a:avLst>
          </a:prstGeom>
          <a:solidFill>
            <a:srgbClr val="10B981">
              <a:alpha val="5000"/>
            </a:srgbClr>
          </a:solidFill>
          <a:ln w="12700" cap="flat" cmpd="sng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29"/>
          <p:cNvPicPr>
            <a:picLocks noChangeAspect="1"/>
          </p:cNvPicPr>
          <p:nvPr>
            <p:custDataLst>
              <p:tags r:id="rId27"/>
            </p:custDataLst>
          </p:nvPr>
        </p:nvPicPr>
        <p:blipFill>
          <a:blip r:embed="rId2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9169400" y="4851400"/>
            <a:ext cx="304800" cy="304800"/>
          </a:xfrm>
          <a:prstGeom prst="rect">
            <a:avLst/>
          </a:prstGeom>
        </p:spPr>
      </p:pic>
      <p:sp>
        <p:nvSpPr>
          <p:cNvPr id="30" name="AutoShape 30"/>
          <p:cNvSpPr/>
          <p:nvPr>
            <p:custDataLst>
              <p:tags r:id="rId30"/>
            </p:custDataLst>
          </p:nvPr>
        </p:nvSpPr>
        <p:spPr>
          <a:xfrm>
            <a:off x="9525000" y="4826000"/>
            <a:ext cx="2159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 传参退化为指针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数组名本质是首元素地址，传递给函数时会退化为指针，无法直接获取长度。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D946E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D946E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PART02‑1：为什么要学习复杂度？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946E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生活案例：猜数字游戏的效率鸿沟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18415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89000" y="1968500"/>
            <a:ext cx="495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方案A：逐个试错（线性查找）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从1开始逐个猜，最坏需猜50次。数据范围越大，尝试次数越多，效率极低。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6223000" y="1841500"/>
            <a:ext cx="5207000" cy="1143000"/>
          </a:xfrm>
          <a:prstGeom prst="roundRect">
            <a:avLst>
              <a:gd name="adj" fmla="val 0"/>
            </a:avLst>
          </a:prstGeom>
          <a:solidFill>
            <a:srgbClr val="D946EF">
              <a:alpha val="8000"/>
            </a:srgbClr>
          </a:solidFill>
          <a:ln w="12700" cap="flat" cmpd="sng">
            <a:solidFill>
              <a:srgbClr val="D946E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350000" y="1968500"/>
            <a:ext cx="495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9D174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方案B：二分查找（折半思想）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81C8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每次砍掉一半范围，最多仅需猜7次。无论数据多大，次数都保持在极低水平。</a:t>
            </a:r>
            <a:endParaRPr lang="en-US" sz="1300" b="0" i="0" u="none" strike="noStrike">
              <a:solidFill>
                <a:srgbClr val="581C8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762000" y="31750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946E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算法复杂度的两大核心维度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36195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DF2FF">
              <a:alpha val="100000"/>
            </a:srgbClr>
          </a:solidFill>
          <a:ln w="12700" cap="flat" cmpd="sng">
            <a:solidFill>
              <a:srgbClr val="D946EF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3810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397000" y="3746500"/>
            <a:ext cx="444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时间复杂度 (Time Complexity)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衡量程序执行指令的次数，决定程序“跑得快不快”。是算法优化的重中之重，直接决定代码是否会超时(TLE)。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6223000" y="3619500"/>
            <a:ext cx="5207000" cy="1079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13500" y="38100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858000" y="3746500"/>
            <a:ext cx="444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空间复杂度 (Space Complexity)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衡量程序运行时占用的内存大小，决定程序“吃多少内存”。常需在时间效率与内存消耗之间做权衡。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762000" y="4889500"/>
            <a:ext cx="10668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946E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代码直观感受：增长趋势差异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5270500"/>
            <a:ext cx="5207000" cy="825500"/>
          </a:xfrm>
          <a:prstGeom prst="roundRect">
            <a:avLst>
              <a:gd name="adj" fmla="val 0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889000" y="5334000"/>
            <a:ext cx="4953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A7F3D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// 单层循环：执行次数 ≈ n</a:t>
            </a:r>
            <a:br>
              <a:rPr lang="en-US" sz="13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for(int i=0; i&lt;n; i++) { ... } // 随n线性增长，压力小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223000" y="5270500"/>
            <a:ext cx="5207000" cy="825500"/>
          </a:xfrm>
          <a:prstGeom prst="roundRect">
            <a:avLst>
              <a:gd name="adj" fmla="val 0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350000" y="5334000"/>
            <a:ext cx="4953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CA5A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// 嵌套循环：执行次数 ≈ n²</a:t>
            </a:r>
            <a:br>
              <a:rPr lang="en-US" sz="13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for(...) { for(...) { ... } } // 数据稍大，次数爆炸式增长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0" y="-762000"/>
            <a:ext cx="2540000" cy="2540000"/>
          </a:xfrm>
          <a:prstGeom prst="ellipse">
            <a:avLst/>
          </a:prstGeom>
          <a:solidFill>
            <a:srgbClr val="D946E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508000" y="5715000"/>
            <a:ext cx="1524000" cy="1524000"/>
          </a:xfrm>
          <a:prstGeom prst="ellipse">
            <a:avLst/>
          </a:prstGeom>
          <a:solidFill>
            <a:srgbClr val="D946E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PART02‑2：时间复杂度｜大O记号 O( )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O读作“大欧”，核心关注数据规模 n 增大时操作次数的增长趋势，常数项可忽略不计，仅看变化的主导因素。n 代表输入数据的规模（如数组长度、元素个数）。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286000"/>
            <a:ext cx="2032000" cy="1905000"/>
          </a:xfrm>
          <a:prstGeom prst="roundRect">
            <a:avLst>
              <a:gd name="adj" fmla="val 0"/>
            </a:avLst>
          </a:prstGeom>
          <a:solidFill>
            <a:srgbClr val="D946EF">
              <a:alpha val="6000"/>
            </a:srgbClr>
          </a:solidFill>
          <a:ln w="12700" cap="flat" cmpd="sng">
            <a:solidFill>
              <a:srgbClr val="D946E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889000" y="2413000"/>
            <a:ext cx="177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D946E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O(1) 常数级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与数据规模 n 无关，固定步数完成。如简单算术运算、数组直接索引取值。</a:t>
            </a:r>
            <a:endParaRPr lang="en-US" sz="1300" b="0" i="0" u="none" strike="noStrike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2921000" y="2286000"/>
            <a:ext cx="2032000" cy="1905000"/>
          </a:xfrm>
          <a:prstGeom prst="roundRect">
            <a:avLst>
              <a:gd name="adj" fmla="val 0"/>
            </a:avLst>
          </a:prstGeom>
          <a:solidFill>
            <a:srgbClr val="D946EF">
              <a:alpha val="6000"/>
            </a:srgbClr>
          </a:solidFill>
          <a:ln w="12700" cap="flat" cmpd="sng">
            <a:solidFill>
              <a:srgbClr val="D946E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3048000" y="2413000"/>
            <a:ext cx="177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D946E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O(log n) 对数级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增长极其缓慢，随 n 成倍缩减。典型应用：二分查找、二叉搜索树操作。</a:t>
            </a:r>
            <a:endParaRPr lang="en-US" sz="1300" b="0" i="0" u="none" strike="noStrike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5080000" y="2286000"/>
            <a:ext cx="2032000" cy="1905000"/>
          </a:xfrm>
          <a:prstGeom prst="roundRect">
            <a:avLst>
              <a:gd name="adj" fmla="val 0"/>
            </a:avLst>
          </a:prstGeom>
          <a:solidFill>
            <a:srgbClr val="D946EF">
              <a:alpha val="6000"/>
            </a:srgbClr>
          </a:solidFill>
          <a:ln w="12700" cap="flat" cmpd="sng">
            <a:solidFill>
              <a:srgbClr val="D946E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5207000" y="2413000"/>
            <a:ext cx="177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D946E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O(n) 线性级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操作次数与 n 成正比。如单层循环遍历数组、顺序查找算法。</a:t>
            </a:r>
            <a:endParaRPr lang="en-US" sz="1300" b="0" i="0" u="none" strike="noStrike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239000" y="2286000"/>
            <a:ext cx="2032000" cy="1905000"/>
          </a:xfrm>
          <a:prstGeom prst="roundRect">
            <a:avLst>
              <a:gd name="adj" fmla="val 0"/>
            </a:avLst>
          </a:prstGeom>
          <a:solidFill>
            <a:srgbClr val="D946EF">
              <a:alpha val="6000"/>
            </a:srgbClr>
          </a:solidFill>
          <a:ln w="12700" cap="flat" cmpd="sng">
            <a:solidFill>
              <a:srgbClr val="D946E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7366000" y="2413000"/>
            <a:ext cx="177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D946E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O(n log n)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高效排序算法的基准复杂度。如快速排序、归并排序、堆排序。</a:t>
            </a:r>
            <a:endParaRPr lang="en-US" sz="1300" b="0" i="0" u="none" strike="noStrike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9398000" y="2286000"/>
            <a:ext cx="2032000" cy="1905000"/>
          </a:xfrm>
          <a:prstGeom prst="roundRect">
            <a:avLst>
              <a:gd name="adj" fmla="val 0"/>
            </a:avLst>
          </a:prstGeom>
          <a:solidFill>
            <a:srgbClr val="D946EF">
              <a:alpha val="6000"/>
            </a:srgbClr>
          </a:solidFill>
          <a:ln w="12700" cap="flat" cmpd="sng">
            <a:solidFill>
              <a:srgbClr val="D946E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9525000" y="2413000"/>
            <a:ext cx="1778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2000" b="1" i="0" u="none" strike="noStrike">
                <a:solidFill>
                  <a:srgbClr val="D946E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O(n²) 平方级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随 n 增长急剧上升。如两层嵌套循环、冒泡排序、插入排序。</a:t>
            </a:r>
            <a:endParaRPr lang="en-US" sz="1300" b="0" i="0" u="none" strike="noStrike">
              <a:solidFill>
                <a:srgbClr val="525252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6" name="Connector 16"/>
          <p:cNvCxnSpPr/>
          <p:nvPr/>
        </p:nvCxnSpPr>
        <p:spPr>
          <a:xfrm rot="-4092">
            <a:off x="762004" y="4438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/>
        </p:nvSpPr>
        <p:spPr>
          <a:xfrm>
            <a:off x="762000" y="4699000"/>
            <a:ext cx="3429000" cy="1651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89000" y="4826000"/>
            <a:ext cx="3175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D946E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规则一：忽略常数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无论循环执行 3n 次还是 100n 次，复杂度均记为 O(n)。常数系数不影响趋势，直接忽略。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/>
        </p:nvSpPr>
        <p:spPr>
          <a:xfrm>
            <a:off x="4381500" y="4699000"/>
            <a:ext cx="3429000" cy="1651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4508500" y="4826000"/>
            <a:ext cx="3175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D946E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规则二：抓主要矛盾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 n 很大时，低阶项可忽略。例如 n² + 100n 的复杂度为 O(n²)，因为平方项主导增长。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8001000" y="4699000"/>
            <a:ext cx="3429000" cy="16510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8128000" y="4826000"/>
            <a:ext cx="3175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D946E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规则三：关注最坏情况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算法复杂度分析默认考虑最坏场景。例如查找元素，最坏情况是遍历整个数组才找到，记为 O(n)。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0" y="-1270000"/>
            <a:ext cx="3810000" cy="3810000"/>
          </a:xfrm>
          <a:prstGeom prst="ellipse">
            <a:avLst/>
          </a:prstGeom>
          <a:solidFill>
            <a:srgbClr val="D946E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270000" y="5080000"/>
            <a:ext cx="3175000" cy="3175000"/>
          </a:xfrm>
          <a:prstGeom prst="ellipse">
            <a:avLst/>
          </a:prstGeom>
          <a:solidFill>
            <a:srgbClr val="D946E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PART02‑3：时间复杂度实战分析 + 易错点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33500"/>
            <a:ext cx="2540000" cy="889000"/>
          </a:xfrm>
          <a:prstGeom prst="roundRect">
            <a:avLst>
              <a:gd name="adj" fmla="val 0"/>
            </a:avLst>
          </a:prstGeom>
          <a:solidFill>
            <a:srgbClr val="D946EF">
              <a:alpha val="8000"/>
            </a:srgbClr>
          </a:solidFill>
          <a:ln w="12700" cap="flat" cmpd="sng">
            <a:solidFill>
              <a:srgbClr val="D946E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9000" y="14986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270000" y="1460500"/>
            <a:ext cx="1968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D946E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定规模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确定输入规模 n，明确分析对象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3467100" y="1333500"/>
            <a:ext cx="2540000" cy="889000"/>
          </a:xfrm>
          <a:prstGeom prst="roundRect">
            <a:avLst>
              <a:gd name="adj" fmla="val 0"/>
            </a:avLst>
          </a:prstGeom>
          <a:solidFill>
            <a:srgbClr val="D946EF">
              <a:alpha val="8000"/>
            </a:srgbClr>
          </a:solidFill>
          <a:ln w="12700" cap="flat" cmpd="sng">
            <a:solidFill>
              <a:srgbClr val="D946E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594100" y="14986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3975100" y="1460500"/>
            <a:ext cx="1968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D946E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看层数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分析嵌套循环的层级结构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6172200" y="1333500"/>
            <a:ext cx="2540000" cy="889000"/>
          </a:xfrm>
          <a:prstGeom prst="roundRect">
            <a:avLst>
              <a:gd name="adj" fmla="val 0"/>
            </a:avLst>
          </a:prstGeom>
          <a:solidFill>
            <a:srgbClr val="D946EF">
              <a:alpha val="8000"/>
            </a:srgbClr>
          </a:solidFill>
          <a:ln w="12700" cap="flat" cmpd="sng">
            <a:solidFill>
              <a:srgbClr val="D946E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99200" y="14986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680200" y="1460500"/>
            <a:ext cx="1968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D946E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算次数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计算每层循环的执行次数乘积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8890000" y="1333500"/>
            <a:ext cx="2540000" cy="889000"/>
          </a:xfrm>
          <a:prstGeom prst="roundRect">
            <a:avLst>
              <a:gd name="adj" fmla="val 0"/>
            </a:avLst>
          </a:prstGeom>
          <a:solidFill>
            <a:srgbClr val="D946EF">
              <a:alpha val="8000"/>
            </a:srgbClr>
          </a:solidFill>
          <a:ln w="12700" cap="flat" cmpd="sng">
            <a:solidFill>
              <a:srgbClr val="D946E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017000" y="14986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9398000" y="1460500"/>
            <a:ext cx="1968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D946E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化简式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舍去常数与次要项，得大O</a:t>
            </a:r>
            <a:endParaRPr lang="en-US" sz="12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762000" y="2476500"/>
            <a:ext cx="3556000" cy="1968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889000" y="2603500"/>
            <a:ext cx="330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案例 1：单层循环（仅执行 n/2 次）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889000" y="2984500"/>
            <a:ext cx="3302000" cy="571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952500" y="3048000"/>
            <a:ext cx="317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for(int i=0; i&lt;=n/2; i++) { ... }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889000" y="3619500"/>
            <a:ext cx="330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总次数为 n/2，常数系数 1/2 可忽略，时间复杂度为 </a:t>
            </a:r>
            <a:r>
              <a:rPr lang="en-US" sz="1300" b="1" i="0" u="none" strike="noStrike">
                <a:solidFill>
                  <a:srgbClr val="D946E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O(n)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4318000" y="2476500"/>
            <a:ext cx="3556000" cy="1968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3" name="AutoShape 23"/>
          <p:cNvSpPr/>
          <p:nvPr/>
        </p:nvSpPr>
        <p:spPr>
          <a:xfrm>
            <a:off x="4445000" y="2603500"/>
            <a:ext cx="330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案例 2：内层循环为固定常数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4445000" y="2984500"/>
            <a:ext cx="3302000" cy="571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5" name="AutoShape 25"/>
          <p:cNvSpPr/>
          <p:nvPr/>
        </p:nvSpPr>
        <p:spPr>
          <a:xfrm>
            <a:off x="4508500" y="3048000"/>
            <a:ext cx="317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for(i=0;i&lt;n;i++) { for(j=0;j&lt;100;j++) }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4445000" y="3619500"/>
            <a:ext cx="330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总次数为 n×100，常数 100 可忽略，时间复杂度仍为 </a:t>
            </a:r>
            <a:r>
              <a:rPr lang="en-US" sz="1300" b="1" i="0" u="none" strike="noStrike">
                <a:solidFill>
                  <a:srgbClr val="D946E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O(n)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，而非 O(n²)。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7874000" y="2476500"/>
            <a:ext cx="3556000" cy="1968500"/>
          </a:xfrm>
          <a:prstGeom prst="roundRect">
            <a:avLst>
              <a:gd name="adj" fmla="val 0"/>
            </a:avLst>
          </a:prstGeom>
          <a:solidFill>
            <a:srgbClr val="F9FAFB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8" name="AutoShape 28"/>
          <p:cNvSpPr/>
          <p:nvPr/>
        </p:nvSpPr>
        <p:spPr>
          <a:xfrm>
            <a:off x="8001000" y="2603500"/>
            <a:ext cx="3302000" cy="31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案例 3：内层次数随外层变化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001000" y="2984500"/>
            <a:ext cx="3302000" cy="571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0" name="AutoShape 30"/>
          <p:cNvSpPr/>
          <p:nvPr/>
        </p:nvSpPr>
        <p:spPr>
          <a:xfrm>
            <a:off x="8064500" y="3048000"/>
            <a:ext cx="317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for(i=0;i&lt;n;i++) { for(j=0;j&lt;i;j++) }</a:t>
            </a:r>
            <a:endParaRPr lang="en-US" sz="1100"/>
          </a:p>
        </p:txBody>
      </p:sp>
      <p:sp>
        <p:nvSpPr>
          <p:cNvPr id="31" name="AutoShape 31"/>
          <p:cNvSpPr/>
          <p:nvPr/>
        </p:nvSpPr>
        <p:spPr>
          <a:xfrm>
            <a:off x="8001000" y="3619500"/>
            <a:ext cx="330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总次数为 n(n-1)/2，舍去常数与低次项，时间复杂度为 </a:t>
            </a:r>
            <a:r>
              <a:rPr lang="en-US" sz="1300" b="1" i="0" u="none" strike="noStrike">
                <a:solidFill>
                  <a:srgbClr val="D946E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O(n²)</a:t>
            </a: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  <p:sp>
        <p:nvSpPr>
          <p:cNvPr id="32" name="AutoShape 32"/>
          <p:cNvSpPr/>
          <p:nvPr/>
        </p:nvSpPr>
        <p:spPr>
          <a:xfrm>
            <a:off x="762000" y="4699000"/>
            <a:ext cx="3556000" cy="889000"/>
          </a:xfrm>
          <a:prstGeom prst="roundRect">
            <a:avLst>
              <a:gd name="adj" fmla="val 0"/>
            </a:avLst>
          </a:prstGeom>
          <a:solidFill>
            <a:srgbClr val="EF4444">
              <a:alpha val="8000"/>
            </a:srgbClr>
          </a:solidFill>
          <a:ln w="12700" cap="flat" cmpd="sng">
            <a:solidFill>
              <a:srgbClr val="EF444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3" name="Picture 33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9000" y="4851400"/>
            <a:ext cx="254000" cy="254000"/>
          </a:xfrm>
          <a:prstGeom prst="rect">
            <a:avLst/>
          </a:prstGeom>
        </p:spPr>
      </p:pic>
      <p:sp>
        <p:nvSpPr>
          <p:cNvPr id="34" name="AutoShape 34"/>
          <p:cNvSpPr/>
          <p:nvPr/>
        </p:nvSpPr>
        <p:spPr>
          <a:xfrm>
            <a:off x="1206500" y="4800600"/>
            <a:ext cx="2984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B91C1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误区：行数多=复杂度高？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错！复杂度看循环执行次数，无循环的顺序代码始终是 O(1)。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5" name="AutoShape 35"/>
          <p:cNvSpPr/>
          <p:nvPr/>
        </p:nvSpPr>
        <p:spPr>
          <a:xfrm>
            <a:off x="4445000" y="4699000"/>
            <a:ext cx="3556000" cy="889000"/>
          </a:xfrm>
          <a:prstGeom prst="roundRect">
            <a:avLst>
              <a:gd name="adj" fmla="val 0"/>
            </a:avLst>
          </a:prstGeom>
          <a:solidFill>
            <a:srgbClr val="EF4444">
              <a:alpha val="8000"/>
            </a:srgbClr>
          </a:solidFill>
          <a:ln w="12700" cap="flat" cmpd="sng">
            <a:solidFill>
              <a:srgbClr val="EF444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6" name="Picture 36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72000" y="4851400"/>
            <a:ext cx="254000" cy="254000"/>
          </a:xfrm>
          <a:prstGeom prst="rect">
            <a:avLst/>
          </a:prstGeom>
        </p:spPr>
      </p:pic>
      <p:sp>
        <p:nvSpPr>
          <p:cNvPr id="37" name="AutoShape 37"/>
          <p:cNvSpPr/>
          <p:nvPr/>
        </p:nvSpPr>
        <p:spPr>
          <a:xfrm>
            <a:off x="4889500" y="4800600"/>
            <a:ext cx="2984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B91C1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误区：毫秒数=复杂度？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错！复杂度是趋势分析，受硬件/语言影响的实际耗时≠复杂度。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8" name="AutoShape 38"/>
          <p:cNvSpPr/>
          <p:nvPr/>
        </p:nvSpPr>
        <p:spPr>
          <a:xfrm>
            <a:off x="762000" y="5651500"/>
            <a:ext cx="3556000" cy="889000"/>
          </a:xfrm>
          <a:prstGeom prst="roundRect">
            <a:avLst>
              <a:gd name="adj" fmla="val 0"/>
            </a:avLst>
          </a:prstGeom>
          <a:solidFill>
            <a:srgbClr val="EF4444">
              <a:alpha val="8000"/>
            </a:srgbClr>
          </a:solidFill>
          <a:ln w="12700" cap="flat" cmpd="sng">
            <a:solidFill>
              <a:srgbClr val="EF444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9" name="Picture 3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9000" y="5803900"/>
            <a:ext cx="254000" cy="254000"/>
          </a:xfrm>
          <a:prstGeom prst="rect">
            <a:avLst/>
          </a:prstGeom>
        </p:spPr>
      </p:pic>
      <p:sp>
        <p:nvSpPr>
          <p:cNvPr id="40" name="AutoShape 40"/>
          <p:cNvSpPr/>
          <p:nvPr/>
        </p:nvSpPr>
        <p:spPr>
          <a:xfrm>
            <a:off x="1206500" y="5753100"/>
            <a:ext cx="2984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B91C1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误区：两层循环必是 O(n²)？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错！内层若为固定常数次数，整体复杂度仍为 O(n)。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1" name="AutoShape 41"/>
          <p:cNvSpPr/>
          <p:nvPr/>
        </p:nvSpPr>
        <p:spPr>
          <a:xfrm>
            <a:off x="4445000" y="5651500"/>
            <a:ext cx="3556000" cy="889000"/>
          </a:xfrm>
          <a:prstGeom prst="roundRect">
            <a:avLst>
              <a:gd name="adj" fmla="val 0"/>
            </a:avLst>
          </a:prstGeom>
          <a:solidFill>
            <a:srgbClr val="D946EF">
              <a:alpha val="10000"/>
            </a:srgbClr>
          </a:solidFill>
          <a:ln w="12700" cap="flat" cmpd="sng">
            <a:solidFill>
              <a:srgbClr val="D946E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2" name="Picture 4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572000" y="5803900"/>
            <a:ext cx="254000" cy="254000"/>
          </a:xfrm>
          <a:prstGeom prst="rect">
            <a:avLst/>
          </a:prstGeom>
        </p:spPr>
      </p:pic>
      <p:sp>
        <p:nvSpPr>
          <p:cNvPr id="43" name="AutoShape 43"/>
          <p:cNvSpPr/>
          <p:nvPr/>
        </p:nvSpPr>
        <p:spPr>
          <a:xfrm>
            <a:off x="4889500" y="5753100"/>
            <a:ext cx="29845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9D174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实战技巧：看数据范围！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n≤100 可写 O(n²)；n≤1e5 需 O(n) 或 O(n log n)。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44" name="AutoShape 44"/>
          <p:cNvSpPr/>
          <p:nvPr/>
        </p:nvSpPr>
        <p:spPr>
          <a:xfrm>
            <a:off x="8128000" y="4699000"/>
            <a:ext cx="3302000" cy="18415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D946EF">
                  <a:alpha val="100000"/>
                </a:srgbClr>
              </a:gs>
              <a:gs pos="100000">
                <a:srgbClr val="A855F7">
                  <a:alpha val="100000"/>
                </a:srgbClr>
              </a:gs>
            </a:gsLst>
            <a:lin ang="27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5" name="AutoShape 45"/>
          <p:cNvSpPr/>
          <p:nvPr/>
        </p:nvSpPr>
        <p:spPr>
          <a:xfrm>
            <a:off x="8318500" y="4889500"/>
            <a:ext cx="2921000" cy="1460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关键总结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复杂度分析的核心是“循环执行的总次数”，而非代码行数或循环层数。在算法竞赛中，务必结合题目给出的数据范围来选择合适的算法，避免超时（TLE）。</a:t>
            </a:r>
            <a:endParaRPr lang="en-US" sz="1300" b="0" i="0" u="none" strike="noStrike">
              <a:solidFill>
                <a:srgbClr val="FFFFFF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9525000" y="-1270000"/>
            <a:ext cx="3810000" cy="3810000"/>
          </a:xfrm>
          <a:prstGeom prst="ellipse">
            <a:avLst/>
          </a:prstGeom>
          <a:solidFill>
            <a:srgbClr val="D946E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1016000" y="5080000"/>
            <a:ext cx="2540000" cy="2540000"/>
          </a:xfrm>
          <a:prstGeom prst="ellipse">
            <a:avLst/>
          </a:prstGeom>
          <a:solidFill>
            <a:srgbClr val="D946E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PART02‑4：空间复杂度 + 时间空间权衡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5334000" cy="1587500"/>
          </a:xfrm>
          <a:prstGeom prst="roundRect">
            <a:avLst>
              <a:gd name="adj" fmla="val 0"/>
            </a:avLst>
          </a:prstGeom>
          <a:solidFill>
            <a:srgbClr val="D946E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5494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946E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空间复杂度：内存开销的度量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1968500"/>
            <a:ext cx="495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评估程序运行时占用的内存资源，忽略常数项，仅关注随输入规模增长的趋势。常见量级：</a:t>
            </a:r>
            <a:r>
              <a:rPr lang="en-US" sz="14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O(1)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（常数空间）→ </a:t>
            </a:r>
            <a:r>
              <a:rPr lang="en-US" sz="14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O(n)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（线性空间）→ </a:t>
            </a:r>
            <a:r>
              <a:rPr lang="en-US" sz="1400" b="1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O(n²)</a:t>
            </a: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（平方空间）。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1397000"/>
            <a:ext cx="5334000" cy="1587500"/>
          </a:xfrm>
          <a:prstGeom prst="roundRect">
            <a:avLst>
              <a:gd name="adj" fmla="val 0"/>
            </a:avLst>
          </a:prstGeom>
          <a:solidFill>
            <a:srgbClr val="D946E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413500" y="15494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D946E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核心思想：时空权衡 (Trade-off)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413500" y="1968500"/>
            <a:ext cx="495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算法设计的经典博弈：牺牲空间换取时间效率，或牺牲时间节省内存资源。二者往往无法同时达到最优，需根据实际场景（如数据规模、查询频率）灵活取舍。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3302000"/>
            <a:ext cx="5334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946E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952500" y="3454400"/>
            <a:ext cx="495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🛠️ 场景一：极简存储（省空间 · 适合流式）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952500" y="3873500"/>
            <a:ext cx="495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案例：寻找N个数的最大值。仅维护一个`max`变量，边读边比较。</a:t>
            </a:r>
            <a:b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复杂度：时间 </a:t>
            </a:r>
            <a:r>
              <a:rPr lang="en-US" sz="1400" b="1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O(n)</a:t>
            </a: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，空间 </a:t>
            </a:r>
            <a:r>
              <a:rPr lang="en-US" sz="1400" b="1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O(1)</a:t>
            </a: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b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特点：内存占用极小，无需存储全量数据，适合处理大数据流。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223000" y="3302000"/>
            <a:ext cx="5334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946E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413500" y="3454400"/>
            <a:ext cx="495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🚀 场景二：预存数据（换时间 · 适合高频查询）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413500" y="3873500"/>
            <a:ext cx="4953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案例：前缀和算法。预存前缀和数组，将区间和查询从O(n)降至O(1)。</a:t>
            </a:r>
            <a:b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复杂度：时间 </a:t>
            </a:r>
            <a:r>
              <a:rPr lang="en-US" sz="1400" b="1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O(1)</a:t>
            </a: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查询，空间 </a:t>
            </a:r>
            <a:r>
              <a:rPr lang="en-US" sz="1400" b="1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O(n)</a:t>
            </a: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b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特点：用线性内存换取后续查询的极致速度，竞赛高频优化技巧。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762000" y="5270500"/>
            <a:ext cx="10795000" cy="1143000"/>
          </a:xfrm>
          <a:prstGeom prst="roundRect">
            <a:avLst>
              <a:gd name="adj" fmla="val 0"/>
            </a:avLst>
          </a:prstGeom>
          <a:solidFill>
            <a:srgbClr val="D946E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952500" y="5397500"/>
            <a:ext cx="520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D946E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⚠️ 避坑指南：警惕MLE (内存超限)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数组开得过大、递归层级过深都会导致内存溢出。做题时务必先看数据范围，合理分配内存，避免“开超大数组”的坏习惯。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9" name="Connector 19"/>
          <p:cNvCxnSpPr/>
          <p:nvPr/>
        </p:nvCxnSpPr>
        <p:spPr>
          <a:xfrm rot="5350892">
            <a:off x="5715000" y="5835695"/>
            <a:ext cx="88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946E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6350000" y="5397500"/>
            <a:ext cx="520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D946E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核心总结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时间看循环，空间看存储。算法选择的第一步永远是分析数据规模，再匹配合适的复杂度等级，在时空之间找到最佳平衡点。</a:t>
            </a:r>
            <a:endParaRPr lang="en-US" sz="13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PART03‑1：结构体的引入、定义、创建变量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270500" cy="1143000"/>
          </a:xfrm>
          <a:prstGeom prst="roundRect">
            <a:avLst>
              <a:gd name="adj" fmla="val 0"/>
            </a:avLst>
          </a:prstGeom>
          <a:solidFill>
            <a:srgbClr val="FEF2F2">
              <a:alpha val="100000"/>
            </a:srgbClr>
          </a:solidFill>
          <a:ln w="12700" cap="flat" cmpd="sng">
            <a:solidFill>
              <a:srgbClr val="EF444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889000" y="1498600"/>
            <a:ext cx="5016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❌ 传统方式的局限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普通数组只能存储单一类型数据（如全int或全string），无法将学号、姓名、分数等不同类型的信息打包成一个独立的逻辑单元。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6159500" y="1397000"/>
            <a:ext cx="5270500" cy="1143000"/>
          </a:xfrm>
          <a:prstGeom prst="roundRect">
            <a:avLst>
              <a:gd name="adj" fmla="val 0"/>
            </a:avLst>
          </a:prstGeom>
          <a:solidFill>
            <a:srgbClr val="EFF6FF">
              <a:alpha val="100000"/>
            </a:srgbClr>
          </a:solidFill>
          <a:ln w="12700" cap="flat" cmpd="sng">
            <a:solidFill>
              <a:srgbClr val="0D6EF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6286500" y="1498600"/>
            <a:ext cx="5016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0D6E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✅ 结构体的核心价值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 struct 自定义新的数据类型，将多个不同类型的成员（如 id、name、score）封装为一个整体，精准描述现实中的复杂实体（如学生、商品）。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27305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889000" y="2857500"/>
            <a:ext cx="501650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0D6E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定义结构体类型（自定义蓝图）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struct Student { int id; // 成员：学号 string name; // 成员：姓名 double score; // 成员：分数 }; // ⚠️ 结尾必须加分号！</a:t>
            </a:r>
            <a:endParaRPr lang="en-US" sz="1200" b="0" i="0" u="none" strike="noStrike">
              <a:solidFill>
                <a:srgbClr val="37415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159500" y="2730500"/>
            <a:ext cx="5270500" cy="1968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286500" y="2857500"/>
            <a:ext cx="5016500" cy="184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500" b="1" i="0" u="none" strike="noStrike">
                <a:solidFill>
                  <a:srgbClr val="0D6E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创建变量与访问（实例化与操作）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37415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Student s1; // 创建结构体变量 s1.id = 2026001; // 赋值：使用 . 访问成员 s1.name = "ZhangSan"; cout &lt;&lt; s1.name; // 输出：访问成员</a:t>
            </a:r>
            <a:endParaRPr lang="en-US" sz="1200" b="0" i="0" u="none" strike="noStrike">
              <a:solidFill>
                <a:srgbClr val="37415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4953000"/>
            <a:ext cx="3467100" cy="1397000"/>
          </a:xfrm>
          <a:prstGeom prst="roundRect">
            <a:avLst>
              <a:gd name="adj" fmla="val 0"/>
            </a:avLst>
          </a:prstGeom>
          <a:solidFill>
            <a:srgbClr val="FEF2F2">
              <a:alpha val="100000"/>
            </a:srgbClr>
          </a:solidFill>
          <a:ln w="12700" cap="flat" cmpd="sng">
            <a:solidFill>
              <a:srgbClr val="EF444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14400" y="5105400"/>
            <a:ext cx="254000" cy="254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244600" y="5080000"/>
            <a:ext cx="292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B91C1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坑点 1：漏写分号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7F1D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结构体定义结束的 } 后必须加分号，否则直接导致编译错误(CE)，这是新手最容易忽略的细节。</a:t>
            </a:r>
            <a:endParaRPr lang="en-US" sz="1200" b="0" i="0" u="none" strike="noStrike">
              <a:solidFill>
                <a:srgbClr val="7F1D1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4356100" y="4953000"/>
            <a:ext cx="3467100" cy="1397000"/>
          </a:xfrm>
          <a:prstGeom prst="roundRect">
            <a:avLst>
              <a:gd name="adj" fmla="val 0"/>
            </a:avLst>
          </a:prstGeom>
          <a:solidFill>
            <a:srgbClr val="FEF2F2">
              <a:alpha val="100000"/>
            </a:srgbClr>
          </a:solidFill>
          <a:ln w="12700" cap="flat" cmpd="sng">
            <a:solidFill>
              <a:srgbClr val="EF444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08500" y="5105400"/>
            <a:ext cx="254000" cy="254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4838700" y="5080000"/>
            <a:ext cx="292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B91C1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坑点 2：运算符错误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7F1D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访问成员必须使用英文小数点 '.'，切勿写成中文句号或逗号，这是语法错误的常见源头。</a:t>
            </a:r>
            <a:endParaRPr lang="en-US" sz="1200" b="0" i="0" u="none" strike="noStrike">
              <a:solidFill>
                <a:srgbClr val="7F1D1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7950200" y="4953000"/>
            <a:ext cx="3467100" cy="1397000"/>
          </a:xfrm>
          <a:prstGeom prst="roundRect">
            <a:avLst>
              <a:gd name="adj" fmla="val 0"/>
            </a:avLst>
          </a:prstGeom>
          <a:solidFill>
            <a:srgbClr val="FEF2F2">
              <a:alpha val="100000"/>
            </a:srgbClr>
          </a:solidFill>
          <a:ln w="12700" cap="flat" cmpd="sng">
            <a:solidFill>
              <a:srgbClr val="EF444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02600" y="5105400"/>
            <a:ext cx="254000" cy="254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432800" y="5080000"/>
            <a:ext cx="292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B91C1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坑点 3：定义位置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7F1D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结构体类型定义需写在 main 函数外部，若写在函数内部，部分编译器会报错，需养成良好的定义习惯。</a:t>
            </a:r>
            <a:endParaRPr lang="en-US" sz="1200" b="0" i="0" u="none" strike="noStrike">
              <a:solidFill>
                <a:srgbClr val="7F1D1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0" y="-762000"/>
            <a:ext cx="2540000" cy="2540000"/>
          </a:xfrm>
          <a:prstGeom prst="ellipse">
            <a:avLst/>
          </a:prstGeom>
          <a:solidFill>
            <a:srgbClr val="0D6EFD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635000" y="5715000"/>
            <a:ext cx="1905000" cy="1905000"/>
          </a:xfrm>
          <a:prstGeom prst="ellipse">
            <a:avLst/>
          </a:prstGeom>
          <a:solidFill>
            <a:srgbClr val="0D6EFD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PART03‑2：结构体初始化、结构体数组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397000"/>
            <a:ext cx="5270500" cy="1905000"/>
          </a:xfrm>
          <a:prstGeom prst="roundRect">
            <a:avLst>
              <a:gd name="adj" fmla="val 0"/>
            </a:avLst>
          </a:prstGeom>
          <a:solidFill>
            <a:srgbClr val="0D6EFD">
              <a:alpha val="8000"/>
            </a:srgbClr>
          </a:solidFill>
          <a:ln w="12700" cap="flat" cmpd="sng">
            <a:solidFill>
              <a:srgbClr val="0D6EF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5494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6E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传统顺序初始化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1930400"/>
            <a:ext cx="4889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严格按照结构体成员定义的顺序赋值，语法简洁，但可读性依赖于对结构定义的熟悉程度。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2603500"/>
            <a:ext cx="4889500" cy="571500"/>
          </a:xfrm>
          <a:prstGeom prst="roundRect">
            <a:avLst>
              <a:gd name="adj" fmla="val 0"/>
            </a:avLst>
          </a:prstGeom>
          <a:solidFill>
            <a:srgbClr val="00000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16000" y="2692400"/>
            <a:ext cx="4762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Student s1 = {2026001, "LiHua", 88.0};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159500" y="1397000"/>
            <a:ext cx="5270500" cy="1905000"/>
          </a:xfrm>
          <a:prstGeom prst="roundRect">
            <a:avLst>
              <a:gd name="adj" fmla="val 0"/>
            </a:avLst>
          </a:prstGeom>
          <a:solidFill>
            <a:srgbClr val="0D6EFD">
              <a:alpha val="8000"/>
            </a:srgbClr>
          </a:solidFill>
          <a:ln w="12700" cap="flat" cmpd="sng">
            <a:solidFill>
              <a:srgbClr val="0D6EFD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350000" y="15494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6E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C++11 乱序初始化（推荐）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350000" y="1930400"/>
            <a:ext cx="4889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通过成员名显式赋值，打破顺序限制，代码可读性大幅提升，尤其适合成员较多的结构体。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350000" y="2603500"/>
            <a:ext cx="4889500" cy="571500"/>
          </a:xfrm>
          <a:prstGeom prst="roundRect">
            <a:avLst>
              <a:gd name="adj" fmla="val 0"/>
            </a:avLst>
          </a:prstGeom>
          <a:solidFill>
            <a:srgbClr val="00000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413500" y="2692400"/>
            <a:ext cx="4762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Student s2 = {.id=2026002, .name="WangWu", .score=95.5};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3492500"/>
            <a:ext cx="10668000" cy="1651000"/>
          </a:xfrm>
          <a:prstGeom prst="roundRect">
            <a:avLst>
              <a:gd name="adj" fmla="val 0"/>
            </a:avLst>
          </a:prstGeom>
          <a:solidFill>
            <a:srgbClr val="0D6EFD">
              <a:alpha val="5000"/>
            </a:srgbClr>
          </a:solidFill>
          <a:ln w="12700" cap="flat" cmpd="sng">
            <a:solidFill>
              <a:srgbClr val="0D6EFD">
                <a:alpha val="15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36576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333500" y="3657600"/>
            <a:ext cx="952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D6E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结构体数组：批量管理对象的容器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952500" y="4127500"/>
            <a:ext cx="4826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数组元素为自定义结构体类型，每个元素都是包含完整属性（id/name/score）的独立对象。常用于处理批量数据（如班级学生信息）。定义：</a:t>
            </a:r>
            <a:r>
              <a:rPr lang="en-US" sz="1300" b="0" i="0" u="none" strike="noStrike">
                <a:solidFill>
                  <a:srgbClr val="0D6EF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Student stu[105];</a:t>
            </a:r>
            <a:endParaRPr lang="en-US" sz="1100"/>
          </a:p>
        </p:txBody>
      </p:sp>
      <p:cxnSp>
        <p:nvCxnSpPr>
          <p:cNvPr id="19" name="Connector 19"/>
          <p:cNvCxnSpPr/>
          <p:nvPr/>
        </p:nvCxnSpPr>
        <p:spPr>
          <a:xfrm rot="5342709">
            <a:off x="5588000" y="4565703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D6EFD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/>
        </p:nvSpPr>
        <p:spPr>
          <a:xfrm>
            <a:off x="6223000" y="4127500"/>
            <a:ext cx="4953000" cy="825500"/>
          </a:xfrm>
          <a:prstGeom prst="roundRect">
            <a:avLst>
              <a:gd name="adj" fmla="val 0"/>
            </a:avLst>
          </a:prstGeom>
          <a:solidFill>
            <a:srgbClr val="000000">
              <a:alpha val="4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6286500" y="419100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// 遍历数组，逐个输入学生信息</a:t>
            </a:r>
            <a:br>
              <a:rPr lang="en-US" sz="1300" b="0" i="0" u="none" strike="noStrike">
                <a:solidFill>
                  <a:srgbClr val="55555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300" b="0" i="0" u="none" strike="noStrike">
                <a:solidFill>
                  <a:srgbClr val="55555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for(int i=0; i&lt;n; i++) {</a:t>
            </a:r>
            <a:br>
              <a:rPr lang="en-US" sz="1300" b="0" i="0" u="none" strike="noStrike">
                <a:solidFill>
                  <a:srgbClr val="55555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300" b="0" i="0" u="none" strike="noStrike">
                <a:solidFill>
                  <a:srgbClr val="55555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cin &gt;&gt; stu[i].id &gt;&gt; stu[i].name &gt;&gt; stu[i].score;</a:t>
            </a:r>
            <a:br>
              <a:rPr lang="en-US" sz="1300" b="0" i="0" u="none" strike="noStrike">
                <a:solidFill>
                  <a:srgbClr val="55555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</a:br>
            <a:r>
              <a:rPr lang="en-US" sz="1300" b="0" i="0" u="none" strike="noStrike">
                <a:solidFill>
                  <a:srgbClr val="555555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}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762000" y="5270500"/>
            <a:ext cx="5270500" cy="1270000"/>
          </a:xfrm>
          <a:prstGeom prst="roundRect">
            <a:avLst>
              <a:gd name="adj" fmla="val 0"/>
            </a:avLst>
          </a:prstGeom>
          <a:solidFill>
            <a:srgbClr val="F59E0B">
              <a:alpha val="8000"/>
            </a:srgbClr>
          </a:solidFill>
          <a:ln w="12700" cap="flat" cmpd="sng">
            <a:solidFill>
              <a:srgbClr val="F59E0B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52500" y="5435600"/>
            <a:ext cx="254000" cy="2540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1270000" y="54356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D9770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经典场景：查找最高分学生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52500" y="5816600"/>
            <a:ext cx="4889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遍历数组比较分数，记录最高分下标。关键：</a:t>
            </a:r>
            <a:r>
              <a:rPr lang="en-US" sz="1300" b="0" i="0" u="none" strike="noStrike">
                <a:solidFill>
                  <a:srgbClr val="D9770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stu[i].score</a:t>
            </a: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先取数组元素，再访问成员。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6159500" y="5270500"/>
            <a:ext cx="5270500" cy="1270000"/>
          </a:xfrm>
          <a:prstGeom prst="roundRect">
            <a:avLst>
              <a:gd name="adj" fmla="val 0"/>
            </a:avLst>
          </a:prstGeom>
          <a:solidFill>
            <a:srgbClr val="EF4444">
              <a:alpha val="8000"/>
            </a:srgbClr>
          </a:solidFill>
          <a:ln w="12700" cap="flat" cmpd="sng">
            <a:solidFill>
              <a:srgbClr val="EF444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50000" y="5435600"/>
            <a:ext cx="254000" cy="2540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6667500" y="5435600"/>
            <a:ext cx="4572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避坑指南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6350000" y="5816600"/>
            <a:ext cx="4889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下标从0开始，严防越界；2. 访问成员时，点运算符在数组元素后；3. 传统初始化需严格匹配成员顺序。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PART04‑1：函数是什么？解决什么痛点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198754">
              <a:alpha val="8000"/>
            </a:srgbClr>
          </a:solidFill>
          <a:ln cap="flat" cmpd="sng">
            <a:solidFill>
              <a:srgbClr val="096E3F">
                <a:alpha val="8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952500" y="1524000"/>
            <a:ext cx="1028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987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💡 核心定义：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6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将完成特定功能的代码块“打包命名”，实现代码复用，彻底告别重复复制粘贴的低效模式。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4130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EF4444">
              <a:alpha val="6000"/>
            </a:srgbClr>
          </a:solidFill>
          <a:ln w="12700" cap="flat" cmpd="sng">
            <a:solidFill>
              <a:srgbClr val="EF444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2540000"/>
            <a:ext cx="482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❌ 无函数的痛点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代码大量重复导致文件臃肿；修改格式需逐处手动改，极易漏改引发Bug；逻辑混杂，阅读与维护成本极高。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6223000" y="2413000"/>
            <a:ext cx="5207000" cy="1397000"/>
          </a:xfrm>
          <a:prstGeom prst="roundRect">
            <a:avLst>
              <a:gd name="adj" fmla="val 0"/>
            </a:avLst>
          </a:prstGeom>
          <a:solidFill>
            <a:srgbClr val="198754">
              <a:alpha val="6000"/>
            </a:srgbClr>
          </a:solidFill>
          <a:ln w="12700" cap="flat" cmpd="sng">
            <a:solidFill>
              <a:srgbClr val="19875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6413500" y="2540000"/>
            <a:ext cx="4826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987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✅ 函数带来的价值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一次编写，随处调用，大幅减少冗余；修改只需改一处，维护零成本；功能模块化，代码结构清晰易读。</a:t>
            </a:r>
            <a:endParaRPr lang="en-US" sz="14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762000" y="4000500"/>
            <a:ext cx="3429000" cy="1206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41656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33500" y="4127500"/>
            <a:ext cx="273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函数声明 (原型)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向编译器“报备”：函数名、参数类型、返回值类型，是函数的“身份说明”。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4381500" y="4000500"/>
            <a:ext cx="3429000" cy="1206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0" y="41656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4953000" y="4127500"/>
            <a:ext cx="273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函数定义 (函数体)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函数的“核心实现”，包含具体的业务逻辑代码，是真正干活的地方。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8001000" y="4000500"/>
            <a:ext cx="3429000" cy="1206500"/>
          </a:xfrm>
          <a:prstGeom prst="roundRect">
            <a:avLst>
              <a:gd name="adj" fmla="val 0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191500" y="41656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8572500" y="4127500"/>
            <a:ext cx="2730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函数调用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通过函数名+参数触发执行，让封装好的功能真正“跑起来”。</a:t>
            </a:r>
            <a:endParaRPr lang="en-US" sz="13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762000" y="5397500"/>
            <a:ext cx="10668000" cy="1143000"/>
          </a:xfrm>
          <a:prstGeom prst="roundRect">
            <a:avLst>
              <a:gd name="adj" fmla="val 0"/>
            </a:avLst>
          </a:prstGeom>
          <a:solidFill>
            <a:srgbClr val="FEF2F2">
              <a:alpha val="100000"/>
            </a:srgbClr>
          </a:solidFill>
          <a:ln w="12700" cap="flat" cmpd="sng">
            <a:solidFill>
              <a:srgbClr val="EF444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2500" y="55626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1397000" y="5486400"/>
            <a:ext cx="990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500" b="1" i="0" u="none" strike="noStrike">
                <a:solidFill>
                  <a:srgbClr val="B91C1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🚨 新手避坑指南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7F1D1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函数必须定义在 main() 外部，C++ 不支持函数嵌套；2. return 会直接终止函数，其后代码不再执行；3. 非 void 类型函数必须有对应类型的 return 返回值，否则会触发未定义行为。</a:t>
            </a:r>
            <a:endParaRPr lang="en-US" sz="1300" b="0" i="0" u="none" strike="noStrike">
              <a:solidFill>
                <a:srgbClr val="7F1D1D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0" y="-635000"/>
            <a:ext cx="2540000" cy="2540000"/>
          </a:xfrm>
          <a:prstGeom prst="ellipse">
            <a:avLst/>
          </a:prstGeom>
          <a:solidFill>
            <a:srgbClr val="19875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-635000" y="5715000"/>
            <a:ext cx="1905000" cy="1905000"/>
          </a:xfrm>
          <a:prstGeom prst="ellipse">
            <a:avLst/>
          </a:prstGeom>
          <a:solidFill>
            <a:srgbClr val="198754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PART04‑2：函数的声明与定义、void无返回值函数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5270500" cy="2921000"/>
          </a:xfrm>
          <a:prstGeom prst="roundRect">
            <a:avLst>
              <a:gd name="adj" fmla="val 0"/>
            </a:avLst>
          </a:prstGeom>
          <a:solidFill>
            <a:srgbClr val="198754">
              <a:alpha val="6000"/>
            </a:srgbClr>
          </a:solidFill>
          <a:ln w="12700" cap="flat" cmpd="sng">
            <a:solidFill>
              <a:srgbClr val="19875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952500" y="17145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987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声明与定义分离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2222500"/>
            <a:ext cx="4889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若函数定义在main函数之后，编译器因未提前识别而报错。解决方案是将</a:t>
            </a:r>
            <a:r>
              <a:rPr lang="en-US" sz="1400" b="1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函数声明（原型）</a:t>
            </a: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置于main前，仅保留签名；</a:t>
            </a:r>
            <a:r>
              <a:rPr lang="en-US" sz="1400" b="1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函数定义（实现）</a:t>
            </a: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置于main后，编写完整逻辑。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3238500"/>
            <a:ext cx="4889500" cy="1016000"/>
          </a:xfrm>
          <a:prstGeom prst="roundRect">
            <a:avLst>
              <a:gd name="adj" fmla="val 0"/>
            </a:avLst>
          </a:prstGeom>
          <a:solidFill>
            <a:srgbClr val="21252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1016000" y="3302000"/>
            <a:ext cx="476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A7F3D0"/>
                </a:solidFill>
                <a:latin typeface="Roboto" panose="02000000000000000000" charset="0"/>
                <a:ea typeface="Roboto" panose="02000000000000000000" charset="0"/>
                <a:cs typeface="Roboto" panose="02000000000000000000" charset="0"/>
                <a:sym typeface="Roboto" panose="02000000000000000000" charset="0"/>
              </a:rPr>
              <a:t>// 声明（原型，main前）：仅签名，加分号</a:t>
            </a:r>
            <a:br>
              <a:rPr lang="en-US" sz="1200" b="0" i="0" u="none" strike="noStrike">
                <a:solidFill>
                  <a:srgbClr val="1F2329"/>
                </a:solidFill>
                <a:latin typeface="Roboto" panose="02000000000000000000" charset="0"/>
                <a:ea typeface="Roboto" panose="02000000000000000000" charset="0"/>
                <a:cs typeface="Roboto" panose="02000000000000000000" charset="0"/>
                <a:sym typeface="Roboto" panose="02000000000000000000" charset="0"/>
              </a:rPr>
            </a:br>
            <a:r>
              <a:rPr lang="en-US" sz="1200" b="0" i="0" u="none" strike="noStrike">
                <a:solidFill>
                  <a:srgbClr val="FFFFFF"/>
                </a:solidFill>
                <a:latin typeface="Roboto" panose="02000000000000000000" charset="0"/>
                <a:ea typeface="Roboto" panose="02000000000000000000" charset="0"/>
                <a:cs typeface="Roboto" panose="02000000000000000000" charset="0"/>
                <a:sym typeface="Roboto" panose="02000000000000000000" charset="0"/>
              </a:rPr>
              <a:t>i</a:t>
            </a:r>
            <a:r>
              <a:rPr lang="en-US" sz="1200" b="1" i="0" u="none" strike="noStrike">
                <a:solidFill>
                  <a:srgbClr val="FFFFFF"/>
                </a:solidFill>
                <a:latin typeface="微软雅黑 Light" panose="020B0502040204020203" charset="-122"/>
                <a:ea typeface="微软雅黑 Light" panose="020B0502040204020203" charset="-122"/>
                <a:cs typeface="Roboto" panose="02000000000000000000" charset="0"/>
                <a:sym typeface="Roboto" panose="02000000000000000000" charset="0"/>
              </a:rPr>
              <a:t>nt add(int a, int b);</a:t>
            </a:r>
            <a:br>
              <a:rPr lang="en-US" sz="1200" b="1" i="0" u="none" strike="noStrike">
                <a:solidFill>
                  <a:srgbClr val="1F2329"/>
                </a:solidFill>
                <a:latin typeface="微软雅黑 Light" panose="020B0502040204020203" charset="-122"/>
                <a:ea typeface="微软雅黑 Light" panose="020B0502040204020203" charset="-122"/>
                <a:cs typeface="Roboto" panose="02000000000000000000" charset="0"/>
                <a:sym typeface="Roboto" panose="02000000000000000000" charset="0"/>
              </a:rPr>
            </a:br>
            <a:r>
              <a:rPr lang="en-US" sz="1200" b="0" i="0" u="none" strike="noStrike">
                <a:solidFill>
                  <a:srgbClr val="A7F3D0"/>
                </a:solidFill>
                <a:latin typeface="Roboto" panose="02000000000000000000" charset="0"/>
                <a:ea typeface="Roboto" panose="02000000000000000000" charset="0"/>
                <a:cs typeface="Roboto" panose="02000000000000000000" charset="0"/>
                <a:sym typeface="Roboto" panose="02000000000000000000" charset="0"/>
              </a:rPr>
              <a:t>// 定义（实现，main后）：有函数体，无分号</a:t>
            </a:r>
            <a:br>
              <a:rPr lang="en-US" sz="1200" b="0" i="0" u="none" strike="noStrike">
                <a:solidFill>
                  <a:srgbClr val="1F2329"/>
                </a:solidFill>
                <a:latin typeface="Roboto" panose="02000000000000000000" charset="0"/>
                <a:ea typeface="Roboto" panose="02000000000000000000" charset="0"/>
                <a:cs typeface="Roboto" panose="02000000000000000000" charset="0"/>
                <a:sym typeface="Roboto" panose="02000000000000000000" charset="0"/>
              </a:rPr>
            </a:br>
            <a:r>
              <a:rPr lang="en-US" sz="1200" b="1" i="0" u="none" strike="noStrike">
                <a:solidFill>
                  <a:srgbClr val="FFFFFF"/>
                </a:solidFill>
                <a:latin typeface="微软雅黑 Light" panose="020B0502040204020203" charset="-122"/>
                <a:ea typeface="微软雅黑 Light" panose="020B0502040204020203" charset="-122"/>
                <a:cs typeface="Roboto" panose="02000000000000000000" charset="0"/>
                <a:sym typeface="Roboto" panose="02000000000000000000" charset="0"/>
              </a:rPr>
              <a:t>int add(int a, int b) { return a + b; }</a:t>
            </a:r>
            <a:endParaRPr lang="en-US" sz="1200" b="1">
              <a:solidFill>
                <a:srgbClr val="FFFFFF"/>
              </a:solidFill>
              <a:latin typeface="微软雅黑 Light" panose="020B0502040204020203" charset="-122"/>
              <a:ea typeface="微软雅黑 Light" panose="020B0502040204020203" charset="-122"/>
              <a:cs typeface="Roboto" panose="02000000000000000000" charset="0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159500" y="1524000"/>
            <a:ext cx="5270500" cy="2921000"/>
          </a:xfrm>
          <a:prstGeom prst="roundRect">
            <a:avLst>
              <a:gd name="adj" fmla="val 0"/>
            </a:avLst>
          </a:prstGeom>
          <a:solidFill>
            <a:srgbClr val="198754">
              <a:alpha val="6000"/>
            </a:srgbClr>
          </a:solidFill>
          <a:ln w="12700" cap="flat" cmpd="sng">
            <a:solidFill>
              <a:srgbClr val="19875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350000" y="1714500"/>
            <a:ext cx="4889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987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void 无返回值函数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350000" y="2222500"/>
            <a:ext cx="48895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专为执行操作（如打印、状态修改）设计，无需返回计算结果。可使用`return;`提前退出函数，但严禁返回具体数值（如`return 5;`会导致编译错误）。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350000" y="3238500"/>
            <a:ext cx="4889500" cy="1016000"/>
          </a:xfrm>
          <a:prstGeom prst="roundRect">
            <a:avLst>
              <a:gd name="adj" fmla="val 0"/>
            </a:avLst>
          </a:prstGeom>
          <a:solidFill>
            <a:srgbClr val="21252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6413500" y="3302000"/>
            <a:ext cx="47625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A7F3D0"/>
                </a:solidFill>
                <a:latin typeface="Roboto" panose="02000000000000000000" charset="0"/>
                <a:ea typeface="Roboto" panose="02000000000000000000" charset="0"/>
                <a:cs typeface="Roboto" panose="02000000000000000000" charset="0"/>
                <a:sym typeface="Roboto" panose="02000000000000000000" charset="0"/>
              </a:rPr>
              <a:t>// void类型：不返回数据，仅执行动作</a:t>
            </a:r>
            <a:br>
              <a:rPr lang="en-US" sz="1200" b="0" i="0" u="none" strike="noStrike">
                <a:solidFill>
                  <a:srgbClr val="1F2329"/>
                </a:solidFill>
                <a:latin typeface="Roboto" panose="02000000000000000000" charset="0"/>
                <a:ea typeface="Roboto" panose="02000000000000000000" charset="0"/>
                <a:cs typeface="Roboto" panose="02000000000000000000" charset="0"/>
                <a:sym typeface="Roboto" panose="02000000000000000000" charset="0"/>
              </a:rPr>
            </a:br>
            <a:r>
              <a:rPr lang="en-US" sz="1200" b="0" i="0" u="none" strike="noStrike">
                <a:solidFill>
                  <a:srgbClr val="FFFFFF"/>
                </a:solidFill>
                <a:latin typeface="Roboto" panose="02000000000000000000" charset="0"/>
                <a:ea typeface="Roboto" panose="02000000000000000000" charset="0"/>
                <a:cs typeface="Roboto" panose="02000000000000000000" charset="0"/>
                <a:sym typeface="Roboto" panose="02000000000000000000" charset="0"/>
              </a:rPr>
              <a:t>vo</a:t>
            </a:r>
            <a:r>
              <a:rPr lang="en-US" sz="1200" b="1" i="0" u="none" strike="noStrike">
                <a:solidFill>
                  <a:srgbClr val="FFFFFF"/>
                </a:solidFill>
                <a:latin typeface="微软雅黑 Light" panose="020B0502040204020203" charset="-122"/>
                <a:ea typeface="微软雅黑 Light" panose="020B0502040204020203" charset="-122"/>
                <a:cs typeface="Roboto" panose="02000000000000000000" charset="0"/>
                <a:sym typeface="Roboto" panose="02000000000000000000" charset="0"/>
              </a:rPr>
              <a:t>id printHello() {</a:t>
            </a:r>
            <a:br>
              <a:rPr lang="en-US" sz="1200" b="1" i="0" u="none" strike="noStrike">
                <a:solidFill>
                  <a:srgbClr val="1F2329"/>
                </a:solidFill>
                <a:latin typeface="微软雅黑 Light" panose="020B0502040204020203" charset="-122"/>
                <a:ea typeface="微软雅黑 Light" panose="020B0502040204020203" charset="-122"/>
                <a:cs typeface="Roboto" panose="02000000000000000000" charset="0"/>
                <a:sym typeface="Roboto" panose="02000000000000000000" charset="0"/>
              </a:rPr>
            </a:br>
            <a:r>
              <a:rPr lang="en-US" sz="1200" b="1" i="0" u="none" strike="noStrike">
                <a:solidFill>
                  <a:srgbClr val="FFFFFF"/>
                </a:solidFill>
                <a:latin typeface="微软雅黑 Light" panose="020B0502040204020203" charset="-122"/>
                <a:ea typeface="微软雅黑 Light" panose="020B0502040204020203" charset="-122"/>
                <a:cs typeface="Roboto" panose="02000000000000000000" charset="0"/>
                <a:sym typeface="Roboto" panose="02000000000000000000" charset="0"/>
              </a:rPr>
              <a:t>cout &lt;&lt; "Hello, Function!" &lt;&lt; endl;</a:t>
            </a:r>
            <a:br>
              <a:rPr lang="en-US" sz="1200" b="1" i="0" u="none" strike="noStrike">
                <a:solidFill>
                  <a:srgbClr val="1F2329"/>
                </a:solidFill>
                <a:latin typeface="微软雅黑 Light" panose="020B0502040204020203" charset="-122"/>
                <a:ea typeface="微软雅黑 Light" panose="020B0502040204020203" charset="-122"/>
                <a:cs typeface="Roboto" panose="02000000000000000000" charset="0"/>
                <a:sym typeface="Roboto" panose="02000000000000000000" charset="0"/>
              </a:rPr>
            </a:br>
            <a:r>
              <a:rPr lang="en-US" sz="1200" b="1" i="0" u="none" strike="noStrike">
                <a:solidFill>
                  <a:srgbClr val="FFFFFF"/>
                </a:solidFill>
                <a:latin typeface="微软雅黑 Light" panose="020B0502040204020203" charset="-122"/>
                <a:ea typeface="微软雅黑 Light" panose="020B0502040204020203" charset="-122"/>
                <a:cs typeface="Roboto" panose="02000000000000000000" charset="0"/>
                <a:sym typeface="Roboto" panose="02000000000000000000" charset="0"/>
              </a:rPr>
              <a:t>}</a:t>
            </a:r>
            <a:endParaRPr lang="en-US" sz="1100" b="1">
              <a:latin typeface="微软雅黑 Light" panose="020B0502040204020203" charset="-122"/>
              <a:ea typeface="微软雅黑 Light" panose="020B0502040204020203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4826000"/>
            <a:ext cx="10668000" cy="1460500"/>
          </a:xfrm>
          <a:prstGeom prst="roundRect">
            <a:avLst>
              <a:gd name="adj" fmla="val 0"/>
            </a:avLst>
          </a:prstGeom>
          <a:solidFill>
            <a:srgbClr val="198754">
              <a:alpha val="8000"/>
            </a:srgbClr>
          </a:solidFill>
          <a:ln w="12700" cap="flat" cmpd="sng">
            <a:solidFill>
              <a:srgbClr val="19875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952500" y="4978400"/>
            <a:ext cx="1016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987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⚠️ 核心避坑指南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952500" y="5397500"/>
            <a:ext cx="33020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8" name="AutoShape 18"/>
          <p:cNvSpPr/>
          <p:nvPr/>
        </p:nvSpPr>
        <p:spPr>
          <a:xfrm>
            <a:off x="1016000" y="5461000"/>
            <a:ext cx="3175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严格匹配：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声明与定义的参数类型、数量、返回值必须完全一致，否则编译报错。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4445000" y="5397500"/>
            <a:ext cx="33020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4508500" y="5461000"/>
            <a:ext cx="3175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返回规则：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void函数禁止return具体数值；非void函数必须返回对应类型的结果。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937500" y="5397500"/>
            <a:ext cx="3302000" cy="762000"/>
          </a:xfrm>
          <a:prstGeom prst="roundRect">
            <a:avLst>
              <a:gd name="adj" fmla="val 0"/>
            </a:avLst>
          </a:prstGeom>
          <a:solidFill>
            <a:srgbClr val="FFFFFF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2" name="AutoShape 22"/>
          <p:cNvSpPr/>
          <p:nvPr/>
        </p:nvSpPr>
        <p:spPr>
          <a:xfrm>
            <a:off x="8001000" y="5461000"/>
            <a:ext cx="3175000" cy="698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3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语法细节：</a:t>
            </a:r>
            <a: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函数声明末尾必须加`;`，而函数定义的大括号后绝对不要加分号。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PART04‑3：函数参数传递：值传递 vs 引用传递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460500"/>
            <a:ext cx="5270500" cy="2222500"/>
          </a:xfrm>
          <a:prstGeom prst="roundRect">
            <a:avLst>
              <a:gd name="adj" fmla="val 0"/>
            </a:avLst>
          </a:prstGeom>
          <a:solidFill>
            <a:srgbClr val="198754">
              <a:alpha val="6000"/>
            </a:srgbClr>
          </a:solidFill>
          <a:ln w="12700" cap="flat" cmpd="sng">
            <a:solidFill>
              <a:srgbClr val="19875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952500" y="15875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987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值传递：拷贝副本，互不影响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952500" y="2032000"/>
            <a:ext cx="4889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机制：将实参数据完整复制给形参，函数内操作的是独立副本。无论函数内如何修改，外部原始变量始终保持不变。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857500"/>
            <a:ext cx="4889500" cy="698500"/>
          </a:xfrm>
          <a:prstGeom prst="roundRect">
            <a:avLst>
              <a:gd name="adj" fmla="val 0"/>
            </a:avLst>
          </a:prstGeom>
          <a:solidFill>
            <a:srgbClr val="00000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41400" y="2946400"/>
            <a:ext cx="4762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示例：void change(int a) { a = 999; }</a:t>
            </a:r>
            <a:b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结果：外部变量 x 依然是初始值，不受函数内修改影响。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159500" y="1460500"/>
            <a:ext cx="5270500" cy="2222500"/>
          </a:xfrm>
          <a:prstGeom prst="roundRect">
            <a:avLst>
              <a:gd name="adj" fmla="val 0"/>
            </a:avLst>
          </a:prstGeom>
          <a:solidFill>
            <a:srgbClr val="198754">
              <a:alpha val="6000"/>
            </a:srgbClr>
          </a:solidFill>
          <a:ln w="12700" cap="flat" cmpd="sng">
            <a:solidFill>
              <a:srgbClr val="198754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6350000" y="1587500"/>
            <a:ext cx="495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9875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引用传递：别名映射，直接操作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350000" y="2032000"/>
            <a:ext cx="4889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52525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机制：形参是实参的“别名”，共用同一块内存空间，不产生拷贝。函数内对形参的修改，会直接同步到外部原始变量。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350000" y="2857500"/>
            <a:ext cx="4889500" cy="698500"/>
          </a:xfrm>
          <a:prstGeom prst="roundRect">
            <a:avLst>
              <a:gd name="adj" fmla="val 0"/>
            </a:avLst>
          </a:prstGeom>
          <a:solidFill>
            <a:srgbClr val="00000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438900" y="2946400"/>
            <a:ext cx="47625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示例：void change(int &amp;a) { a = 999; }</a:t>
            </a:r>
            <a:b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结果：外部变量 x 被直接修改为 999，与函数内同步。</a:t>
            </a:r>
            <a:endParaRPr lang="en-US" sz="1100"/>
          </a:p>
        </p:txBody>
      </p:sp>
      <p:graphicFrame>
        <p:nvGraphicFramePr>
          <p:cNvPr id="13" name="Table 13"/>
          <p:cNvGraphicFramePr>
            <a:graphicFrameLocks noGrp="1"/>
          </p:cNvGraphicFramePr>
          <p:nvPr/>
        </p:nvGraphicFramePr>
        <p:xfrm>
          <a:off x="762000" y="3937000"/>
          <a:ext cx="6096000" cy="1905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270000"/>
                <a:gridCol w="2413000"/>
                <a:gridCol w="2413000"/>
              </a:tblGrid>
              <a:tr h="4572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对比维度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98754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值传递 (int a)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98754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FFFFFF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引用传递 (int &amp;a)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98754">
                        <a:alpha val="100000"/>
                      </a:srgbClr>
                    </a:solidFill>
                  </a:tcPr>
                </a:tc>
              </a:tr>
              <a:tr h="482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内存行为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创建独立副本，占用新内存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仅起别名，共享同一块内存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</a:tr>
              <a:tr h="482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修改影响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仅修改副本，外部变量不变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直接修改外部原始变量本体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>
                        <a:alpha val="100000"/>
                      </a:srgbClr>
                    </a:solidFill>
                  </a:tcPr>
                </a:tc>
              </a:tr>
              <a:tr h="48260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性能开销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大数据拷贝时，开销较大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无拷贝，开销极小（推荐）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3F4F6">
                        <a:alpha val="100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id="14" name="AutoShape 14"/>
          <p:cNvSpPr/>
          <p:nvPr/>
        </p:nvSpPr>
        <p:spPr>
          <a:xfrm>
            <a:off x="7556500" y="3937000"/>
            <a:ext cx="3810000" cy="2349500"/>
          </a:xfrm>
          <a:prstGeom prst="roundRect">
            <a:avLst>
              <a:gd name="adj" fmla="val 0"/>
            </a:avLst>
          </a:prstGeom>
          <a:solidFill>
            <a:srgbClr val="EF4444">
              <a:alpha val="7000"/>
            </a:srgbClr>
          </a:solidFill>
          <a:ln w="12700" cap="flat" cmpd="sng">
            <a:solidFill>
              <a:srgbClr val="EF444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7683500" y="4064000"/>
            <a:ext cx="355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DC262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⚠️ 易错点与避坑指南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83500" y="4508500"/>
            <a:ext cx="3556000" cy="165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符号位置：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&amp; 写在形参类型后（int &amp;a），调用时无需加&amp;，切勿与scanf混淆。</a:t>
            </a:r>
            <a:b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实参限制：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引用必须绑定变量，不能传递字面常量（如 change(100) 报错）。</a:t>
            </a:r>
            <a:b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只读优化：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传递大型结构体时，优先用 </a:t>
            </a:r>
            <a:r>
              <a:rPr lang="en-US" sz="1300" b="1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const Type &amp;</a:t>
            </a: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，避免拷贝且防止误改。</a:t>
            </a:r>
            <a:endParaRPr lang="en-US" sz="110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05,&quot;left&quot;:60,&quot;top&quot;:110,&quot;width&quot;:850}"/>
</p:tagLst>
</file>

<file path=ppt/tags/tag2.xml><?xml version="1.0" encoding="utf-8"?>
<p:tagLst xmlns:p="http://schemas.openxmlformats.org/presentationml/2006/main">
  <p:tag name="KSO_WM_DIAGRAM_VIRTUALLY_FRAME" val="{&quot;height&quot;:305,&quot;left&quot;:60,&quot;top&quot;:110,&quot;width&quot;:850}"/>
</p:tagLst>
</file>

<file path=ppt/tags/tag3.xml><?xml version="1.0" encoding="utf-8"?>
<p:tagLst xmlns:p="http://schemas.openxmlformats.org/presentationml/2006/main">
  <p:tag name="KSO_WM_DIAGRAM_VIRTUALLY_FRAME" val="{&quot;height&quot;:305,&quot;left&quot;:60,&quot;top&quot;:110,&quot;width&quot;:850}"/>
</p:tagLst>
</file>

<file path=ppt/tags/tag4.xml><?xml version="1.0" encoding="utf-8"?>
<p:tagLst xmlns:p="http://schemas.openxmlformats.org/presentationml/2006/main">
  <p:tag name="KSO_WM_DIAGRAM_VIRTUALLY_FRAME" val="{&quot;height&quot;:305,&quot;left&quot;:60,&quot;top&quot;:110,&quot;width&quot;:850}"/>
</p:tagLst>
</file>

<file path=ppt/tags/tag5.xml><?xml version="1.0" encoding="utf-8"?>
<p:tagLst xmlns:p="http://schemas.openxmlformats.org/presentationml/2006/main">
  <p:tag name="KSO_WM_DIAGRAM_VIRTUALLY_FRAME" val="{&quot;height&quot;:305,&quot;left&quot;:60,&quot;top&quot;:110,&quot;width&quot;:850}"/>
</p:tagLst>
</file>

<file path=ppt/tags/tag6.xml><?xml version="1.0" encoding="utf-8"?>
<p:tagLst xmlns:p="http://schemas.openxmlformats.org/presentationml/2006/main">
  <p:tag name="KSO_WM_DIAGRAM_VIRTUALLY_FRAME" val="{&quot;height&quot;:305,&quot;left&quot;:60,&quot;top&quot;:110,&quot;width&quot;:850}"/>
</p:tagLst>
</file>

<file path=ppt/tags/tag7.xml><?xml version="1.0" encoding="utf-8"?>
<p:tagLst xmlns:p="http://schemas.openxmlformats.org/presentationml/2006/main">
  <p:tag name="KSO_WM_DIAGRAM_VIRTUALLY_FRAME" val="{&quot;height&quot;:305,&quot;left&quot;:60,&quot;top&quot;:110,&quot;width&quot;:850}"/>
</p:tagLst>
</file>

<file path=ppt/tags/tag8.xml><?xml version="1.0" encoding="utf-8"?>
<p:tagLst xmlns:p="http://schemas.openxmlformats.org/presentationml/2006/main">
  <p:tag name="KSO_WM_DIAGRAM_VIRTUALLY_FRAME" val="{&quot;height&quot;:305,&quot;left&quot;:60,&quot;top&quot;:110,&quot;width&quot;:850}"/>
</p:tagLst>
</file>

<file path=ppt/tags/tag9.xml><?xml version="1.0" encoding="utf-8"?>
<p:tagLst xmlns:p="http://schemas.openxmlformats.org/presentationml/2006/main">
  <p:tag name="KSO_WM_DIAGRAM_VIRTUALLY_FRAME" val="{&quot;height&quot;:305,&quot;left&quot;:60,&quot;top&quot;:110,&quot;width&quot;:850}"/>
</p:tagLst>
</file>

<file path=ppt/tags/tag10.xml><?xml version="1.0" encoding="utf-8"?>
<p:tagLst xmlns:p="http://schemas.openxmlformats.org/presentationml/2006/main">
  <p:tag name="KSO_WM_DIAGRAM_VIRTUALLY_FRAME" val="{&quot;height&quot;:305,&quot;left&quot;:60,&quot;top&quot;:110,&quot;width&quot;:850}"/>
</p:tagLst>
</file>

<file path=ppt/tags/tag11.xml><?xml version="1.0" encoding="utf-8"?>
<p:tagLst xmlns:p="http://schemas.openxmlformats.org/presentationml/2006/main">
  <p:tag name="KSO_WM_DIAGRAM_VIRTUALLY_FRAME" val="{&quot;height&quot;:305,&quot;left&quot;:60,&quot;top&quot;:110,&quot;width&quot;:850}"/>
</p:tagLst>
</file>

<file path=ppt/tags/tag12.xml><?xml version="1.0" encoding="utf-8"?>
<p:tagLst xmlns:p="http://schemas.openxmlformats.org/presentationml/2006/main">
  <p:tag name="KSO_WM_DIAGRAM_VIRTUALLY_FRAME" val="{&quot;height&quot;:305,&quot;left&quot;:60,&quot;top&quot;:110,&quot;width&quot;:850}"/>
</p:tagLst>
</file>

<file path=ppt/tags/tag13.xml><?xml version="1.0" encoding="utf-8"?>
<p:tagLst xmlns:p="http://schemas.openxmlformats.org/presentationml/2006/main">
  <p:tag name="KSO_WM_DIAGRAM_VIRTUALLY_FRAME" val="{&quot;height&quot;:305,&quot;left&quot;:60,&quot;top&quot;:110,&quot;width&quot;:850}"/>
</p:tagLst>
</file>

<file path=ppt/tags/tag14.xml><?xml version="1.0" encoding="utf-8"?>
<p:tagLst xmlns:p="http://schemas.openxmlformats.org/presentationml/2006/main">
  <p:tag name="KSO_WM_DIAGRAM_VIRTUALLY_FRAME" val="{&quot;height&quot;:305,&quot;left&quot;:60,&quot;top&quot;:110,&quot;width&quot;:850}"/>
</p:tagLst>
</file>

<file path=ppt/tags/tag15.xml><?xml version="1.0" encoding="utf-8"?>
<p:tagLst xmlns:p="http://schemas.openxmlformats.org/presentationml/2006/main">
  <p:tag name="KSO_WM_DIAGRAM_VIRTUALLY_FRAME" val="{&quot;height&quot;:305,&quot;left&quot;:60,&quot;top&quot;:110,&quot;width&quot;:850}"/>
</p:tagLst>
</file>

<file path=ppt/tags/tag16.xml><?xml version="1.0" encoding="utf-8"?>
<p:tagLst xmlns:p="http://schemas.openxmlformats.org/presentationml/2006/main">
  <p:tag name="KSO_WM_DIAGRAM_VIRTUALLY_FRAME" val="{&quot;height&quot;:305,&quot;left&quot;:60,&quot;top&quot;:110,&quot;width&quot;:850}"/>
</p:tagLst>
</file>

<file path=ppt/tags/tag17.xml><?xml version="1.0" encoding="utf-8"?>
<p:tagLst xmlns:p="http://schemas.openxmlformats.org/presentationml/2006/main">
  <p:tag name="KSO_WM_DIAGRAM_VIRTUALLY_FRAME" val="{&quot;height&quot;:305,&quot;left&quot;:490,&quot;top&quot;:160,&quot;width&quot;:430}"/>
</p:tagLst>
</file>

<file path=ppt/tags/tag18.xml><?xml version="1.0" encoding="utf-8"?>
<p:tagLst xmlns:p="http://schemas.openxmlformats.org/presentationml/2006/main">
  <p:tag name="KSO_WM_DIAGRAM_VIRTUALLY_FRAME" val="{&quot;height&quot;:305,&quot;left&quot;:490,&quot;top&quot;:160,&quot;width&quot;:430}"/>
</p:tagLst>
</file>

<file path=ppt/tags/tag19.xml><?xml version="1.0" encoding="utf-8"?>
<p:tagLst xmlns:p="http://schemas.openxmlformats.org/presentationml/2006/main">
  <p:tag name="KSO_WM_DIAGRAM_VIRTUALLY_FRAME" val="{&quot;height&quot;:305,&quot;left&quot;:490,&quot;top&quot;:160,&quot;width&quot;:430}"/>
</p:tagLst>
</file>

<file path=ppt/tags/tag20.xml><?xml version="1.0" encoding="utf-8"?>
<p:tagLst xmlns:p="http://schemas.openxmlformats.org/presentationml/2006/main">
  <p:tag name="KSO_WM_DIAGRAM_VIRTUALLY_FRAME" val="{&quot;height&quot;:305,&quot;left&quot;:490,&quot;top&quot;:160,&quot;width&quot;:430}"/>
</p:tagLst>
</file>

<file path=ppt/tags/tag21.xml><?xml version="1.0" encoding="utf-8"?>
<p:tagLst xmlns:p="http://schemas.openxmlformats.org/presentationml/2006/main">
  <p:tag name="KSO_WM_DIAGRAM_VIRTUALLY_FRAME" val="{&quot;height&quot;:305,&quot;left&quot;:490,&quot;top&quot;:160,&quot;width&quot;:430}"/>
</p:tagLst>
</file>

<file path=ppt/tags/tag22.xml><?xml version="1.0" encoding="utf-8"?>
<p:tagLst xmlns:p="http://schemas.openxmlformats.org/presentationml/2006/main">
  <p:tag name="KSO_WM_DIAGRAM_VIRTUALLY_FRAME" val="{&quot;height&quot;:305,&quot;left&quot;:490,&quot;top&quot;:160,&quot;width&quot;:430}"/>
</p:tagLst>
</file>

<file path=ppt/tags/tag23.xml><?xml version="1.0" encoding="utf-8"?>
<p:tagLst xmlns:p="http://schemas.openxmlformats.org/presentationml/2006/main">
  <p:tag name="KSO_WM_DIAGRAM_VIRTUALLY_FRAME" val="{&quot;height&quot;:305,&quot;left&quot;:490,&quot;top&quot;:160,&quot;width&quot;:430}"/>
</p:tagLst>
</file>

<file path=ppt/tags/tag24.xml><?xml version="1.0" encoding="utf-8"?>
<p:tagLst xmlns:p="http://schemas.openxmlformats.org/presentationml/2006/main">
  <p:tag name="KSO_WM_DIAGRAM_VIRTUALLY_FRAME" val="{&quot;height&quot;:305,&quot;left&quot;:490,&quot;top&quot;:160,&quot;width&quot;:430}"/>
</p:tagLst>
</file>

<file path=ppt/tags/tag25.xml><?xml version="1.0" encoding="utf-8"?>
<p:tagLst xmlns:p="http://schemas.openxmlformats.org/presentationml/2006/main">
  <p:tag name="KSO_WM_DIAGRAM_VIRTUALLY_FRAME" val="{&quot;height&quot;:305,&quot;left&quot;:490,&quot;top&quot;:160,&quot;width&quot;:430}"/>
</p:tagLst>
</file>

<file path=ppt/tags/tag26.xml><?xml version="1.0" encoding="utf-8"?>
<p:tagLst xmlns:p="http://schemas.openxmlformats.org/presentationml/2006/main">
  <p:tag name="KSO_WM_DIAGRAM_VIRTUALLY_FRAME" val="{&quot;height&quot;:305,&quot;left&quot;:490,&quot;top&quot;:160,&quot;width&quot;:430}"/>
</p:tagLst>
</file>

<file path=ppt/tags/tag27.xml><?xml version="1.0" encoding="utf-8"?>
<p:tagLst xmlns:p="http://schemas.openxmlformats.org/presentationml/2006/main">
  <p:tag name="KSO_WM_DIAGRAM_VIRTUALLY_FRAME" val="{&quot;height&quot;:305,&quot;left&quot;:490,&quot;top&quot;:160,&quot;width&quot;:430}"/>
</p:tagLst>
</file>

<file path=ppt/tags/tag28.xml><?xml version="1.0" encoding="utf-8"?>
<p:tagLst xmlns:p="http://schemas.openxmlformats.org/presentationml/2006/main">
  <p:tag name="KSO_WM_DIAGRAM_VIRTUALLY_FRAME" val="{&quot;height&quot;:305,&quot;left&quot;:490,&quot;top&quot;:160,&quot;width&quot;:430}"/>
</p:tagLst>
</file>

<file path=ppt/tags/tag29.xml><?xml version="1.0" encoding="utf-8"?>
<p:tagLst xmlns:p="http://schemas.openxmlformats.org/presentationml/2006/main">
  <p:tag name="KSO_WM_DIAGRAM_VIRTUALLY_FRAME" val="{&quot;height&quot;:305,&quot;left&quot;:490,&quot;top&quot;:160,&quot;width&quot;:430}"/>
</p:tagLst>
</file>

<file path=ppt/tags/tag30.xml><?xml version="1.0" encoding="utf-8"?>
<p:tagLst xmlns:p="http://schemas.openxmlformats.org/presentationml/2006/main">
  <p:tag name="KSO_WM_DIAGRAM_VIRTUALLY_FRAME" val="{&quot;height&quot;:305,&quot;left&quot;:490,&quot;top&quot;:160,&quot;width&quot;:430}"/>
</p:tagLst>
</file>

<file path=ppt/tags/tag31.xml><?xml version="1.0" encoding="utf-8"?>
<p:tagLst xmlns:p="http://schemas.openxmlformats.org/presentationml/2006/main">
  <p:tag name="KSO_WM_DIAGRAM_VIRTUALLY_FRAME" val="{&quot;height&quot;:305,&quot;left&quot;:490,&quot;top&quot;:160,&quot;width&quot;:430}"/>
</p:tagLst>
</file>

<file path=ppt/tags/tag32.xml><?xml version="1.0" encoding="utf-8"?>
<p:tagLst xmlns:p="http://schemas.openxmlformats.org/presentationml/2006/main">
  <p:tag name="KSO_WM_DIAGRAM_VIRTUALLY_FRAME" val="{&quot;height&quot;:305,&quot;left&quot;:490,&quot;top&quot;:160,&quot;width&quot;:430}"/>
</p:tagLst>
</file>

<file path=ppt/tags/tag33.xml><?xml version="1.0" encoding="utf-8"?>
<p:tagLst xmlns:p="http://schemas.openxmlformats.org/presentationml/2006/main">
  <p:tag name="KSO_WM_DIAGRAM_VIRTUALLY_FRAME" val="{&quot;height&quot;:305,&quot;left&quot;:490,&quot;top&quot;:160,&quot;width&quot;:430}"/>
</p:tagLst>
</file>

<file path=ppt/tags/tag34.xml><?xml version="1.0" encoding="utf-8"?>
<p:tagLst xmlns:p="http://schemas.openxmlformats.org/presentationml/2006/main">
  <p:tag name="KSO_WM_DIAGRAM_VIRTUALLY_FRAME" val="{&quot;height&quot;:305,&quot;left&quot;:490,&quot;top&quot;:160,&quot;width&quot;:43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7459</Words>
  <Application>WPS 演示</Application>
  <PresentationFormat/>
  <Paragraphs>410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15</vt:i4>
      </vt:variant>
    </vt:vector>
  </HeadingPairs>
  <TitlesOfParts>
    <vt:vector size="30" baseType="lpstr">
      <vt:lpstr>Arial</vt:lpstr>
      <vt:lpstr>宋体</vt:lpstr>
      <vt:lpstr>Wingdings</vt:lpstr>
      <vt:lpstr>Arial</vt:lpstr>
      <vt:lpstr>Noto Sans SC</vt:lpstr>
      <vt:lpstr>微软雅黑 Light</vt:lpstr>
      <vt:lpstr>Roboto Mono</vt:lpstr>
      <vt:lpstr>Roboto</vt:lpstr>
      <vt:lpstr>Consolas</vt:lpstr>
      <vt:lpstr>微软雅黑</vt:lpstr>
      <vt:lpstr>Arial Unicode MS</vt:lpstr>
      <vt:lpstr>Consolas</vt:lpstr>
      <vt:lpstr>Roboto Mono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sgap</cp:lastModifiedBy>
  <cp:revision>3</cp:revision>
  <dcterms:created xsi:type="dcterms:W3CDTF">2026-09-12T08:06:00Z</dcterms:created>
  <dcterms:modified xsi:type="dcterms:W3CDTF">2026-09-22T10:23:34Z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{"Label":"1","ContentProducer":"001191110102MACQD9K64010000","ProduceID":"7684552281564744685","ReservedCode1":"","ContentPropagator":"","PropagateID":"","ReservedCode2":""}</vt:lpwstr>
  </property>
  <property fmtid="{D5CDD505-2E9C-101B-9397-08002B2CF9AE}" pid="3" name="KSOProductBuildVer">
    <vt:lpwstr>2052-12.1.0.28505</vt:lpwstr>
  </property>
  <property fmtid="{D5CDD505-2E9C-101B-9397-08002B2CF9AE}" pid="4" name="ICV">
    <vt:lpwstr>8A2446D3785A457ABF6F3D0389790D60_13</vt:lpwstr>
  </property>
</Properties>
</file>